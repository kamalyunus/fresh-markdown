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÷ predicted units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0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Train (spring)</c:v>
                  </c:pt>
                  <c:pt idx="1">
                    <c:v>Calib (July)</c:v>
                  </c:pt>
                  <c:pt idx="2">
                    <c:v>Test (late July)</c:v>
                  </c:pt>
                  <c:pt idx="3">
                    <c:v>All history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1.1441</c:v>
                </c:pt>
                <c:pt idx="1">
                  <c:v>0.9902</c:v>
                </c:pt>
                <c:pt idx="2">
                  <c:v>1.0952</c:v>
                </c:pt>
                <c:pt idx="3">
                  <c:v>1.1196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2230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.9"/>
        </c:scaling>
        <c:delete val="0"/>
        <c:axPos val="l"/>
        <c:majorGridlines>
          <c:spPr>
            <a:ln w="6350" cap="flat">
              <a:solidFill>
                <a:srgbClr val="E5EA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One-hour agenda: problem and why history can't answer it (10 min), design (20), what production data showed (10), launch plan, risks, and the three decisions we need (15), Q&amp;A. The design doc is the deep reference; this deck is the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money: IL is discount cost plus scrap cost. 34.6% of full-price value of what sells. The point of the slide: decisions are hourly, inventories tiny, demand sparse — this is a hard estimation environment, which sets up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intellectual core of the talk. Confound 2 was NOT in the original analysis — we found it during bootstrap when every category's elasticity estimate pinned at the boundary. The fix (entry-hour identification) comes later. If the audience accepts this slide, the whole design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design splits the world into what history can estimate (levels, variance, correlation — second moments the confound doesn't poison) and the single quantity it can't (price response). Everything frozen is in service of attribution.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uncomfortable truth stated up front: the A/B will be read on a metric the planner does not optimise, and the most likely outcome is the escalation row. That's designed, not a bug — walk through why the ratio objective is gameable.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lanes. Top: what's frozen — note the posterior on the right is the single mutable artifact. Middle: the hourly path, milliseconds per decision. Bottom: the daily batch. Emphasise the events: append-only, quarantine not drop, exactly-once by an atomic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theme: safety properties are structural. The shadow-phase exit gate requires ZERO cost-floor violations — and by construction the count can only be zero; the gate exists to prove the plumbing, not to hope.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leadership remembers one mechanism, make it this: exploration is not a percentage or a schedule — it's money, budgeted, and the randomization is what makes the learning valid. The tau number self-corrects daily against realised spend.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deff line matters most: 0.377 correlation across 9.1 forced hours ≈ 4.07. One measured line of code separates honest convergence from premature confidence. The human gate is the MVP posture — one reviewed step per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the story: train-period fidelity ≠ launch-window fidelity. The gate initially 'failed' because it was being read across two demand regimes. Each finding was caught by a pre-committed gate, not by luck — that's the process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slide — let them read. Flag two numbers: deff 4.07 (why our convergence claims can be trusted) and the SE at 6× the original assumption (why the A/B duration is a real decision, next slides).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0 and 0b are complete. Shadow can start immediately after this meeting. The only red status is the A/B — blocked on the MDE decision, which is one of the three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risk 1 honestly — it's the open question. The system fails visibly (a flat posterior alert), not silently, and shadow answers the throughput question at zero pricing risk. Risks 2–3 have concrete, scheduled mitigations.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is crisp: three numbers, each with a recommended value and a measurement tool behind it (bootstrap.derive_thresholds). Nothing else blocks the shadow phase — it can start the day the meeting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 and hand over to Q&amp;A. Likely questions: why not learn from all outcomes (feedback loops), why frozen (attribution), what if learning is too slow (shadow tells us first, levers exist), why is IL% not the objective (gameable denominator).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SYSTEMS · TECHNICAL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Perishable Markdown MVP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4871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markdown-pricing system that learns price elasticity from its own decisions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79476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" y="3899367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776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gate PASSED  ·  1.0247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445312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27" y="4557735"/>
            <a:ext cx="193121" cy="193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harness ready — no prices applied yet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1520" y="511149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7" y="5216103"/>
            <a:ext cx="193121" cy="1931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50932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automated tests · full pipeline on production data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3152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Accompanies the standalone design document (docs/design.md) · 2026-08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Markdown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hours to sell it, or scrap it at cost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perishable SKU × fulfilment centre gets one final selling window per day — an “episode” of contiguous hours, typically 10:00–20:00, with a median starting inventory of just 2 units.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hour a discount is chosen. Whatever is unsold at window end is scrapped at cost.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too shallow → scrap dominates. Too deep → margin given away on units that would have sold anyway.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policy ignores demand entirely: enter at a fixed reference discount, deepen ~1pp per hour on the clock, to a cap.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1691640"/>
            <a:ext cx="2468880" cy="1783080"/>
          </a:xfrm>
          <a:prstGeom prst="roundRect">
            <a:avLst>
              <a:gd name="adj" fmla="val 4615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22008" y="18562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4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34.6%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922008" y="2478024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Loss as a share of full-price sales value (markdown cohort)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326880" y="1691640"/>
            <a:ext cx="2468880" cy="1783080"/>
          </a:xfrm>
          <a:prstGeom prst="roundRect">
            <a:avLst>
              <a:gd name="adj" fmla="val 4615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28048" y="18562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528048" y="2478024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under legacy — scrap is ~7% of IL today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3657600"/>
            <a:ext cx="2468880" cy="1783080"/>
          </a:xfrm>
          <a:prstGeom prst="roundRect">
            <a:avLst>
              <a:gd name="adj" fmla="val 4615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22008" y="382219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922008" y="4443984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selling hours record zero sales — demand is sparse and noisy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26880" y="3657600"/>
            <a:ext cx="2468880" cy="1783080"/>
          </a:xfrm>
          <a:prstGeom prst="roundRect">
            <a:avLst>
              <a:gd name="adj" fmla="val 4615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28048" y="382219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₩14.7M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528048" y="4443984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on a 2,000-episode replay sample alone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Markdown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DIFFICULTY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own history cannot tell us price elasticity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00" cy="3291840"/>
          </a:xfrm>
          <a:prstGeom prst="roundRect">
            <a:avLst>
              <a:gd name="adj" fmla="val 2500"/>
            </a:avLst>
          </a:prstGeom>
          <a:solidFill>
            <a:srgbClr val="EEF4E4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509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Confound 1 — the clock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26060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deepens the discount exactly as the evening demand peak arrives.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an episode, price and hour move in lock-step (correlation ≈ 0.8).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lift and discount lift are statistically indistinguishable.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645920"/>
            <a:ext cx="5486400" cy="3291840"/>
          </a:xfrm>
          <a:prstGeom prst="roundRect">
            <a:avLst>
              <a:gd name="adj" fmla="val 2500"/>
            </a:avLst>
          </a:prstGeom>
          <a:solidFill>
            <a:srgbClr val="EEF4E4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205099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Confound 2 — survivorship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83680" y="26060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at a deep discount exists only because earlier hours failed to sell.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Deep-discount observations are adversely selected toward low-demand episodes.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all rows and every category reads “discounts don’t help” — we observed all 16 categories pinned at the zero boundary until this was fixed.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5257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 </a:t>
            </a:r>
            <a:pPr indent="0" marL="0">
              <a:buNone/>
            </a:pPr>
            <a:r>
              <a:rPr lang="en-US" sz="15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system that claims to have learned price response from this data has actually learned the clock. History can bound elasticity; it cannot identify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Markdown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Freeze what history can support · learn the one thing it cannot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074920" cy="4206240"/>
          </a:xfrm>
          <a:prstGeom prst="roundRect">
            <a:avLst>
              <a:gd name="adj" fmla="val 1957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38528"/>
            <a:ext cx="457200" cy="457200"/>
          </a:xfrm>
          <a:prstGeom prst="ellipse">
            <a:avLst/>
          </a:prstGeom>
          <a:solidFill>
            <a:srgbClr val="5F6B5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5740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95681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— fit offline, unchanged all window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560320"/>
            <a:ext cx="4526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demand at the reference discount (LightGBM / Tweedie) — its price gradient is never queried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variance — negative-binomial dispersion by subcategory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Intra-episode correlation (one scalar)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bracketed elasticity prior — honest bounds, or a recorded wide fallback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37960" y="1691640"/>
            <a:ext cx="5074920" cy="4206240"/>
          </a:xfrm>
          <a:prstGeom prst="roundRect">
            <a:avLst>
              <a:gd name="adj" fmla="val 1957"/>
            </a:avLst>
          </a:prstGeom>
          <a:solidFill>
            <a:srgbClr val="EEF4E4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0" y="193852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205740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195681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— in production, from randomization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858000" y="26517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6000" dirty="0"/>
          </a:p>
        </p:txBody>
      </p:sp>
      <p:sp>
        <p:nvSpPr>
          <p:cNvPr id="16" name="Text 12"/>
          <p:cNvSpPr/>
          <p:nvPr/>
        </p:nvSpPr>
        <p:spPr>
          <a:xfrm>
            <a:off x="7863840" y="2743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elasticity exponent per category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mu(d) = mu_ref × ((1−d)/(1−d_ref))^ε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58000" y="379476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uniformly-randomized price perturbations only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exploration cost capped at 1% of markdown IL per day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learning cells (high-volume categories + one pooled cell) — fewer cells learn faster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48640" y="6035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 everything else makes posterior movement attributable: if beliefs change, it was learning — not drift.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Markdown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METRIC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planner optimises absolute IL — the business reads IL%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IL% has an endogenous denominator: deeper markdowns sell more units and grow it. The two metrics can disagree by design: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57607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777240"/>
                <a:gridCol w="685800"/>
                <a:gridCol w="868680"/>
                <a:gridCol w="100584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(planner’s choice)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5204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price 10,000 · cost 2,000 · 10 units. The planner picks A — 16,000 of loss beats 28,000. IL% prefers B because its own denominator grew. A ratio objective can be gamed by discounting harder; the planner optimises the currency amount instead.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20840" y="2103120"/>
            <a:ext cx="4892040" cy="3566160"/>
          </a:xfrm>
          <a:prstGeom prst="roundRect">
            <a:avLst>
              <a:gd name="adj" fmla="val 2308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949440" y="2286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Pre-committed A/B decision rule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49440" y="27889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↓  ·  IL% ↓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915400" y="27889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949440" y="35021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↓  ·  IL% flat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915400" y="350215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owner — likeliest outcome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949440" y="421538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flat  ·  IL% ↓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915400" y="42153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ship on IL% alone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949440" y="492861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flat  ·  IL% flat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915400" y="492861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ship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now, before the experiment — so the readout is not decided by whoever reads the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Markdown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decision path, one learning loop, everything versioned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ARTIFACTS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072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DECISION PATH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6725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LEARNING LOOP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F6F8F2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73736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demand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(price-blind mu_ref)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7373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6F8F2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73736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correlation 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17373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6F8F2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173736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prior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(bracket / fallback)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17373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6F8F2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9792" y="173736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tuning surface)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1200" y="17373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EEF4E4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74352" y="173736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ε by cell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ONE learner)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38328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(reject, never guess)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3822192"/>
            <a:ext cx="228600" cy="0"/>
          </a:xfrm>
          <a:prstGeom prst="line">
            <a:avLst/>
          </a:prstGeom>
          <a:noFill/>
          <a:ln w="19050">
            <a:solidFill>
              <a:srgbClr val="5F6B5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514600" y="338328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338328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tiers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cost floor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3822192"/>
            <a:ext cx="228600" cy="0"/>
          </a:xfrm>
          <a:prstGeom prst="line">
            <a:avLst/>
          </a:prstGeom>
          <a:noFill/>
          <a:ln w="19050">
            <a:solidFill>
              <a:srgbClr val="5F6B5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80560" y="338328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338328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Q(p) per tier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822192"/>
            <a:ext cx="228600" cy="0"/>
          </a:xfrm>
          <a:prstGeom prst="line">
            <a:avLst/>
          </a:prstGeom>
          <a:noFill/>
          <a:ln w="19050">
            <a:solidFill>
              <a:srgbClr val="5F6B5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46520" y="338328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338328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argmax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affordable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75320" y="3822192"/>
            <a:ext cx="228600" cy="0"/>
          </a:xfrm>
          <a:prstGeom prst="line">
            <a:avLst/>
          </a:prstGeom>
          <a:noFill/>
          <a:ln w="19050">
            <a:solidFill>
              <a:srgbClr val="5F6B5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503920" y="3383280"/>
            <a:ext cx="1371600" cy="868680"/>
          </a:xfrm>
          <a:prstGeom prst="roundRect">
            <a:avLst>
              <a:gd name="adj" fmla="val 7368"/>
            </a:avLst>
          </a:prstGeom>
          <a:solidFill>
            <a:srgbClr val="EEF4E4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77072" y="33832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921240" y="3822192"/>
            <a:ext cx="228600" cy="0"/>
          </a:xfrm>
          <a:prstGeom prst="line">
            <a:avLst/>
          </a:prstGeom>
          <a:noFill/>
          <a:ln w="19050">
            <a:solidFill>
              <a:srgbClr val="5F6B5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149840" y="338328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22992" y="338328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event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(~30 fields)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983480"/>
            <a:ext cx="21031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98348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events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(exactly one per decision)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97480" y="5422392"/>
            <a:ext cx="228600" cy="0"/>
          </a:xfrm>
          <a:prstGeom prst="line">
            <a:avLst/>
          </a:prstGeom>
          <a:noFill/>
          <a:ln w="19050">
            <a:solidFill>
              <a:srgbClr val="5F6B5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926080" y="4983480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9232" y="498348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Censored NB likelihood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outcomes only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5422392"/>
            <a:ext cx="228600" cy="0"/>
          </a:xfrm>
          <a:prstGeom prst="line">
            <a:avLst/>
          </a:prstGeom>
          <a:noFill/>
          <a:ln w="19050">
            <a:solidFill>
              <a:srgbClr val="5F6B5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532120" y="498348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05272" y="4983480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÷ deff ≈ 4.07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(correlation deflation)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635240" y="5422392"/>
            <a:ext cx="228600" cy="0"/>
          </a:xfrm>
          <a:prstGeom prst="line">
            <a:avLst/>
          </a:prstGeom>
          <a:noFill/>
          <a:ln w="19050">
            <a:solidFill>
              <a:srgbClr val="5F6B5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863840" y="498348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36992" y="498348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step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daily human gate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875520" y="5422392"/>
            <a:ext cx="228600" cy="0"/>
          </a:xfrm>
          <a:prstGeom prst="line">
            <a:avLst/>
          </a:prstGeom>
          <a:noFill/>
          <a:ln w="19050">
            <a:solidFill>
              <a:srgbClr val="5F6B5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104120" y="4983480"/>
            <a:ext cx="1508760" cy="868680"/>
          </a:xfrm>
          <a:prstGeom prst="roundRect">
            <a:avLst>
              <a:gd name="adj" fmla="val 7368"/>
            </a:avLst>
          </a:prstGeom>
          <a:solidFill>
            <a:srgbClr val="EEF4E4"/>
          </a:solidFill>
          <a:ln w="9525">
            <a:solidFill>
              <a:srgbClr val="D9E2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77272" y="4983480"/>
            <a:ext cx="1362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8640" y="6053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event carries the exact prediction, posterior, and artifact versions it used — any decision is reproducible from its event alone.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Markdown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 prices are unrepresentable — not merely checked for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532120" cy="1965960"/>
          </a:xfrm>
          <a:prstGeom prst="roundRect">
            <a:avLst>
              <a:gd name="adj" fmla="val 4186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47672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299" y="2071299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94767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floor is the action set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63040" y="2478024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discounts are constructed as every 2.5pp tier from 0 to 1 − cost/price. A below-cost price cannot be expressed — on any path, including forced exploration.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532120" cy="1965960"/>
          </a:xfrm>
          <a:prstGeom prst="roundRect">
            <a:avLst>
              <a:gd name="adj" fmla="val 4186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9672" y="1947672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299" y="2071299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94767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Monotonicity is the transition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178040" y="2478024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actions may only hold or deepen from the current anchor. “Price never rises within an episode” is encoded in the planner’s state machine, not enforced by review.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5532120" cy="1965960"/>
          </a:xfrm>
          <a:prstGeom prst="roundRect">
            <a:avLst>
              <a:gd name="adj" fmla="val 4186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4096512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99" y="4220139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0965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Reject, never guess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463040" y="4626864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state invariants are validated per decision. On any failure the system returns no price at all — the worst pricing failure is a confidently wrong answer, not a missing one.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3840480"/>
            <a:ext cx="5532120" cy="1965960"/>
          </a:xfrm>
          <a:prstGeom prst="roundRect">
            <a:avLst>
              <a:gd name="adj" fmla="val 4186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19672" y="4096512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299" y="4220139"/>
            <a:ext cx="228234" cy="22823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40965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cannot be corrupted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178040" y="4626864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events with duplicate detection; malformed events quarantined with reasons, never dropped. Posterior revisions commit atomically with the outcomes they consumed — a crash cannot double-count.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Markdown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P&amp;L line item, uniformly randomized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035040" cy="2286000"/>
          </a:xfrm>
          <a:prstGeom prst="roundRect">
            <a:avLst>
              <a:gd name="adj" fmla="val 3600"/>
            </a:avLst>
          </a:prstGeom>
          <a:solidFill>
            <a:srgbClr val="EEF4E4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already prices every tier — exploration is a costed selection: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cost(p)     =  Q(p*) − Q(p)     ← ₩ given up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2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affordable  =  { p ≠ p* :  cost(p) ≤ τ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2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applied     =  UNIFORM draw from affordable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 is the point — it is the randomization that makes outcomes causal evidence. Any “smarter” state-dependent choice reintroduces the bias that poisoned our history.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exploration probabilities anywhere. The budget is a business-approved line: 1% of markdown IL/day, shrinking (never below 25%) as beliefs converge — so drift stays detectable forever.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about ε and the IL cost of a perturbation both scale as mu × (log price ratio)² — information per won is constant. There is no clever targeting to do, only a budget to respect.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0" y="18288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 of IL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040880" y="248716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exploration budget — the price of learning, approved as a line item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0" y="324612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₩202.8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040880" y="390448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threshold τ (27.5th percentile of the Q-value spread), self-calibrating daily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46634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₩1,271 / day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40880" y="532180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spend vs a ₩1,271/day budget on the replay sample — calibration lands on target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Markdown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Censored, deflated, bounded, human-gated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848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459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randomized outcomes teach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349240" y="16459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prices are chosen by the posterior — learning from them feeds the model its own beliefs. Shadow-phase outcomes are likewise structurally ineligible.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5526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81635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Stockouts are lower bounds, not counts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349240" y="2816352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“Sold 2 of 2” means demand ≥ 2. It enters as a survival probability; treating it as exact would understate elasticity exactly where stockouts concentrate — at deep discounts. Zero-sale hours are kept: they carry the shallow-discount signal.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4360" y="430682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42569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986784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Correlated hours are deflated ÷ 4.07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349240" y="3986784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in an episode share one inventory pool and one demand shock. Counted as independent, the system would declare convergence four times too early. deff = 1 + (forced hours − 1) × ρ — every input measured, not assumed.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5477256"/>
            <a:ext cx="457200" cy="457200"/>
          </a:xfrm>
          <a:prstGeom prst="ellipse">
            <a:avLst/>
          </a:prstGeom>
          <a:solidFill>
            <a:srgbClr val="C8901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596128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5157216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steps behind a daily human gate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5349240" y="5157216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update moves the mean ≤ 0.15 and shrinks uncertainty ≤ 25% — no single batch can destroy beliefs. A human approves each day’s step, and the apply command refuses while event-quality gates fail. Automation criteria come later, from observed behaviour.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Markdown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ON PRODUCTION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gate that fired caught a real problem</a:t>
            </a:r>
            <a:endParaRPr lang="en-US" sz="2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6235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Demand-model fidelity by time window · gate band 0.95–1.05, read on calib+test → PASS at 1.0247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492" y="188293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22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drift, not model bias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812280" y="21031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Whole-history fidelity (1.12) failed the gate — but the split shows a demand-level shift between spring and summer. Correction and evaluation now share the launch-adjacent regime; the gate passed without any correction factor.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63640" y="320040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492" y="330025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must not contaminate level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812280" y="35204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correction basis let a wrong elasticity prior push level factors below 1 and made fidelity worse. Factors are now fit only at the reference anchor, where elasticity cancels by construction.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63640" y="461772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492" y="4717572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Survivorship confound found &amp; fixed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812280" y="49377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categories pinned at the zero boundary until identification was restricted to entry hours. One category (MEAT) now brackets cleanly; 14 fall back to an honest wide prior — by design.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Markdown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NUMBERS STAND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production data · 2026-08-08</a:t>
            </a:r>
            <a:endParaRPr lang="en-US" sz="2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566160"/>
                <a:gridCol w="4389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gate (calib+test)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1.0247 —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 demand model is usable for the launch window (band 0.95–1.05)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IL% · replay sample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34.64%  (₩14.7M / 2,000 episodes)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baseline the system must beat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/ forced hours / deff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0.3772 / 9.134 / ≈ 4.07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deflation — convergence claims are honest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 τ (initial)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₩202.8 · spend ₩1,271 vs budget ₩1,271 per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calibration lands on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IL% clustered SE (18 weeks)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0.002383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6× the original assumption — drives the A/B duration decision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Elasticity prior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−1.0 ± 0.6 (14/16) · MEAT brackets cleanly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 rejection; production exploration carries the burden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Markdown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PLAN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phases, each behind a blocking gate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93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· Measure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measurement; config populated from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29184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918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993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0b · Calibrate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0" y="23957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+ prior gates on production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29184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2918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1993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Shadow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66760" y="23957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 path live; no prices applied; event pipeline proven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66760" y="329184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C8901A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32918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142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Exploit pilot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77240" y="454456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SKU set, exploration off; price-execution fidelity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544068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5F6B5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4406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397764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4142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Learning pilot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72000" y="454456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at half budget; posterior must visibly move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544068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5F6B5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54406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397764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66760" y="4142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4–5 · A/B → scale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66760" y="454456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experiment on IL%; ship on the pre-committed rule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66760" y="544068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B3402A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54406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MDE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053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additionally produces the would-be exploration statistics that answer the learning-speed question — before any price is applied.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Markdown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before launch, each with evidence and a mitigation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EEF4E4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75564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4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Learning speed vs the 13-week window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06240" y="17373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Per-outcome information is small and deflated ÷ 4.07; the prior is wide for 14/16 categories; monotonicity concentrates identification at episode entry.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0" y="173736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weeks-to-convergence from shadow output BEFORE the learning pilot. Levers: concentrate budget on entry decisions, raise the budget share, coarser cells. A 21-day flat-posterior alert catches a dead loop.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3236976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Frozen-model drift across Sep–Dec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06240" y="321868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already measured (1.14 → 0.99 → 1.10 across windows); the season includes Chuseok; every economic quantity is denominated in the demand prediction.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01000" y="321868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retrain immediately before the launch freeze, gate re-checked; daily drift ratio in shadow and production; a mid-window recalibration rule pre-registered now, not improvised later.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608576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4718304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A/B power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06240" y="4700016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variance is 6× the original assumption; small effects may not fit the window.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01000" y="4700016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duration-vs-effect table from the derivation tool; the owner commits to a feasible pair before launch. No early reads.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1081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tracked: metric divergence at readout (pre-committed rule) · single-elasticity misspecification (residuals logged by discount region) · censored training labels (first phase-2 item).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Markdown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thresholds block launch — recommendations, with evidence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74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minimum detectable effect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7.5% relative on IL%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5-week experiment. A 5% target likely does not fit the MVP window; the derivation tool measures power empirically on real T-week slices of history — the owner picks the (effect, duration) pair.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874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Scrap-deterioration stop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 relative vs control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15468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system spending 1% of IL cannot move scrap near 20%; the failure it guards against breached the equivalent 5–10× in replay. Validated against the measured 3σ daily noise.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F6F8F2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6760" y="1874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Margin-deterioration stop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66760" y="2560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 relative + 2-day persistence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66760" y="315468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margins are thin, so daily noise is high — persistence, not a looser threshold, is the noise control. Both guardrails suspend exploration only; pricing continues.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EF4E4"/>
          </a:solidFill>
          <a:ln/>
          <a:effectLst>
            <a:outerShdw sx="100000" sy="100000" kx="0" ky="0" algn="bl" rotWithShape="0" blurRad="76200" dist="25400" dir="5400000">
              <a:srgbClr val="3A4A36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on approval:  </a:t>
            </a:r>
            <a:pPr indent="0" marL="0">
              <a:buNone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three thresholds → run the shadow phase → read the learning-speed math from its output → final model retrain at freeze → exploit-only pilot.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3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rate is the product.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prices safely by construction, proves itself behind blocking gates,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buys clean evidence at a budgeted price — 1% of the loss it exists to reduce.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2976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372" y="4397532"/>
            <a:ext cx="184343" cy="184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42702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 — docs/design.md (standalone; architecture, rationale, risk register)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1520" y="490118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72" y="5001036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48737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— Kamalyunus/fresh-markdown (23 automated tests, full pipeline)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31520" y="550468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72" y="5604540"/>
            <a:ext cx="184343" cy="1843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54772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evidence — bootstrap.derive_thresholds (A/B power + guardrail noise, from data)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2026-08-08T08:44:57Z</dcterms:created>
  <dcterms:modified xsi:type="dcterms:W3CDTF">2026-08-08T08:44:57Z</dcterms:modified>
</cp:coreProperties>
</file>