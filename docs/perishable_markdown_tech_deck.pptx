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1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Actual ÷ predicted units</c:v>
                </c:pt>
              </c:strCache>
            </c:strRef>
          </c:tx>
          <c:spPr>
            <a:solidFill>
              <a:srgbClr val="2C5F2D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2301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Train (spring)</c:v>
                  </c:pt>
                  <c:pt idx="1">
                    <c:v>Calib (July)</c:v>
                  </c:pt>
                  <c:pt idx="2">
                    <c:v>Test (late July)</c:v>
                  </c:pt>
                  <c:pt idx="3">
                    <c:v>All history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1.295</c:v>
                </c:pt>
                <c:pt idx="1">
                  <c:v>1.117</c:v>
                </c:pt>
                <c:pt idx="2">
                  <c:v>1.3116</c:v>
                </c:pt>
                <c:pt idx="3">
                  <c:v>1.2714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b="0" i="0" strike="noStrike" sz="1000" u="none">
                  <a:solidFill>
                    <a:srgbClr val="22301F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F6B5C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4"/>
          <c:min val="0.9"/>
        </c:scaling>
        <c:delete val="0"/>
        <c:axPos val="l"/>
        <c:majorGridlines>
          <c:spPr>
            <a:ln w="6350" cap="flat">
              <a:solidFill>
                <a:srgbClr val="E5EAE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F6B5C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  <c:majorUnit val="0.1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One-hour agenda: problem and why history can't answer it (10 min), design (20), what production data showed (10), launch plan, risks, and the three decisions we need (15), Q&amp;A. The design doc is the deep reference; this deck is the argument.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Frame the money: IL is discount cost plus scrap cost. 34.6% of full-price value of what sells. The point of the slide: decisions are hourly, inventories tiny, demand sparse — this is a hard estimation environment, which sets up the next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intellectual core of the talk. Confound 2 was NOT in the original analysis — we found it during bootstrap when every category's elasticity estimate pinned at the boundary. The fix (entry-hour identification) comes later. If the audience accepts this slide, the whole design follows.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slide answers the inevitable question: why not calibrate elasticity on our own data? Answer: we did, in the most defensible form, and the estimates are unstable (30x swings on one spec choice), boundary-pinned, and direction-flipping across model versions — because the optimum tracks the confounds, not the customer. Worse, a fitted epsilon would make the backtest look great while teaching the planner exactly the wrong lesson. The learning pilot is the same fit run on clean randomized data, at a budgeted cost.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message: the design splits the world into what history can estimate (levels, variance, correlation — second moments the confound doesn't poison) and the single quantity it can't (price response). Everything frozen is in service of attribution.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uncomfortable truth stated up front: the A/B will be read on a metric the planner does not optimise, and the most likely outcome is the escalation row. That's designed, not a bug — walk through why the ratio objective is gameable.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Three lanes. Top: what's frozen — note the posterior on the right is the single mutable artifact. Middle: the hourly path, milliseconds per decision. Bottom: the daily batch. Emphasise the events: append-only, quarantine not drop, exactly-once by an atomic ledger.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theme: safety properties are structural. The shadow-phase exit gate requires ZERO cost-floor violations — and by construction the count can only be zero; the gate exists to prove the plumbing, not to hope.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leadership remembers one mechanism, make it this: exploration is not a percentage or a schedule — it's money, budgeted, and the randomization is what makes the learning valid. The tau number self-corrects daily against realised spend.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deff line matters most: 0.377 correlation across 9.1 forced hours ≈ 4.07. One measured line of code separates honest convergence from premature confidence. The human gate is the MVP posture — one reviewed step per day.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chart shows the persistent level deficit (every window above 1) the calibration factor absorbs. The deeper finding is the weekly series: +-8 percent swings mean the original +-5 percent band was ~1 sigma — a coin flip. The owner reset it to ~2 sigma; the daily drift ratio in shadow/production is the real continuous guard. Each finding here was caught by a pre-committed gate or diagnostic, not by luck.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Slow slide — let them read. Flag two numbers: deff 4.07 (why our convergence claims can be trusted) and the SE at 6× the original assumption (why the A/B duration is a real decision, next slides).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Phases 0 and 0b are complete. Shadow can start immediately after this meeting. The only red status is the A/B — blocked on the MDE decision, which is one of the three asks.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Lead with risk 1 honestly — it's the open question. The system fails visibly (a flat posterior alert), not silently, and shadow answers the throughput question at zero pricing risk. Risks 2–3 have concrete, scheduled mitigations.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ask is crisp: three numbers, each with a recommended value and a measurement tool behind it (bootstrap.derive_thresholds). Nothing else blocks the shadow phase — it can start the day the meeting ends.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the thesis and hand over to Q&amp;A. Likely questions: why not learn from all outcomes (feedback loops), why frozen (attribution), what if learning is too slow (shadow tells us first, levers exist), why is IL% not the objective (gameable denominator).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image" Target="../media/image-11-1.png"/><Relationship Id="rId3" Type="http://schemas.openxmlformats.org/officeDocument/2006/relationships/image" Target="../media/image-11-2.png"/><Relationship Id="rId4" Type="http://schemas.openxmlformats.org/officeDocument/2006/relationships/image" Target="../media/image-11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C3A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82296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PRICING SYSTEMS · TECHNICAL REVIEW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731520" y="1371600"/>
            <a:ext cx="10698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Perishable Markdown MVP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731520" y="2487168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D8E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markdown-pricing system that learns price elasticity from its own decisions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731520" y="3794760"/>
            <a:ext cx="402336" cy="402336"/>
          </a:xfrm>
          <a:prstGeom prst="ellipse">
            <a:avLst/>
          </a:prstGeom>
          <a:solidFill>
            <a:srgbClr val="2C5F2D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6127" y="3899367"/>
            <a:ext cx="193121" cy="193121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325880" y="377647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Gate: level-at-anchor 1.0395 · band [0.90, 1.10] from measured volatility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731520" y="4453128"/>
            <a:ext cx="402336" cy="402336"/>
          </a:xfrm>
          <a:prstGeom prst="ellipse">
            <a:avLst/>
          </a:prstGeom>
          <a:solidFill>
            <a:srgbClr val="2C5F2D"/>
          </a:solidFill>
          <a:ln/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6127" y="4557735"/>
            <a:ext cx="193121" cy="193121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325880" y="443484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Calibration and shadow gates PASSED — no prices applied yet</a:t>
            </a:r>
            <a:endParaRPr lang="en-US" sz="1500" dirty="0"/>
          </a:p>
        </p:txBody>
      </p:sp>
      <p:sp>
        <p:nvSpPr>
          <p:cNvPr id="11" name="Shape 7"/>
          <p:cNvSpPr/>
          <p:nvPr/>
        </p:nvSpPr>
        <p:spPr>
          <a:xfrm>
            <a:off x="731520" y="5111496"/>
            <a:ext cx="402336" cy="402336"/>
          </a:xfrm>
          <a:prstGeom prst="ellipse">
            <a:avLst/>
          </a:prstGeom>
          <a:solidFill>
            <a:srgbClr val="2C5F2D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6127" y="5216103"/>
            <a:ext cx="193121" cy="193121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325880" y="509320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automated tests · full pipeline on production data</a:t>
            </a:r>
            <a:endParaRPr lang="en-US" sz="1500" dirty="0"/>
          </a:p>
        </p:txBody>
      </p:sp>
      <p:sp>
        <p:nvSpPr>
          <p:cNvPr id="14" name="Text 9"/>
          <p:cNvSpPr/>
          <p:nvPr/>
        </p:nvSpPr>
        <p:spPr>
          <a:xfrm>
            <a:off x="731520" y="617220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FA4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Accompanies the standalone design document (docs/design.md) · 2026-08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Perishable Markdown MVP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430000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23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Ten hours to sell it, or scrap it at cost</a:t>
            </a:r>
            <a:endParaRPr lang="en-US" sz="2900" dirty="0"/>
          </a:p>
        </p:txBody>
      </p:sp>
      <p:sp>
        <p:nvSpPr>
          <p:cNvPr id="6" name="Text 4"/>
          <p:cNvSpPr/>
          <p:nvPr/>
        </p:nvSpPr>
        <p:spPr>
          <a:xfrm>
            <a:off x="548640" y="1600200"/>
            <a:ext cx="585216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perishable SKU × fulfilment centre gets one final selling window per day — an “episode” of contiguous hours, typically 10:00–20:00, with a median starting inventory of just 2 units.</a:t>
            </a:r>
            <a:endParaRPr lang="en-US" sz="1400" dirty="0"/>
          </a:p>
          <a:p>
            <a:pPr marL="152400" indent="-1524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hour a discount is chosen. Whatever is unsold at window end is scrapped at cost.</a:t>
            </a:r>
            <a:endParaRPr lang="en-US" sz="1400" dirty="0"/>
          </a:p>
          <a:p>
            <a:pPr marL="152400" indent="-1524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 too shallow → scrap dominates. Too deep → margin given away on units that would have sold anyway.</a:t>
            </a:r>
            <a:endParaRPr lang="en-US" sz="1400" dirty="0"/>
          </a:p>
          <a:p>
            <a:pPr marL="152400" indent="-1524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legacy policy ignores demand entirely: enter at a fixed reference discount, deepen ~1pp per hour on the clock, to a cap.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720840" y="1691640"/>
            <a:ext cx="2468880" cy="1783080"/>
          </a:xfrm>
          <a:prstGeom prst="roundRect">
            <a:avLst>
              <a:gd name="adj" fmla="val 4615"/>
            </a:avLst>
          </a:prstGeom>
          <a:solidFill>
            <a:srgbClr val="F6F8F2"/>
          </a:solidFill>
          <a:ln/>
          <a:effectLst>
            <a:outerShdw sx="100000" sy="100000" kx="0" ky="0" algn="bl" rotWithShape="0" blurRad="76200" dist="25400" dir="5400000">
              <a:srgbClr val="3A4A36">
                <a:alpha val="1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922008" y="1856232"/>
            <a:ext cx="2103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B34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34.6%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6922008" y="2478024"/>
            <a:ext cx="2103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Inventory Loss as a share of full-price sales value (markdown cohort)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9326880" y="1691640"/>
            <a:ext cx="2468880" cy="1783080"/>
          </a:xfrm>
          <a:prstGeom prst="roundRect">
            <a:avLst>
              <a:gd name="adj" fmla="val 4615"/>
            </a:avLst>
          </a:prstGeom>
          <a:solidFill>
            <a:srgbClr val="F6F8F2"/>
          </a:solidFill>
          <a:ln/>
          <a:effectLst>
            <a:outerShdw sx="100000" sy="100000" kx="0" ky="0" algn="bl" rotWithShape="0" blurRad="76200" dist="25400" dir="5400000">
              <a:srgbClr val="3A4A36">
                <a:alpha val="1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9528048" y="1856232"/>
            <a:ext cx="2103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91%</a:t>
            </a:r>
            <a:endParaRPr lang="en-US" sz="3400" dirty="0"/>
          </a:p>
        </p:txBody>
      </p:sp>
      <p:sp>
        <p:nvSpPr>
          <p:cNvPr id="12" name="Text 10"/>
          <p:cNvSpPr/>
          <p:nvPr/>
        </p:nvSpPr>
        <p:spPr>
          <a:xfrm>
            <a:off x="9528048" y="2478024"/>
            <a:ext cx="2103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clearance under legacy — scrap is ~7% of IL today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720840" y="3657600"/>
            <a:ext cx="2468880" cy="1783080"/>
          </a:xfrm>
          <a:prstGeom prst="roundRect">
            <a:avLst>
              <a:gd name="adj" fmla="val 4615"/>
            </a:avLst>
          </a:prstGeom>
          <a:solidFill>
            <a:srgbClr val="F6F8F2"/>
          </a:solidFill>
          <a:ln/>
          <a:effectLst>
            <a:outerShdw sx="100000" sy="100000" kx="0" ky="0" algn="bl" rotWithShape="0" blurRad="76200" dist="25400" dir="5400000">
              <a:srgbClr val="3A4A36">
                <a:alpha val="18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922008" y="3822192"/>
            <a:ext cx="2103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78%</a:t>
            </a:r>
            <a:endParaRPr lang="en-US" sz="3400" dirty="0"/>
          </a:p>
        </p:txBody>
      </p:sp>
      <p:sp>
        <p:nvSpPr>
          <p:cNvPr id="15" name="Text 13"/>
          <p:cNvSpPr/>
          <p:nvPr/>
        </p:nvSpPr>
        <p:spPr>
          <a:xfrm>
            <a:off x="6922008" y="4443984"/>
            <a:ext cx="2103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selling hours record zero sales — demand is sparse and noisy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9326880" y="3657600"/>
            <a:ext cx="2468880" cy="1783080"/>
          </a:xfrm>
          <a:prstGeom prst="roundRect">
            <a:avLst>
              <a:gd name="adj" fmla="val 4615"/>
            </a:avLst>
          </a:prstGeom>
          <a:solidFill>
            <a:srgbClr val="F6F8F2"/>
          </a:solidFill>
          <a:ln/>
          <a:effectLst>
            <a:outerShdw sx="100000" sy="100000" kx="0" ky="0" algn="bl" rotWithShape="0" blurRad="76200" dist="25400" dir="5400000">
              <a:srgbClr val="3A4A36">
                <a:alpha val="18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9528048" y="3822192"/>
            <a:ext cx="2103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₩14.7M</a:t>
            </a:r>
            <a:endParaRPr lang="en-US" sz="3400" dirty="0"/>
          </a:p>
        </p:txBody>
      </p:sp>
      <p:sp>
        <p:nvSpPr>
          <p:cNvPr id="18" name="Text 16"/>
          <p:cNvSpPr/>
          <p:nvPr/>
        </p:nvSpPr>
        <p:spPr>
          <a:xfrm>
            <a:off x="9528048" y="4443984"/>
            <a:ext cx="2103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on a 2,000-episode replay sample alone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Perishable Markdown MVP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430000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DIFFICULTY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23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Our own history cannot tell us price elasticity</a:t>
            </a:r>
            <a:endParaRPr lang="en-US" sz="2900" dirty="0"/>
          </a:p>
        </p:txBody>
      </p:sp>
      <p:sp>
        <p:nvSpPr>
          <p:cNvPr id="6" name="Shape 4"/>
          <p:cNvSpPr/>
          <p:nvPr/>
        </p:nvSpPr>
        <p:spPr>
          <a:xfrm>
            <a:off x="548640" y="1645920"/>
            <a:ext cx="5486400" cy="3291840"/>
          </a:xfrm>
          <a:prstGeom prst="roundRect">
            <a:avLst>
              <a:gd name="adj" fmla="val 2500"/>
            </a:avLst>
          </a:prstGeom>
          <a:solidFill>
            <a:srgbClr val="EEF4E4"/>
          </a:solidFill>
          <a:ln/>
          <a:effectLst>
            <a:outerShdw sx="100000" sy="100000" kx="0" ky="0" algn="bl" rotWithShape="0" blurRad="76200" dist="25400" dir="5400000">
              <a:srgbClr val="3A4A36">
                <a:alpha val="1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868680" y="1920240"/>
            <a:ext cx="502920" cy="502920"/>
          </a:xfrm>
          <a:prstGeom prst="ellipse">
            <a:avLst/>
          </a:prstGeom>
          <a:solidFill>
            <a:srgbClr val="2C5F2D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9439" y="2050999"/>
            <a:ext cx="241402" cy="241402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554480" y="1938528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23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Confound 1 — the clock</a:t>
            </a:r>
            <a:endParaRPr lang="en-US" sz="1700" dirty="0"/>
          </a:p>
        </p:txBody>
      </p:sp>
      <p:sp>
        <p:nvSpPr>
          <p:cNvPr id="10" name="Text 7"/>
          <p:cNvSpPr/>
          <p:nvPr/>
        </p:nvSpPr>
        <p:spPr>
          <a:xfrm>
            <a:off x="868680" y="2606040"/>
            <a:ext cx="49377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Legacy deepens the discount exactly as the evening demand peak arrives.</a:t>
            </a:r>
            <a:endParaRPr lang="en-US" sz="125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Within an episode, price and hour move in lock-step (correlation ≈ 0.8).</a:t>
            </a:r>
            <a:endParaRPr lang="en-US" sz="125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Evening lift and discount lift are statistically indistinguishable.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6263640" y="1645920"/>
            <a:ext cx="5486400" cy="3291840"/>
          </a:xfrm>
          <a:prstGeom prst="roundRect">
            <a:avLst>
              <a:gd name="adj" fmla="val 2500"/>
            </a:avLst>
          </a:prstGeom>
          <a:solidFill>
            <a:srgbClr val="EEF4E4"/>
          </a:solidFill>
          <a:ln/>
          <a:effectLst>
            <a:outerShdw sx="100000" sy="100000" kx="0" ky="0" algn="bl" rotWithShape="0" blurRad="76200" dist="25400" dir="5400000">
              <a:srgbClr val="3A4A36">
                <a:alpha val="1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583680" y="1920240"/>
            <a:ext cx="502920" cy="502920"/>
          </a:xfrm>
          <a:prstGeom prst="ellipse">
            <a:avLst/>
          </a:prstGeom>
          <a:solidFill>
            <a:srgbClr val="2C5F2D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14439" y="2050999"/>
            <a:ext cx="241402" cy="241402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69480" y="1938528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23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Confound 2 — survivorship</a:t>
            </a:r>
            <a:endParaRPr lang="en-US" sz="1700" dirty="0"/>
          </a:p>
        </p:txBody>
      </p:sp>
      <p:sp>
        <p:nvSpPr>
          <p:cNvPr id="15" name="Text 11"/>
          <p:cNvSpPr/>
          <p:nvPr/>
        </p:nvSpPr>
        <p:spPr>
          <a:xfrm>
            <a:off x="6583680" y="2606040"/>
            <a:ext cx="49377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row at a deep discount exists only because earlier hours failed to sell.</a:t>
            </a:r>
            <a:endParaRPr lang="en-US" sz="125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Deep-discount observations are adversely selected toward low-demand episodes.</a:t>
            </a:r>
            <a:endParaRPr lang="en-US" sz="125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 on all rows and every category reads “discounts don’t help” — we observed all 16 categories pinned at the zero boundary until this was fixed.</a:t>
            </a:r>
            <a:endParaRPr lang="en-US" sz="1250" dirty="0"/>
          </a:p>
        </p:txBody>
      </p:sp>
      <p:sp>
        <p:nvSpPr>
          <p:cNvPr id="16" name="Text 12"/>
          <p:cNvSpPr/>
          <p:nvPr/>
        </p:nvSpPr>
        <p:spPr>
          <a:xfrm>
            <a:off x="548640" y="5257800"/>
            <a:ext cx="11155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34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Consequence:  </a:t>
            </a:r>
            <a:pPr indent="0" marL="0">
              <a:buNone/>
            </a:pPr>
            <a:r>
              <a:rPr lang="en-US" sz="150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system that claims to have learned price response from this data has actually learned the clock. History can bound elasticity; it cannot identify it.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Perishable Markdown MVP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430000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OBVIOUS SHORTCUT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23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we don’t fit ε to history — we tried, and it told us not to</a:t>
            </a:r>
            <a:endParaRPr lang="en-US" sz="2900" dirty="0"/>
          </a:p>
        </p:txBody>
      </p:sp>
      <p:sp>
        <p:nvSpPr>
          <p:cNvPr id="6" name="Text 4"/>
          <p:cNvSpPr/>
          <p:nvPr/>
        </p:nvSpPr>
        <p:spPr>
          <a:xfrm>
            <a:off x="548640" y="1691640"/>
            <a:ext cx="576072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1100"/>
              </a:spcAft>
              <a:buSzPct val="100000"/>
              <a:buChar char="•"/>
            </a:pPr>
            <a:r>
              <a:rPr lang="en-US" sz="125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“Pick the ε where the model best fits history” was run in its most defensible form — proper censored likelihood, per category, on the cleanest identifying slice. That is exactly the prior procedure.</a:t>
            </a:r>
            <a:endParaRPr lang="en-US" sz="1250" dirty="0"/>
          </a:p>
          <a:p>
            <a:pPr marL="152400" indent="-152400">
              <a:spcAft>
                <a:spcPts val="1100"/>
              </a:spcAft>
              <a:buSzPct val="100000"/>
              <a:buChar char="•"/>
            </a:pPr>
            <a:r>
              <a:rPr lang="en-US" sz="125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fitted optimum is set by whatever variation dominates the data — the clock, survivorship, weekly shocks — not by customer price response. The instability on the right is the fingerprint.</a:t>
            </a:r>
            <a:endParaRPr lang="en-US" sz="1250" dirty="0"/>
          </a:p>
          <a:p>
            <a:pPr marL="152400" indent="-152400">
              <a:spcAft>
                <a:spcPts val="1100"/>
              </a:spcAft>
              <a:buSzPct val="100000"/>
              <a:buChar char="•"/>
            </a:pPr>
            <a:r>
              <a:rPr lang="en-US" sz="125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History still contributes: honest bounds where the bracket passes its checks, and a neutral, wide, cheap-to-correct cold start (−1.0 ± 0.6) where it doesn’t.</a:t>
            </a:r>
            <a:endParaRPr lang="en-US" sz="1250" dirty="0"/>
          </a:p>
          <a:p>
            <a:pPr marL="152400" indent="-152400">
              <a:spcAft>
                <a:spcPts val="1100"/>
              </a:spcAft>
              <a:buSzPct val="100000"/>
              <a:buChar char="•"/>
            </a:pPr>
            <a:r>
              <a:rPr lang="en-US" sz="125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wide start deliberately holds the exploration budget at full scale — the first weeks of the learning pilot ARE the ε fit, on randomized data where the optimum means price response. Cost: capped at 1% of IL per day.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629400" y="1691640"/>
            <a:ext cx="4983480" cy="1371600"/>
          </a:xfrm>
          <a:prstGeom prst="roundRect">
            <a:avLst>
              <a:gd name="adj" fmla="val 6000"/>
            </a:avLst>
          </a:prstGeom>
          <a:solidFill>
            <a:srgbClr val="F6F8F2"/>
          </a:solidFill>
          <a:ln/>
          <a:effectLst>
            <a:outerShdw sx="100000" sy="100000" kx="0" ky="0" algn="bl" rotWithShape="0" blurRad="76200" dist="25400" dir="5400000">
              <a:srgbClr val="3A4A36">
                <a:alpha val="1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858000" y="1828800"/>
            <a:ext cx="4572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B34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−0.10  vs  −3.05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6858000" y="2331720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category’s best-fit ε under two equally defensible specifications — 30× apart on a single modelling choice.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629400" y="3200400"/>
            <a:ext cx="4983480" cy="1234440"/>
          </a:xfrm>
          <a:prstGeom prst="roundRect">
            <a:avLst>
              <a:gd name="adj" fmla="val 6667"/>
            </a:avLst>
          </a:prstGeom>
          <a:solidFill>
            <a:srgbClr val="F6F8F2"/>
          </a:solidFill>
          <a:ln/>
          <a:effectLst>
            <a:outerShdw sx="100000" sy="100000" kx="0" ky="0" algn="bl" rotWithShape="0" blurRad="76200" dist="25400" dir="5400000">
              <a:srgbClr val="3A4A36">
                <a:alpha val="1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858000" y="331927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23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Pinned at the search bound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858000" y="3685032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Another category’s “estimate” sat at the edge of the search grid — an optimiser reporting its cage, not the customer.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629400" y="4572000"/>
            <a:ext cx="4983480" cy="1508760"/>
          </a:xfrm>
          <a:prstGeom prst="roundRect">
            <a:avLst>
              <a:gd name="adj" fmla="val 5455"/>
            </a:avLst>
          </a:prstGeom>
          <a:solidFill>
            <a:srgbClr val="EEF4E4"/>
          </a:solidFill>
          <a:ln/>
          <a:effectLst>
            <a:outerShdw sx="100000" sy="100000" kx="0" ky="0" algn="bl" rotWithShape="0" blurRad="76200" dist="25400" dir="5400000">
              <a:srgbClr val="3A4A36">
                <a:alpha val="18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858000" y="469087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34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trap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6858000" y="5056632"/>
            <a:ext cx="4572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fitted ε makes the offline replay look excellent — it fits the residual by construction — while teaching the planner the confound: hold price, burn scrap. The dashboard smiles while the system fails.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Perishable Markdown MVP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430000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THESIS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23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Freeze what history can support · learn the one thing it cannot</a:t>
            </a:r>
            <a:endParaRPr lang="en-US" sz="2900" dirty="0"/>
          </a:p>
        </p:txBody>
      </p:sp>
      <p:sp>
        <p:nvSpPr>
          <p:cNvPr id="6" name="Shape 4"/>
          <p:cNvSpPr/>
          <p:nvPr/>
        </p:nvSpPr>
        <p:spPr>
          <a:xfrm>
            <a:off x="548640" y="1691640"/>
            <a:ext cx="5074920" cy="4206240"/>
          </a:xfrm>
          <a:prstGeom prst="roundRect">
            <a:avLst>
              <a:gd name="adj" fmla="val 1957"/>
            </a:avLst>
          </a:prstGeom>
          <a:solidFill>
            <a:srgbClr val="F6F8F2"/>
          </a:solidFill>
          <a:ln/>
          <a:effectLst>
            <a:outerShdw sx="100000" sy="100000" kx="0" ky="0" algn="bl" rotWithShape="0" blurRad="76200" dist="25400" dir="5400000">
              <a:srgbClr val="3A4A36">
                <a:alpha val="1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868680" y="1938528"/>
            <a:ext cx="457200" cy="457200"/>
          </a:xfrm>
          <a:prstGeom prst="ellipse">
            <a:avLst/>
          </a:prstGeom>
          <a:solidFill>
            <a:srgbClr val="5F6B5C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7552" y="2057400"/>
            <a:ext cx="219456" cy="219456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463040" y="1956816"/>
            <a:ext cx="4023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FROZEN — fit offline, unchanged all window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868680" y="2560320"/>
            <a:ext cx="452628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demand at the reference discount (LightGBM / Tweedie) — its price gradient is never queried</a:t>
            </a:r>
            <a:endParaRPr lang="en-US" sz="1250" dirty="0"/>
          </a:p>
          <a:p>
            <a:pPr marL="152400" indent="-1524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Demand variance — negative-binomial dispersion by subcategory</a:t>
            </a:r>
            <a:endParaRPr lang="en-US" sz="1250" dirty="0"/>
          </a:p>
          <a:p>
            <a:pPr marL="152400" indent="-1524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Intra-episode correlation (one scalar)</a:t>
            </a:r>
            <a:endParaRPr lang="en-US" sz="1250" dirty="0"/>
          </a:p>
          <a:p>
            <a:pPr marL="152400" indent="-1524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bracketed elasticity prior — honest bounds, or a recorded wide fallback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6537960" y="1691640"/>
            <a:ext cx="5074920" cy="4206240"/>
          </a:xfrm>
          <a:prstGeom prst="roundRect">
            <a:avLst>
              <a:gd name="adj" fmla="val 1957"/>
            </a:avLst>
          </a:prstGeom>
          <a:solidFill>
            <a:srgbClr val="EEF4E4"/>
          </a:solidFill>
          <a:ln/>
          <a:effectLst>
            <a:outerShdw sx="100000" sy="100000" kx="0" ky="0" algn="bl" rotWithShape="0" blurRad="76200" dist="25400" dir="5400000">
              <a:srgbClr val="3A4A36">
                <a:alpha val="1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858000" y="1938528"/>
            <a:ext cx="457200" cy="457200"/>
          </a:xfrm>
          <a:prstGeom prst="ellipse">
            <a:avLst/>
          </a:prstGeom>
          <a:solidFill>
            <a:srgbClr val="2C5F2D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76872" y="2057400"/>
            <a:ext cx="219456" cy="219456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452360" y="1956816"/>
            <a:ext cx="4023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LEARNED — in production, from randomization</a:t>
            </a:r>
            <a:endParaRPr lang="en-US" sz="1300" dirty="0"/>
          </a:p>
        </p:txBody>
      </p:sp>
      <p:sp>
        <p:nvSpPr>
          <p:cNvPr id="15" name="Text 11"/>
          <p:cNvSpPr/>
          <p:nvPr/>
        </p:nvSpPr>
        <p:spPr>
          <a:xfrm>
            <a:off x="6858000" y="2651760"/>
            <a:ext cx="1188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ε</a:t>
            </a:r>
            <a:endParaRPr lang="en-US" sz="6000" dirty="0"/>
          </a:p>
        </p:txBody>
      </p:sp>
      <p:sp>
        <p:nvSpPr>
          <p:cNvPr id="16" name="Text 12"/>
          <p:cNvSpPr/>
          <p:nvPr/>
        </p:nvSpPr>
        <p:spPr>
          <a:xfrm>
            <a:off x="7863840" y="2743200"/>
            <a:ext cx="3657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elasticity exponent per category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mu(d) = mu_ref × ((1−d)/(1−d_ref))^ε</a:t>
            </a:r>
            <a:endParaRPr lang="en-US" sz="1300" dirty="0"/>
          </a:p>
        </p:txBody>
      </p:sp>
      <p:sp>
        <p:nvSpPr>
          <p:cNvPr id="17" name="Text 13"/>
          <p:cNvSpPr/>
          <p:nvPr/>
        </p:nvSpPr>
        <p:spPr>
          <a:xfrm>
            <a:off x="6858000" y="3794760"/>
            <a:ext cx="45262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Learned from uniformly-randomized price perturbations only</a:t>
            </a:r>
            <a:endParaRPr lang="en-US" sz="1250" dirty="0"/>
          </a:p>
          <a:p>
            <a:pPr marL="152400" indent="-1524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exploration cost capped at 1% of markdown IL per day</a:t>
            </a:r>
            <a:endParaRPr lang="en-US" sz="1250" dirty="0"/>
          </a:p>
          <a:p>
            <a:pPr marL="152400" indent="-1524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~10 learning cells (high-volume categories + one pooled cell) — fewer cells learn faster</a:t>
            </a:r>
            <a:endParaRPr lang="en-US" sz="1250" dirty="0"/>
          </a:p>
        </p:txBody>
      </p:sp>
      <p:sp>
        <p:nvSpPr>
          <p:cNvPr id="18" name="Text 14"/>
          <p:cNvSpPr/>
          <p:nvPr/>
        </p:nvSpPr>
        <p:spPr>
          <a:xfrm>
            <a:off x="548640" y="6035040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Freezing everything else makes posterior movement attributable: if beliefs change, it was learning — not drift.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Perishable Markdown MVP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430000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 &amp; METRIC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23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planner optimises absolute IL — the business reads IL%</a:t>
            </a:r>
            <a:endParaRPr lang="en-US" sz="2900" dirty="0"/>
          </a:p>
        </p:txBody>
      </p:sp>
      <p:sp>
        <p:nvSpPr>
          <p:cNvPr id="6" name="Text 4"/>
          <p:cNvSpPr/>
          <p:nvPr/>
        </p:nvSpPr>
        <p:spPr>
          <a:xfrm>
            <a:off x="548640" y="155448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IL% has an endogenous denominator: deeper markdowns sell more units and grow it. The two metrics can disagree by design:</a:t>
            </a:r>
            <a:endParaRPr lang="en-US" sz="14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103120"/>
          <a:ext cx="5760720" cy="914400"/>
        </p:xfrm>
        <a:graphic>
          <a:graphicData uri="http://schemas.openxmlformats.org/drawingml/2006/table">
            <a:tbl>
              <a:tblPr/>
              <a:tblGrid>
                <a:gridCol w="1691640"/>
                <a:gridCol w="777240"/>
                <a:gridCol w="685800"/>
                <a:gridCol w="868680"/>
                <a:gridCol w="1005840"/>
                <a:gridCol w="73152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230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Policy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230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Price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230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Units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230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230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Denom.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230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IL%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230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 (planner’s choice)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230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9,000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230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230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16,000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230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40,000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230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40.0%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230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230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7,000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230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230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28,000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230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80,000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230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35.0%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548640" y="3520440"/>
            <a:ext cx="57607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 price 10,000 · cost 2,000 · 10 units. The planner picks A — 16,000 of loss beats 28,000. IL% prefers B because its own denominator grew. A ratio objective can be gamed by discounting harder; the planner optimises the currency amount instead.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6720840" y="2103120"/>
            <a:ext cx="4892040" cy="3566160"/>
          </a:xfrm>
          <a:prstGeom prst="roundRect">
            <a:avLst>
              <a:gd name="adj" fmla="val 2308"/>
            </a:avLst>
          </a:prstGeom>
          <a:solidFill>
            <a:srgbClr val="F6F8F2"/>
          </a:solidFill>
          <a:ln/>
          <a:effectLst>
            <a:outerShdw sx="100000" sy="100000" kx="0" ky="0" algn="bl" rotWithShape="0" blurRad="76200" dist="25400" dir="5400000">
              <a:srgbClr val="3A4A36">
                <a:alpha val="18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6949440" y="22860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23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Pre-committed A/B decision rule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6949440" y="2788920"/>
            <a:ext cx="19202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↓  ·  IL% ↓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8915400" y="2788920"/>
            <a:ext cx="25603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Ship</a:t>
            </a:r>
            <a:endParaRPr lang="en-US" sz="1150" dirty="0"/>
          </a:p>
        </p:txBody>
      </p:sp>
      <p:sp>
        <p:nvSpPr>
          <p:cNvPr id="13" name="Text 10"/>
          <p:cNvSpPr/>
          <p:nvPr/>
        </p:nvSpPr>
        <p:spPr>
          <a:xfrm>
            <a:off x="6949440" y="3502152"/>
            <a:ext cx="19202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↓  ·  IL% flat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8915400" y="3502152"/>
            <a:ext cx="25603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89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Escalate to owner — likeliest outcome</a:t>
            </a:r>
            <a:endParaRPr lang="en-US" sz="1150" dirty="0"/>
          </a:p>
        </p:txBody>
      </p:sp>
      <p:sp>
        <p:nvSpPr>
          <p:cNvPr id="15" name="Text 12"/>
          <p:cNvSpPr/>
          <p:nvPr/>
        </p:nvSpPr>
        <p:spPr>
          <a:xfrm>
            <a:off x="6949440" y="4215384"/>
            <a:ext cx="19202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flat  ·  IL% ↓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8915400" y="4215384"/>
            <a:ext cx="25603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34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NOT ship on IL% alone</a:t>
            </a:r>
            <a:endParaRPr lang="en-US" sz="1150" dirty="0"/>
          </a:p>
        </p:txBody>
      </p:sp>
      <p:sp>
        <p:nvSpPr>
          <p:cNvPr id="17" name="Text 14"/>
          <p:cNvSpPr/>
          <p:nvPr/>
        </p:nvSpPr>
        <p:spPr>
          <a:xfrm>
            <a:off x="6949440" y="4928616"/>
            <a:ext cx="19202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flat  ·  IL% flat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8915400" y="4928616"/>
            <a:ext cx="25603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34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not ship</a:t>
            </a:r>
            <a:endParaRPr lang="en-US" sz="1150" dirty="0"/>
          </a:p>
        </p:txBody>
      </p:sp>
      <p:sp>
        <p:nvSpPr>
          <p:cNvPr id="19" name="Text 16"/>
          <p:cNvSpPr/>
          <p:nvPr/>
        </p:nvSpPr>
        <p:spPr>
          <a:xfrm>
            <a:off x="548640" y="59436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Stated now, before the experiment — so the readout is not decided by whoever reads the dashboard.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Perishable Markdown MVP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430000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23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decision path, one learning loop, everything versioned</a:t>
            </a:r>
            <a:endParaRPr lang="en-US" sz="2900" dirty="0"/>
          </a:p>
        </p:txBody>
      </p:sp>
      <p:sp>
        <p:nvSpPr>
          <p:cNvPr id="6" name="Text 4"/>
          <p:cNvSpPr/>
          <p:nvPr/>
        </p:nvSpPr>
        <p:spPr>
          <a:xfrm>
            <a:off x="548640" y="14264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FROZEN ARTIFACTS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548640" y="307238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HOURLY DECISION PATH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548640" y="467258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LEARNING LOOP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548640" y="1737360"/>
            <a:ext cx="2286000" cy="868680"/>
          </a:xfrm>
          <a:prstGeom prst="roundRect">
            <a:avLst>
              <a:gd name="adj" fmla="val 7368"/>
            </a:avLst>
          </a:prstGeom>
          <a:solidFill>
            <a:srgbClr val="F6F8F2"/>
          </a:solidFill>
          <a:ln w="9525">
            <a:solidFill>
              <a:srgbClr val="D9E2C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21792" y="1737360"/>
            <a:ext cx="213969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demand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(price-blind mu_ref)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017520" y="1737360"/>
            <a:ext cx="2011680" cy="868680"/>
          </a:xfrm>
          <a:prstGeom prst="roundRect">
            <a:avLst>
              <a:gd name="adj" fmla="val 7368"/>
            </a:avLst>
          </a:prstGeom>
          <a:solidFill>
            <a:srgbClr val="F6F8F2"/>
          </a:solidFill>
          <a:ln w="9525">
            <a:solidFill>
              <a:srgbClr val="D9E2C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90672" y="1737360"/>
            <a:ext cx="18653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Dispersion r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correlation ρ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212080" y="1737360"/>
            <a:ext cx="2011680" cy="868680"/>
          </a:xfrm>
          <a:prstGeom prst="roundRect">
            <a:avLst>
              <a:gd name="adj" fmla="val 7368"/>
            </a:avLst>
          </a:prstGeom>
          <a:solidFill>
            <a:srgbClr val="F6F8F2"/>
          </a:solidFill>
          <a:ln w="9525">
            <a:solidFill>
              <a:srgbClr val="D9E2C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285232" y="1737360"/>
            <a:ext cx="18653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Elasticity prior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(bracket / fallback)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7406640" y="1737360"/>
            <a:ext cx="2011680" cy="868680"/>
          </a:xfrm>
          <a:prstGeom prst="roundRect">
            <a:avLst>
              <a:gd name="adj" fmla="val 7368"/>
            </a:avLst>
          </a:prstGeom>
          <a:solidFill>
            <a:srgbClr val="F6F8F2"/>
          </a:solidFill>
          <a:ln w="9525">
            <a:solidFill>
              <a:srgbClr val="D9E2C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479792" y="1737360"/>
            <a:ext cx="18653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(single tuning surface)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9601200" y="1737360"/>
            <a:ext cx="2011680" cy="868680"/>
          </a:xfrm>
          <a:prstGeom prst="roundRect">
            <a:avLst>
              <a:gd name="adj" fmla="val 7368"/>
            </a:avLst>
          </a:prstGeom>
          <a:solidFill>
            <a:srgbClr val="EEF4E4"/>
          </a:solidFill>
          <a:ln w="9525">
            <a:solidFill>
              <a:srgbClr val="D9E2C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674352" y="1737360"/>
            <a:ext cx="18653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Posterior ε by cell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(the ONE learner)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548640" y="3383280"/>
            <a:ext cx="1691640" cy="868680"/>
          </a:xfrm>
          <a:prstGeom prst="roundRect">
            <a:avLst>
              <a:gd name="adj" fmla="val 7368"/>
            </a:avLst>
          </a:prstGeom>
          <a:solidFill>
            <a:srgbClr val="FFFFFF"/>
          </a:solidFill>
          <a:ln w="9525">
            <a:solidFill>
              <a:srgbClr val="D9E2C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21792" y="3383280"/>
            <a:ext cx="154533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 state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(reject, never guess)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2286000" y="3822192"/>
            <a:ext cx="228600" cy="0"/>
          </a:xfrm>
          <a:prstGeom prst="line">
            <a:avLst/>
          </a:prstGeom>
          <a:noFill/>
          <a:ln w="19050">
            <a:solidFill>
              <a:srgbClr val="5F6B5C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2514600" y="3383280"/>
            <a:ext cx="1691640" cy="868680"/>
          </a:xfrm>
          <a:prstGeom prst="roundRect">
            <a:avLst>
              <a:gd name="adj" fmla="val 7368"/>
            </a:avLst>
          </a:prstGeom>
          <a:solidFill>
            <a:srgbClr val="FFFFFF"/>
          </a:solidFill>
          <a:ln w="9525">
            <a:solidFill>
              <a:srgbClr val="D9E2C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587752" y="3383280"/>
            <a:ext cx="154533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Feasible tiers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cost floor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251960" y="3822192"/>
            <a:ext cx="228600" cy="0"/>
          </a:xfrm>
          <a:prstGeom prst="line">
            <a:avLst/>
          </a:prstGeom>
          <a:noFill/>
          <a:ln w="19050">
            <a:solidFill>
              <a:srgbClr val="5F6B5C"/>
            </a:solidFill>
            <a:prstDash val="solid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4480560" y="3383280"/>
            <a:ext cx="1691640" cy="868680"/>
          </a:xfrm>
          <a:prstGeom prst="roundRect">
            <a:avLst>
              <a:gd name="adj" fmla="val 7368"/>
            </a:avLst>
          </a:prstGeom>
          <a:solidFill>
            <a:srgbClr val="FFFFFF"/>
          </a:solidFill>
          <a:ln w="9525">
            <a:solidFill>
              <a:srgbClr val="D9E2C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553712" y="3383280"/>
            <a:ext cx="154533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 DP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Q(p) per tier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217920" y="3822192"/>
            <a:ext cx="228600" cy="0"/>
          </a:xfrm>
          <a:prstGeom prst="line">
            <a:avLst/>
          </a:prstGeom>
          <a:noFill/>
          <a:ln w="19050">
            <a:solidFill>
              <a:srgbClr val="5F6B5C"/>
            </a:solidFill>
            <a:prstDash val="solid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6446520" y="3383280"/>
            <a:ext cx="1783080" cy="868680"/>
          </a:xfrm>
          <a:prstGeom prst="roundRect">
            <a:avLst>
              <a:gd name="adj" fmla="val 7368"/>
            </a:avLst>
          </a:prstGeom>
          <a:solidFill>
            <a:srgbClr val="FFFFFF"/>
          </a:solidFill>
          <a:ln w="9525">
            <a:solidFill>
              <a:srgbClr val="D9E2C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519672" y="3383280"/>
            <a:ext cx="16367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Exploit argmax /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explore affordable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8275320" y="3822192"/>
            <a:ext cx="228600" cy="0"/>
          </a:xfrm>
          <a:prstGeom prst="line">
            <a:avLst/>
          </a:prstGeom>
          <a:noFill/>
          <a:ln w="19050">
            <a:solidFill>
              <a:srgbClr val="5F6B5C"/>
            </a:solidFill>
            <a:prstDash val="solid"/>
            <a:tailEnd type="triangle"/>
          </a:ln>
        </p:spPr>
      </p:sp>
      <p:sp>
        <p:nvSpPr>
          <p:cNvPr id="31" name="Shape 29"/>
          <p:cNvSpPr/>
          <p:nvPr/>
        </p:nvSpPr>
        <p:spPr>
          <a:xfrm>
            <a:off x="8503920" y="3383280"/>
            <a:ext cx="1371600" cy="868680"/>
          </a:xfrm>
          <a:prstGeom prst="roundRect">
            <a:avLst>
              <a:gd name="adj" fmla="val 7368"/>
            </a:avLst>
          </a:prstGeom>
          <a:solidFill>
            <a:srgbClr val="EEF4E4"/>
          </a:solidFill>
          <a:ln w="9525">
            <a:solidFill>
              <a:srgbClr val="D9E2CF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577072" y="3383280"/>
            <a:ext cx="122529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9921240" y="3822192"/>
            <a:ext cx="228600" cy="0"/>
          </a:xfrm>
          <a:prstGeom prst="line">
            <a:avLst/>
          </a:prstGeom>
          <a:noFill/>
          <a:ln w="19050">
            <a:solidFill>
              <a:srgbClr val="5F6B5C"/>
            </a:solidFill>
            <a:prstDash val="solid"/>
            <a:tailEnd type="triangle"/>
          </a:ln>
        </p:spPr>
      </p:sp>
      <p:sp>
        <p:nvSpPr>
          <p:cNvPr id="34" name="Shape 32"/>
          <p:cNvSpPr/>
          <p:nvPr/>
        </p:nvSpPr>
        <p:spPr>
          <a:xfrm>
            <a:off x="10149840" y="3383280"/>
            <a:ext cx="1463040" cy="868680"/>
          </a:xfrm>
          <a:prstGeom prst="roundRect">
            <a:avLst>
              <a:gd name="adj" fmla="val 7368"/>
            </a:avLst>
          </a:prstGeom>
          <a:solidFill>
            <a:srgbClr val="FFFFFF"/>
          </a:solidFill>
          <a:ln w="9525">
            <a:solidFill>
              <a:srgbClr val="D9E2C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0222992" y="3383280"/>
            <a:ext cx="131673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 event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(~30 fields)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548640" y="4983480"/>
            <a:ext cx="2103120" cy="868680"/>
          </a:xfrm>
          <a:prstGeom prst="roundRect">
            <a:avLst>
              <a:gd name="adj" fmla="val 7368"/>
            </a:avLst>
          </a:prstGeom>
          <a:solidFill>
            <a:srgbClr val="FFFFFF"/>
          </a:solidFill>
          <a:ln w="9525">
            <a:solidFill>
              <a:srgbClr val="D9E2C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21792" y="4983480"/>
            <a:ext cx="195681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Outcome events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(exactly one per decision)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2697480" y="5422392"/>
            <a:ext cx="228600" cy="0"/>
          </a:xfrm>
          <a:prstGeom prst="line">
            <a:avLst/>
          </a:prstGeom>
          <a:noFill/>
          <a:ln w="19050">
            <a:solidFill>
              <a:srgbClr val="5F6B5C"/>
            </a:solidFill>
            <a:prstDash val="solid"/>
            <a:tailEnd type="triangle"/>
          </a:ln>
        </p:spPr>
      </p:sp>
      <p:sp>
        <p:nvSpPr>
          <p:cNvPr id="39" name="Shape 37"/>
          <p:cNvSpPr/>
          <p:nvPr/>
        </p:nvSpPr>
        <p:spPr>
          <a:xfrm>
            <a:off x="2926080" y="4983480"/>
            <a:ext cx="2331720" cy="868680"/>
          </a:xfrm>
          <a:prstGeom prst="roundRect">
            <a:avLst>
              <a:gd name="adj" fmla="val 7368"/>
            </a:avLst>
          </a:prstGeom>
          <a:solidFill>
            <a:srgbClr val="FFFFFF"/>
          </a:solidFill>
          <a:ln w="9525">
            <a:solidFill>
              <a:srgbClr val="D9E2C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999232" y="4983480"/>
            <a:ext cx="218541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Censored NB likelihood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exploration outcomes only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5303520" y="5422392"/>
            <a:ext cx="228600" cy="0"/>
          </a:xfrm>
          <a:prstGeom prst="line">
            <a:avLst/>
          </a:prstGeom>
          <a:noFill/>
          <a:ln w="19050">
            <a:solidFill>
              <a:srgbClr val="5F6B5C"/>
            </a:solidFill>
            <a:prstDash val="solid"/>
            <a:tailEnd type="triangle"/>
          </a:ln>
        </p:spPr>
      </p:sp>
      <p:sp>
        <p:nvSpPr>
          <p:cNvPr id="42" name="Shape 40"/>
          <p:cNvSpPr/>
          <p:nvPr/>
        </p:nvSpPr>
        <p:spPr>
          <a:xfrm>
            <a:off x="5532120" y="4983480"/>
            <a:ext cx="2057400" cy="868680"/>
          </a:xfrm>
          <a:prstGeom prst="roundRect">
            <a:avLst>
              <a:gd name="adj" fmla="val 7368"/>
            </a:avLst>
          </a:prstGeom>
          <a:solidFill>
            <a:srgbClr val="FFFFFF"/>
          </a:solidFill>
          <a:ln w="9525">
            <a:solidFill>
              <a:srgbClr val="D9E2CF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605272" y="4983480"/>
            <a:ext cx="191109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 ÷ deff = 3.589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(correlation deflation)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7635240" y="5422392"/>
            <a:ext cx="228600" cy="0"/>
          </a:xfrm>
          <a:prstGeom prst="line">
            <a:avLst/>
          </a:prstGeom>
          <a:noFill/>
          <a:ln w="19050">
            <a:solidFill>
              <a:srgbClr val="5F6B5C"/>
            </a:solidFill>
            <a:prstDash val="solid"/>
            <a:tailEnd type="triangle"/>
          </a:ln>
        </p:spPr>
      </p:sp>
      <p:sp>
        <p:nvSpPr>
          <p:cNvPr id="45" name="Shape 43"/>
          <p:cNvSpPr/>
          <p:nvPr/>
        </p:nvSpPr>
        <p:spPr>
          <a:xfrm>
            <a:off x="7863840" y="4983480"/>
            <a:ext cx="1965960" cy="868680"/>
          </a:xfrm>
          <a:prstGeom prst="roundRect">
            <a:avLst>
              <a:gd name="adj" fmla="val 7368"/>
            </a:avLst>
          </a:prstGeom>
          <a:solidFill>
            <a:srgbClr val="FFFFFF"/>
          </a:solidFill>
          <a:ln w="9525">
            <a:solidFill>
              <a:srgbClr val="D9E2CF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936992" y="4983480"/>
            <a:ext cx="181965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Bounded step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daily human gate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9875520" y="5422392"/>
            <a:ext cx="228600" cy="0"/>
          </a:xfrm>
          <a:prstGeom prst="line">
            <a:avLst/>
          </a:prstGeom>
          <a:noFill/>
          <a:ln w="19050">
            <a:solidFill>
              <a:srgbClr val="5F6B5C"/>
            </a:solidFill>
            <a:prstDash val="solid"/>
            <a:tailEnd type="triangle"/>
          </a:ln>
        </p:spPr>
      </p:sp>
      <p:sp>
        <p:nvSpPr>
          <p:cNvPr id="48" name="Shape 46"/>
          <p:cNvSpPr/>
          <p:nvPr/>
        </p:nvSpPr>
        <p:spPr>
          <a:xfrm>
            <a:off x="10104120" y="4983480"/>
            <a:ext cx="1508760" cy="868680"/>
          </a:xfrm>
          <a:prstGeom prst="roundRect">
            <a:avLst>
              <a:gd name="adj" fmla="val 7368"/>
            </a:avLst>
          </a:prstGeom>
          <a:solidFill>
            <a:srgbClr val="EEF4E4"/>
          </a:solidFill>
          <a:ln w="9525">
            <a:solidFill>
              <a:srgbClr val="D9E2CF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10177272" y="4983480"/>
            <a:ext cx="136245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Posterior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updated</a:t>
            </a:r>
            <a:endParaRPr lang="en-US" sz="1200" dirty="0"/>
          </a:p>
        </p:txBody>
      </p:sp>
      <p:sp>
        <p:nvSpPr>
          <p:cNvPr id="50" name="Text 48"/>
          <p:cNvSpPr/>
          <p:nvPr/>
        </p:nvSpPr>
        <p:spPr>
          <a:xfrm>
            <a:off x="548640" y="6053328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decision event carries the exact prediction, posterior, and artifact versions it used — any decision is reproducible from its event alone.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Perishable Markdown MVP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430000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23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Unsafe prices are unrepresentable — not merely checked for</a:t>
            </a:r>
            <a:endParaRPr lang="en-US" sz="2900" dirty="0"/>
          </a:p>
        </p:txBody>
      </p:sp>
      <p:sp>
        <p:nvSpPr>
          <p:cNvPr id="6" name="Shape 4"/>
          <p:cNvSpPr/>
          <p:nvPr/>
        </p:nvSpPr>
        <p:spPr>
          <a:xfrm>
            <a:off x="548640" y="1691640"/>
            <a:ext cx="5532120" cy="1965960"/>
          </a:xfrm>
          <a:prstGeom prst="roundRect">
            <a:avLst>
              <a:gd name="adj" fmla="val 4186"/>
            </a:avLst>
          </a:prstGeom>
          <a:solidFill>
            <a:srgbClr val="F6F8F2"/>
          </a:solidFill>
          <a:ln/>
          <a:effectLst>
            <a:outerShdw sx="100000" sy="100000" kx="0" ky="0" algn="bl" rotWithShape="0" blurRad="76200" dist="25400" dir="5400000">
              <a:srgbClr val="3A4A36">
                <a:alpha val="1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804672" y="1947672"/>
            <a:ext cx="475488" cy="475488"/>
          </a:xfrm>
          <a:prstGeom prst="ellipse">
            <a:avLst/>
          </a:prstGeom>
          <a:solidFill>
            <a:srgbClr val="2C5F2D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8299" y="2071299"/>
            <a:ext cx="228234" cy="228234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463040" y="1947672"/>
            <a:ext cx="4480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23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Cost floor is the action set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1463040" y="2478024"/>
            <a:ext cx="4434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Feasible discounts are constructed as every 2.5pp tier from 0 to 1 − cost/price. A below-cost price cannot be expressed — on any path, including forced exploration.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6263640" y="1691640"/>
            <a:ext cx="5532120" cy="1965960"/>
          </a:xfrm>
          <a:prstGeom prst="roundRect">
            <a:avLst>
              <a:gd name="adj" fmla="val 4186"/>
            </a:avLst>
          </a:prstGeom>
          <a:solidFill>
            <a:srgbClr val="F6F8F2"/>
          </a:solidFill>
          <a:ln/>
          <a:effectLst>
            <a:outerShdw sx="100000" sy="100000" kx="0" ky="0" algn="bl" rotWithShape="0" blurRad="76200" dist="25400" dir="5400000">
              <a:srgbClr val="3A4A36">
                <a:alpha val="1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519672" y="1947672"/>
            <a:ext cx="475488" cy="475488"/>
          </a:xfrm>
          <a:prstGeom prst="ellipse">
            <a:avLst/>
          </a:prstGeom>
          <a:solidFill>
            <a:srgbClr val="2C5F2D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43299" y="2071299"/>
            <a:ext cx="228234" cy="228234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178040" y="1947672"/>
            <a:ext cx="4480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23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Monotonicity is the transition</a:t>
            </a:r>
            <a:endParaRPr lang="en-US" sz="1500" dirty="0"/>
          </a:p>
        </p:txBody>
      </p:sp>
      <p:sp>
        <p:nvSpPr>
          <p:cNvPr id="15" name="Text 11"/>
          <p:cNvSpPr/>
          <p:nvPr/>
        </p:nvSpPr>
        <p:spPr>
          <a:xfrm>
            <a:off x="7178040" y="2478024"/>
            <a:ext cx="4434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Hourly actions may only hold or deepen from the current anchor. “Price never rises within an episode” is encoded in the planner’s state machine, not enforced by review.</a:t>
            </a:r>
            <a:endParaRPr lang="en-US" sz="1150" dirty="0"/>
          </a:p>
        </p:txBody>
      </p:sp>
      <p:sp>
        <p:nvSpPr>
          <p:cNvPr id="16" name="Shape 12"/>
          <p:cNvSpPr/>
          <p:nvPr/>
        </p:nvSpPr>
        <p:spPr>
          <a:xfrm>
            <a:off x="548640" y="3840480"/>
            <a:ext cx="5532120" cy="1965960"/>
          </a:xfrm>
          <a:prstGeom prst="roundRect">
            <a:avLst>
              <a:gd name="adj" fmla="val 4186"/>
            </a:avLst>
          </a:prstGeom>
          <a:solidFill>
            <a:srgbClr val="F6F8F2"/>
          </a:solidFill>
          <a:ln/>
          <a:effectLst>
            <a:outerShdw sx="100000" sy="100000" kx="0" ky="0" algn="bl" rotWithShape="0" blurRad="76200" dist="25400" dir="5400000">
              <a:srgbClr val="3A4A36">
                <a:alpha val="18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804672" y="4096512"/>
            <a:ext cx="475488" cy="475488"/>
          </a:xfrm>
          <a:prstGeom prst="ellipse">
            <a:avLst/>
          </a:prstGeom>
          <a:solidFill>
            <a:srgbClr val="2C5F2D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8299" y="4220139"/>
            <a:ext cx="228234" cy="228234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1463040" y="4096512"/>
            <a:ext cx="4480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23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Reject, never guess</a:t>
            </a:r>
            <a:endParaRPr lang="en-US" sz="1500" dirty="0"/>
          </a:p>
        </p:txBody>
      </p:sp>
      <p:sp>
        <p:nvSpPr>
          <p:cNvPr id="20" name="Text 15"/>
          <p:cNvSpPr/>
          <p:nvPr/>
        </p:nvSpPr>
        <p:spPr>
          <a:xfrm>
            <a:off x="1463040" y="4626864"/>
            <a:ext cx="4434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Nine state invariants are validated per decision. On any failure the system returns no price at all — the worst pricing failure is a confidently wrong answer, not a missing one.</a:t>
            </a:r>
            <a:endParaRPr lang="en-US" sz="1150" dirty="0"/>
          </a:p>
        </p:txBody>
      </p:sp>
      <p:sp>
        <p:nvSpPr>
          <p:cNvPr id="21" name="Shape 16"/>
          <p:cNvSpPr/>
          <p:nvPr/>
        </p:nvSpPr>
        <p:spPr>
          <a:xfrm>
            <a:off x="6263640" y="3840480"/>
            <a:ext cx="5532120" cy="1965960"/>
          </a:xfrm>
          <a:prstGeom prst="roundRect">
            <a:avLst>
              <a:gd name="adj" fmla="val 4186"/>
            </a:avLst>
          </a:prstGeom>
          <a:solidFill>
            <a:srgbClr val="F6F8F2"/>
          </a:solidFill>
          <a:ln/>
          <a:effectLst>
            <a:outerShdw sx="100000" sy="100000" kx="0" ky="0" algn="bl" rotWithShape="0" blurRad="76200" dist="25400" dir="5400000">
              <a:srgbClr val="3A4A36">
                <a:alpha val="18000"/>
              </a:srgbClr>
            </a:outerShdw>
          </a:effectLst>
        </p:spPr>
      </p:sp>
      <p:sp>
        <p:nvSpPr>
          <p:cNvPr id="22" name="Shape 17"/>
          <p:cNvSpPr/>
          <p:nvPr/>
        </p:nvSpPr>
        <p:spPr>
          <a:xfrm>
            <a:off x="6519672" y="4096512"/>
            <a:ext cx="475488" cy="475488"/>
          </a:xfrm>
          <a:prstGeom prst="ellipse">
            <a:avLst/>
          </a:prstGeom>
          <a:solidFill>
            <a:srgbClr val="2C5F2D"/>
          </a:solidFill>
          <a:ln/>
        </p:spPr>
      </p:sp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43299" y="4220139"/>
            <a:ext cx="228234" cy="228234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7178040" y="4096512"/>
            <a:ext cx="4480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23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Evidence cannot be corrupted</a:t>
            </a:r>
            <a:endParaRPr lang="en-US" sz="1500" dirty="0"/>
          </a:p>
        </p:txBody>
      </p:sp>
      <p:sp>
        <p:nvSpPr>
          <p:cNvPr id="25" name="Text 19"/>
          <p:cNvSpPr/>
          <p:nvPr/>
        </p:nvSpPr>
        <p:spPr>
          <a:xfrm>
            <a:off x="7178040" y="4626864"/>
            <a:ext cx="4434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Append-only events with duplicate detection; malformed events quarantined with reasons, never dropped. Posterior revisions commit atomically with the outcomes they consumed — a crash cannot double-count.</a:t>
            </a:r>
            <a:endParaRPr lang="en-US" sz="11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Perishable Markdown MVP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430000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EXPLORATION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23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P&amp;L line item, uniformly randomized</a:t>
            </a:r>
            <a:endParaRPr lang="en-US" sz="2900" dirty="0"/>
          </a:p>
        </p:txBody>
      </p:sp>
      <p:sp>
        <p:nvSpPr>
          <p:cNvPr id="6" name="Shape 4"/>
          <p:cNvSpPr/>
          <p:nvPr/>
        </p:nvSpPr>
        <p:spPr>
          <a:xfrm>
            <a:off x="548640" y="1645920"/>
            <a:ext cx="6035040" cy="2286000"/>
          </a:xfrm>
          <a:prstGeom prst="roundRect">
            <a:avLst>
              <a:gd name="adj" fmla="val 3600"/>
            </a:avLst>
          </a:prstGeom>
          <a:solidFill>
            <a:srgbClr val="EEF4E4"/>
          </a:solidFill>
          <a:ln/>
          <a:effectLst>
            <a:outerShdw sx="100000" sy="100000" kx="0" ky="0" algn="bl" rotWithShape="0" blurRad="76200" dist="25400" dir="5400000">
              <a:srgbClr val="3A4A36">
                <a:alpha val="18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822960" y="18288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planner already prices every tier — exploration is a costed selection: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822960" y="2286000"/>
            <a:ext cx="5577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30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cost(p)     =  Q(p*) − Q(p)     ← ₩ given up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2230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affordable  =  { p ≠ p* :  cost(p) ≤ τ }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2230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applied     =  UNIFORM draw from affordable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548640" y="4160520"/>
            <a:ext cx="612648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Uniformity is the point — it is the randomization that makes outcomes causal evidence. Any “smarter” state-dependent choice reintroduces the bias that poisoned our history.</a:t>
            </a:r>
            <a:endParaRPr lang="en-US" sz="12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exploration probabilities anywhere. The budget is a business-approved line: 1% of markdown IL/day, shrinking (never below 25%) as beliefs converge — so drift stays detectable forever.</a:t>
            </a:r>
            <a:endParaRPr lang="en-US" sz="12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Information about ε and the IL cost of a perturbation both scale as mu × (log price ratio)² — information per won is constant. There is no clever targeting to do, only a budget to respect.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7040880" y="1828800"/>
            <a:ext cx="4389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1% of IL</a:t>
            </a:r>
            <a:endParaRPr lang="en-US" sz="3800" dirty="0"/>
          </a:p>
        </p:txBody>
      </p:sp>
      <p:sp>
        <p:nvSpPr>
          <p:cNvPr id="11" name="Text 9"/>
          <p:cNvSpPr/>
          <p:nvPr/>
        </p:nvSpPr>
        <p:spPr>
          <a:xfrm>
            <a:off x="7040880" y="2487168"/>
            <a:ext cx="4389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exploration budget — the price of learning, approved as a line item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7040880" y="3246120"/>
            <a:ext cx="4389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₩203.09</a:t>
            </a:r>
            <a:endParaRPr lang="en-US" sz="3800" dirty="0"/>
          </a:p>
        </p:txBody>
      </p:sp>
      <p:sp>
        <p:nvSpPr>
          <p:cNvPr id="13" name="Text 11"/>
          <p:cNvSpPr/>
          <p:nvPr/>
        </p:nvSpPr>
        <p:spPr>
          <a:xfrm>
            <a:off x="7040880" y="3904488"/>
            <a:ext cx="4389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starting threshold τ (22.7th percentile of the Q-value spread), self-calibrating daily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7040880" y="4663440"/>
            <a:ext cx="4389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₩1,271 / day</a:t>
            </a:r>
            <a:endParaRPr lang="en-US" sz="3200" dirty="0"/>
          </a:p>
        </p:txBody>
      </p:sp>
      <p:sp>
        <p:nvSpPr>
          <p:cNvPr id="15" name="Text 13"/>
          <p:cNvSpPr/>
          <p:nvPr/>
        </p:nvSpPr>
        <p:spPr>
          <a:xfrm>
            <a:off x="7040880" y="5321808"/>
            <a:ext cx="4389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implied spend vs a ₩1,271/day budget on the replay sample — calibration lands on target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Perishable Markdown MVP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430000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LEARNING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23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Censored, deflated, bounded, human-gated</a:t>
            </a:r>
            <a:endParaRPr lang="en-US" sz="2900" dirty="0"/>
          </a:p>
        </p:txBody>
      </p:sp>
      <p:sp>
        <p:nvSpPr>
          <p:cNvPr id="6" name="Shape 4"/>
          <p:cNvSpPr/>
          <p:nvPr/>
        </p:nvSpPr>
        <p:spPr>
          <a:xfrm>
            <a:off x="594360" y="1965960"/>
            <a:ext cx="457200" cy="457200"/>
          </a:xfrm>
          <a:prstGeom prst="ellipse">
            <a:avLst/>
          </a:prstGeom>
          <a:solidFill>
            <a:srgbClr val="2C5F2D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3232" y="2084832"/>
            <a:ext cx="219456" cy="21945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280160" y="1645920"/>
            <a:ext cx="3931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23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Only randomized outcomes teach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5349240" y="1645920"/>
            <a:ext cx="6309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Exploitation prices are chosen by the posterior — learning from them feeds the model its own beliefs. Shadow-phase outcomes are likewise structurally ineligible.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594360" y="3136392"/>
            <a:ext cx="457200" cy="457200"/>
          </a:xfrm>
          <a:prstGeom prst="ellipse">
            <a:avLst/>
          </a:prstGeom>
          <a:solidFill>
            <a:srgbClr val="2C5F2D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" y="3255264"/>
            <a:ext cx="219456" cy="219456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280160" y="2816352"/>
            <a:ext cx="3931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23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Stockouts are lower bounds, not counts</a:t>
            </a:r>
            <a:endParaRPr lang="en-US" sz="1350" dirty="0"/>
          </a:p>
        </p:txBody>
      </p:sp>
      <p:sp>
        <p:nvSpPr>
          <p:cNvPr id="13" name="Text 9"/>
          <p:cNvSpPr/>
          <p:nvPr/>
        </p:nvSpPr>
        <p:spPr>
          <a:xfrm>
            <a:off x="5349240" y="2816352"/>
            <a:ext cx="6309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“Sold 2 of 2” means demand ≥ 2. It enters as a survival probability; treating it as exact would understate elasticity exactly where stockouts concentrate — at deep discounts. Zero-sale hours are kept: they carry the shallow-discount signal.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594360" y="4306824"/>
            <a:ext cx="457200" cy="457200"/>
          </a:xfrm>
          <a:prstGeom prst="ellipse">
            <a:avLst/>
          </a:prstGeom>
          <a:solidFill>
            <a:srgbClr val="2C5F2D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232" y="4425696"/>
            <a:ext cx="219456" cy="219456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1280160" y="3986784"/>
            <a:ext cx="3931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23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Correlated hours are deflated ÷ 3.589</a:t>
            </a:r>
            <a:endParaRPr lang="en-US" sz="1350" dirty="0"/>
          </a:p>
        </p:txBody>
      </p:sp>
      <p:sp>
        <p:nvSpPr>
          <p:cNvPr id="17" name="Text 12"/>
          <p:cNvSpPr/>
          <p:nvPr/>
        </p:nvSpPr>
        <p:spPr>
          <a:xfrm>
            <a:off x="5349240" y="3986784"/>
            <a:ext cx="6309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Hours in an episode share one inventory pool and one demand shock. Counted as independent, the system would declare convergence three-and-a-half times too early. deff = 1 + (forced hours − 1) × ρ — every input fitted against the model's own residuals, and start-up refuses to run if config drifts from the frozen artifact.</a:t>
            </a:r>
            <a:endParaRPr lang="en-US" sz="1100" dirty="0"/>
          </a:p>
        </p:txBody>
      </p:sp>
      <p:sp>
        <p:nvSpPr>
          <p:cNvPr id="18" name="Shape 13"/>
          <p:cNvSpPr/>
          <p:nvPr/>
        </p:nvSpPr>
        <p:spPr>
          <a:xfrm>
            <a:off x="594360" y="5477256"/>
            <a:ext cx="457200" cy="457200"/>
          </a:xfrm>
          <a:prstGeom prst="ellipse">
            <a:avLst/>
          </a:prstGeom>
          <a:solidFill>
            <a:srgbClr val="C8901A"/>
          </a:solidFill>
          <a:ln/>
        </p:spPr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3232" y="5596128"/>
            <a:ext cx="219456" cy="219456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1280160" y="5157216"/>
            <a:ext cx="3931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23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Bounded steps behind a daily human gate</a:t>
            </a:r>
            <a:endParaRPr lang="en-US" sz="1350" dirty="0"/>
          </a:p>
        </p:txBody>
      </p:sp>
      <p:sp>
        <p:nvSpPr>
          <p:cNvPr id="21" name="Text 15"/>
          <p:cNvSpPr/>
          <p:nvPr/>
        </p:nvSpPr>
        <p:spPr>
          <a:xfrm>
            <a:off x="5349240" y="5157216"/>
            <a:ext cx="6309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update moves the mean ≤ 0.15 and shrinks uncertainty ≤ 25% — no single batch can destroy beliefs. A human approves each day’s step, and the apply command refuses while event-quality gates fail. Automation criteria come later, from observed behaviour.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Perishable Markdown MVP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430000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 ON PRODUCTION DATA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23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gate that fired caught a real problem</a:t>
            </a:r>
            <a:endParaRPr lang="en-US" sz="29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48640" y="1828800"/>
          <a:ext cx="5394960" cy="3749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Text 4"/>
          <p:cNvSpPr/>
          <p:nvPr/>
        </p:nvSpPr>
        <p:spPr>
          <a:xfrm>
            <a:off x="548640" y="5623560"/>
            <a:ext cx="5394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Fidelity by window, current (v2) model, uncalibrated · weekly series: every week 1.06–1.54, σ ±8% · gate band [0.90, 1.10] (owner, ≈2σ) · calibrated re-gate PASSED at 1.0395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6263640" y="1783080"/>
            <a:ext cx="384048" cy="384048"/>
          </a:xfrm>
          <a:prstGeom prst="ellipse">
            <a:avLst/>
          </a:prstGeom>
          <a:solidFill>
            <a:srgbClr val="2C5F2D"/>
          </a:solidFill>
          <a:ln/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63492" y="1882932"/>
            <a:ext cx="184343" cy="184343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6812280" y="173736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23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Weekly volatility is a measured fact</a:t>
            </a:r>
            <a:endParaRPr lang="en-US" sz="1350" dirty="0"/>
          </a:p>
        </p:txBody>
      </p:sp>
      <p:sp>
        <p:nvSpPr>
          <p:cNvPr id="11" name="Text 7"/>
          <p:cNvSpPr/>
          <p:nvPr/>
        </p:nvSpPr>
        <p:spPr>
          <a:xfrm>
            <a:off x="6812280" y="2103120"/>
            <a:ext cx="4892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under-predicts in every week of five months (mean ≈1.30, σ ±8%) — a persistent level deficit the calibration factor absorbs, plus week noise no frozen model can track. The gate band was reset by the owner to ≈2σ; the daily drift ratio is the continuous guard.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6263640" y="3200400"/>
            <a:ext cx="384048" cy="384048"/>
          </a:xfrm>
          <a:prstGeom prst="ellipse">
            <a:avLst/>
          </a:prstGeom>
          <a:solidFill>
            <a:srgbClr val="2C5F2D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63492" y="3300252"/>
            <a:ext cx="184343" cy="184343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6812280" y="315468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23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Survivorship confound found &amp; fixed</a:t>
            </a:r>
            <a:endParaRPr lang="en-US" sz="1350" dirty="0"/>
          </a:p>
        </p:txBody>
      </p:sp>
      <p:sp>
        <p:nvSpPr>
          <p:cNvPr id="15" name="Text 10"/>
          <p:cNvSpPr/>
          <p:nvPr/>
        </p:nvSpPr>
        <p:spPr>
          <a:xfrm>
            <a:off x="6812280" y="3520440"/>
            <a:ext cx="4892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16 categories pinned at the zero elasticity boundary until identification was restricted to entry hours. One category (MEAT) now brackets cleanly; 14 fall back to an honest wide prior — by design.</a:t>
            </a:r>
            <a:endParaRPr lang="en-US" sz="1050" dirty="0"/>
          </a:p>
        </p:txBody>
      </p:sp>
      <p:sp>
        <p:nvSpPr>
          <p:cNvPr id="16" name="Shape 11"/>
          <p:cNvSpPr/>
          <p:nvPr/>
        </p:nvSpPr>
        <p:spPr>
          <a:xfrm>
            <a:off x="6263640" y="4617720"/>
            <a:ext cx="384048" cy="384048"/>
          </a:xfrm>
          <a:prstGeom prst="ellipse">
            <a:avLst/>
          </a:prstGeom>
          <a:solidFill>
            <a:srgbClr val="2C5F2D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63492" y="4717572"/>
            <a:ext cx="184343" cy="184343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812280" y="457200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23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Per-SKU velocity features pay twice</a:t>
            </a:r>
            <a:endParaRPr lang="en-US" sz="1350" dirty="0"/>
          </a:p>
        </p:txBody>
      </p:sp>
      <p:sp>
        <p:nvSpPr>
          <p:cNvPr id="19" name="Text 13"/>
          <p:cNvSpPr/>
          <p:nvPr/>
        </p:nvSpPr>
        <p:spPr>
          <a:xfrm>
            <a:off x="6812280" y="4937760"/>
            <a:ext cx="4892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Hourly MAE 0.405 → 0.373, and residual intra-episode correlation fell (deff 4.07 → 3.59) — every exploration outcome now carries ~12% more learning information.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Perishable Markdown MVP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430000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THE NUMBERS STAND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23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Measured on production data · 2026-08-09</a:t>
            </a:r>
            <a:endParaRPr lang="en-US" sz="29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91640"/>
          <a:ext cx="11064240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3566160"/>
                <a:gridCol w="4389120"/>
              </a:tblGrid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Quantity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Value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Meaning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30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Calibration gate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30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PASS · 1.0395 in band [0.90, 1.10]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30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Gates the frozen artifact on its own job — the level at reference price; slope belongs to production learning (owner, 2026-08-09)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30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Actual IL% · replay sample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30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34.64%  (₩14.7M / 2,000 episodes)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30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baseline the system must beat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30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ρ / forced hours / deff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30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0.3183 / 9.134 / 3.589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30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Evidence deflation — down from 4.07 with the velocity features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30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Exploration τ (initial)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30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₩203.09 from the passing run · spend ≈ budget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30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Pasted into config only from a gate-passing report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30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IL% clustered SE (18 weeks)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30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0.002383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30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6× the original assumption — drives the A/B duration decision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30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Elasticity prior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30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fallback −1.0 ± 0.6 (14/16) · MEAT brackets cleanly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30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Honest rejection; production exploration carries the burden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30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Offline replay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30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like-for-like DP vs legacy: −12.0% IL, −3.25pp clearance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30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Both arms run through the same demand model, so model bias cancels. The IL win is partly bought with scrap — the pilot reports clearance beside IL from day one. Replay is sanity, never launch evidence; the A/B decides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Perishable Markdown MVP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430000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LAUNCH PLAN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23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Five phases, each behind a blocking gate</a:t>
            </a:r>
            <a:endParaRPr lang="en-US" sz="2900" dirty="0"/>
          </a:p>
        </p:txBody>
      </p:sp>
      <p:sp>
        <p:nvSpPr>
          <p:cNvPr id="6" name="Shape 4"/>
          <p:cNvSpPr/>
          <p:nvPr/>
        </p:nvSpPr>
        <p:spPr>
          <a:xfrm>
            <a:off x="548640" y="1828800"/>
            <a:ext cx="3611880" cy="1920240"/>
          </a:xfrm>
          <a:prstGeom prst="roundRect">
            <a:avLst>
              <a:gd name="adj" fmla="val 4286"/>
            </a:avLst>
          </a:prstGeom>
          <a:solidFill>
            <a:srgbClr val="F6F8F2"/>
          </a:solidFill>
          <a:ln/>
          <a:effectLst>
            <a:outerShdw sx="100000" sy="100000" kx="0" ky="0" algn="bl" rotWithShape="0" blurRad="76200" dist="25400" dir="5400000">
              <a:srgbClr val="3A4A36">
                <a:alpha val="18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777240" y="199339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23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 · Measure</a:t>
            </a:r>
            <a:endParaRPr lang="en-US" sz="1550" dirty="0"/>
          </a:p>
        </p:txBody>
      </p:sp>
      <p:sp>
        <p:nvSpPr>
          <p:cNvPr id="8" name="Text 6"/>
          <p:cNvSpPr/>
          <p:nvPr/>
        </p:nvSpPr>
        <p:spPr>
          <a:xfrm>
            <a:off x="777240" y="2395728"/>
            <a:ext cx="3200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Historical measurement; config populated from data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777240" y="3291840"/>
            <a:ext cx="1600200" cy="310896"/>
          </a:xfrm>
          <a:prstGeom prst="roundRect">
            <a:avLst>
              <a:gd name="adj" fmla="val 14706"/>
            </a:avLst>
          </a:prstGeom>
          <a:solidFill>
            <a:srgbClr val="2C5F2D"/>
          </a:solidFill>
          <a:ln/>
        </p:spPr>
      </p:sp>
      <p:sp>
        <p:nvSpPr>
          <p:cNvPr id="10" name="Text 8"/>
          <p:cNvSpPr/>
          <p:nvPr/>
        </p:nvSpPr>
        <p:spPr>
          <a:xfrm>
            <a:off x="777240" y="3291840"/>
            <a:ext cx="1600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DONE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343400" y="1828800"/>
            <a:ext cx="3611880" cy="1920240"/>
          </a:xfrm>
          <a:prstGeom prst="roundRect">
            <a:avLst>
              <a:gd name="adj" fmla="val 4286"/>
            </a:avLst>
          </a:prstGeom>
          <a:solidFill>
            <a:srgbClr val="F6F8F2"/>
          </a:solidFill>
          <a:ln/>
          <a:effectLst>
            <a:outerShdw sx="100000" sy="100000" kx="0" ky="0" algn="bl" rotWithShape="0" blurRad="76200" dist="25400" dir="5400000">
              <a:srgbClr val="3A4A36">
                <a:alpha val="18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572000" y="199339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23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0b · Calibrate</a:t>
            </a:r>
            <a:endParaRPr lang="en-US" sz="1550" dirty="0"/>
          </a:p>
        </p:txBody>
      </p:sp>
      <p:sp>
        <p:nvSpPr>
          <p:cNvPr id="13" name="Text 11"/>
          <p:cNvSpPr/>
          <p:nvPr/>
        </p:nvSpPr>
        <p:spPr>
          <a:xfrm>
            <a:off x="4572000" y="2395728"/>
            <a:ext cx="3200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Fidelity + prior gates on production data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0" y="3291840"/>
            <a:ext cx="1600200" cy="310896"/>
          </a:xfrm>
          <a:prstGeom prst="roundRect">
            <a:avLst>
              <a:gd name="adj" fmla="val 14706"/>
            </a:avLst>
          </a:prstGeom>
          <a:solidFill>
            <a:srgbClr val="2C5F2D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0" y="3291840"/>
            <a:ext cx="1600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DONE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8138160" y="1828800"/>
            <a:ext cx="3611880" cy="1920240"/>
          </a:xfrm>
          <a:prstGeom prst="roundRect">
            <a:avLst>
              <a:gd name="adj" fmla="val 4286"/>
            </a:avLst>
          </a:prstGeom>
          <a:solidFill>
            <a:srgbClr val="F6F8F2"/>
          </a:solidFill>
          <a:ln/>
          <a:effectLst>
            <a:outerShdw sx="100000" sy="100000" kx="0" ky="0" algn="bl" rotWithShape="0" blurRad="76200" dist="25400" dir="5400000">
              <a:srgbClr val="3A4A36">
                <a:alpha val="18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8366760" y="199339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23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 · Shadow</a:t>
            </a:r>
            <a:endParaRPr lang="en-US" sz="1550" dirty="0"/>
          </a:p>
        </p:txBody>
      </p:sp>
      <p:sp>
        <p:nvSpPr>
          <p:cNvPr id="18" name="Text 16"/>
          <p:cNvSpPr/>
          <p:nvPr/>
        </p:nvSpPr>
        <p:spPr>
          <a:xfrm>
            <a:off x="8366760" y="2395728"/>
            <a:ext cx="3200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decision path live, no prices applied — completeness 1.0000, zero cost-floor violations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8366760" y="3291840"/>
            <a:ext cx="1600200" cy="310896"/>
          </a:xfrm>
          <a:prstGeom prst="roundRect">
            <a:avLst>
              <a:gd name="adj" fmla="val 14706"/>
            </a:avLst>
          </a:prstGeom>
          <a:solidFill>
            <a:srgbClr val="C8901A"/>
          </a:solidFill>
          <a:ln/>
        </p:spPr>
      </p:sp>
      <p:sp>
        <p:nvSpPr>
          <p:cNvPr id="20" name="Text 18"/>
          <p:cNvSpPr/>
          <p:nvPr/>
        </p:nvSpPr>
        <p:spPr>
          <a:xfrm>
            <a:off x="8366760" y="3291840"/>
            <a:ext cx="1600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DONE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48640" y="3977640"/>
            <a:ext cx="3611880" cy="1920240"/>
          </a:xfrm>
          <a:prstGeom prst="roundRect">
            <a:avLst>
              <a:gd name="adj" fmla="val 4286"/>
            </a:avLst>
          </a:prstGeom>
          <a:solidFill>
            <a:srgbClr val="F6F8F2"/>
          </a:solidFill>
          <a:ln/>
          <a:effectLst>
            <a:outerShdw sx="100000" sy="100000" kx="0" ky="0" algn="bl" rotWithShape="0" blurRad="76200" dist="25400" dir="5400000">
              <a:srgbClr val="3A4A36">
                <a:alpha val="18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777240" y="414223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23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 · Exploit pilot</a:t>
            </a:r>
            <a:endParaRPr lang="en-US" sz="1550" dirty="0"/>
          </a:p>
        </p:txBody>
      </p:sp>
      <p:sp>
        <p:nvSpPr>
          <p:cNvPr id="23" name="Text 21"/>
          <p:cNvSpPr/>
          <p:nvPr/>
        </p:nvSpPr>
        <p:spPr>
          <a:xfrm>
            <a:off x="777240" y="4544568"/>
            <a:ext cx="3200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SKU set, exploration off; price-execution fidelity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777240" y="5440680"/>
            <a:ext cx="1600200" cy="310896"/>
          </a:xfrm>
          <a:prstGeom prst="roundRect">
            <a:avLst>
              <a:gd name="adj" fmla="val 14706"/>
            </a:avLst>
          </a:prstGeom>
          <a:solidFill>
            <a:srgbClr val="5F6B5C"/>
          </a:solidFill>
          <a:ln/>
        </p:spPr>
      </p:sp>
      <p:sp>
        <p:nvSpPr>
          <p:cNvPr id="25" name="Text 23"/>
          <p:cNvSpPr/>
          <p:nvPr/>
        </p:nvSpPr>
        <p:spPr>
          <a:xfrm>
            <a:off x="777240" y="5440680"/>
            <a:ext cx="1600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343400" y="3977640"/>
            <a:ext cx="3611880" cy="1920240"/>
          </a:xfrm>
          <a:prstGeom prst="roundRect">
            <a:avLst>
              <a:gd name="adj" fmla="val 4286"/>
            </a:avLst>
          </a:prstGeom>
          <a:solidFill>
            <a:srgbClr val="F6F8F2"/>
          </a:solidFill>
          <a:ln/>
          <a:effectLst>
            <a:outerShdw sx="100000" sy="100000" kx="0" ky="0" algn="bl" rotWithShape="0" blurRad="76200" dist="25400" dir="5400000">
              <a:srgbClr val="3A4A36">
                <a:alpha val="18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4572000" y="414223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23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 · Learning pilot</a:t>
            </a:r>
            <a:endParaRPr lang="en-US" sz="1550" dirty="0"/>
          </a:p>
        </p:txBody>
      </p:sp>
      <p:sp>
        <p:nvSpPr>
          <p:cNvPr id="28" name="Text 26"/>
          <p:cNvSpPr/>
          <p:nvPr/>
        </p:nvSpPr>
        <p:spPr>
          <a:xfrm>
            <a:off x="4572000" y="4544568"/>
            <a:ext cx="3200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Exploration at half budget; posterior must visibly move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4572000" y="5440680"/>
            <a:ext cx="1600200" cy="310896"/>
          </a:xfrm>
          <a:prstGeom prst="roundRect">
            <a:avLst>
              <a:gd name="adj" fmla="val 14706"/>
            </a:avLst>
          </a:prstGeom>
          <a:solidFill>
            <a:srgbClr val="5F6B5C"/>
          </a:solidFill>
          <a:ln/>
        </p:spPr>
      </p:sp>
      <p:sp>
        <p:nvSpPr>
          <p:cNvPr id="30" name="Text 28"/>
          <p:cNvSpPr/>
          <p:nvPr/>
        </p:nvSpPr>
        <p:spPr>
          <a:xfrm>
            <a:off x="4572000" y="5440680"/>
            <a:ext cx="1600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PENDING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8138160" y="3977640"/>
            <a:ext cx="3611880" cy="1920240"/>
          </a:xfrm>
          <a:prstGeom prst="roundRect">
            <a:avLst>
              <a:gd name="adj" fmla="val 4286"/>
            </a:avLst>
          </a:prstGeom>
          <a:solidFill>
            <a:srgbClr val="F6F8F2"/>
          </a:solidFill>
          <a:ln/>
          <a:effectLst>
            <a:outerShdw sx="100000" sy="100000" kx="0" ky="0" algn="bl" rotWithShape="0" blurRad="76200" dist="25400" dir="5400000">
              <a:srgbClr val="3A4A36">
                <a:alpha val="18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8366760" y="414223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23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4–5 · A/B → scale</a:t>
            </a:r>
            <a:endParaRPr lang="en-US" sz="1550" dirty="0"/>
          </a:p>
        </p:txBody>
      </p:sp>
      <p:sp>
        <p:nvSpPr>
          <p:cNvPr id="33" name="Text 31"/>
          <p:cNvSpPr/>
          <p:nvPr/>
        </p:nvSpPr>
        <p:spPr>
          <a:xfrm>
            <a:off x="8366760" y="4544568"/>
            <a:ext cx="3200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Powered experiment on IL%; ship on the pre-committed rule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8366760" y="5440680"/>
            <a:ext cx="1600200" cy="310896"/>
          </a:xfrm>
          <a:prstGeom prst="roundRect">
            <a:avLst>
              <a:gd name="adj" fmla="val 14706"/>
            </a:avLst>
          </a:prstGeom>
          <a:solidFill>
            <a:srgbClr val="B3402A"/>
          </a:solidFill>
          <a:ln/>
        </p:spPr>
      </p:sp>
      <p:sp>
        <p:nvSpPr>
          <p:cNvPr id="35" name="Text 33"/>
          <p:cNvSpPr/>
          <p:nvPr/>
        </p:nvSpPr>
        <p:spPr>
          <a:xfrm>
            <a:off x="8366760" y="5440680"/>
            <a:ext cx="1600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BLOCKED ON MDE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548640" y="6053328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Shadow also produced the would-be exploration statistics that answer the learning-speed question — before any price was applied.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Perishable Markdown MVP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430000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REGISTER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23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Stated before launch, each with evidence and a mitigation</a:t>
            </a:r>
            <a:endParaRPr lang="en-US" sz="2900" dirty="0"/>
          </a:p>
        </p:txBody>
      </p:sp>
      <p:sp>
        <p:nvSpPr>
          <p:cNvPr id="6" name="Shape 4"/>
          <p:cNvSpPr/>
          <p:nvPr/>
        </p:nvSpPr>
        <p:spPr>
          <a:xfrm>
            <a:off x="548640" y="1645920"/>
            <a:ext cx="11064240" cy="1325880"/>
          </a:xfrm>
          <a:prstGeom prst="roundRect">
            <a:avLst>
              <a:gd name="adj" fmla="val 6207"/>
            </a:avLst>
          </a:prstGeom>
          <a:solidFill>
            <a:srgbClr val="EEF4E4"/>
          </a:solidFill>
          <a:ln/>
          <a:effectLst>
            <a:outerShdw sx="100000" sy="100000" kx="0" ky="0" algn="bl" rotWithShape="0" blurRad="76200" dist="25400" dir="5400000">
              <a:srgbClr val="3A4A36">
                <a:alpha val="18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804672" y="1755648"/>
            <a:ext cx="32918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B34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 · Learning speed vs the 13-week window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4206240" y="1737360"/>
            <a:ext cx="3657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  </a:t>
            </a:r>
            <a:pPr indent="0" marL="0">
              <a:buNone/>
            </a:pPr>
            <a:r>
              <a:rPr lang="en-US" sz="105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Per-outcome information is small and deflated ÷ 4.07; the prior is wide for 14/16 categories; monotonicity concentrates identification at episode entry.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8001000" y="1737360"/>
            <a:ext cx="3429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Mitigation  </a:t>
            </a:r>
            <a:pPr indent="0" marL="0">
              <a:buNone/>
            </a:pPr>
            <a:r>
              <a:rPr lang="en-US" sz="105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Quantify weeks-to-convergence from shadow output BEFORE the learning pilot. Levers: concentrate budget on entry decisions, raise the budget share, coarser cells. A 21-day flat-posterior alert catches a dead loop.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548640" y="3127248"/>
            <a:ext cx="11064240" cy="1325880"/>
          </a:xfrm>
          <a:prstGeom prst="roundRect">
            <a:avLst>
              <a:gd name="adj" fmla="val 6207"/>
            </a:avLst>
          </a:prstGeom>
          <a:solidFill>
            <a:srgbClr val="F6F8F2"/>
          </a:solidFill>
          <a:ln/>
          <a:effectLst>
            <a:outerShdw sx="100000" sy="100000" kx="0" ky="0" algn="bl" rotWithShape="0" blurRad="76200" dist="25400" dir="5400000">
              <a:srgbClr val="3A4A36">
                <a:alpha val="1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804672" y="3236976"/>
            <a:ext cx="32918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23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 · Frozen-model drift across Sep–Dec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4206240" y="3218688"/>
            <a:ext cx="3657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  </a:t>
            </a:r>
            <a:pPr indent="0" marL="0">
              <a:buNone/>
            </a:pPr>
            <a:r>
              <a:rPr lang="en-US" sz="105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Drift is already measured (1.14 → 0.99 → 1.10 across windows); the season includes Chuseok; every economic quantity is denominated in the demand prediction.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8001000" y="3218688"/>
            <a:ext cx="3429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Mitigation  </a:t>
            </a:r>
            <a:pPr indent="0" marL="0">
              <a:buNone/>
            </a:pPr>
            <a:r>
              <a:rPr lang="en-US" sz="105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retrain immediately before the launch freeze, gate re-checked; daily drift ratio in shadow and production; a mid-window recalibration rule pre-registered now, not improvised later.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48640" y="4608576"/>
            <a:ext cx="11064240" cy="1325880"/>
          </a:xfrm>
          <a:prstGeom prst="roundRect">
            <a:avLst>
              <a:gd name="adj" fmla="val 6207"/>
            </a:avLst>
          </a:prstGeom>
          <a:solidFill>
            <a:srgbClr val="F6F8F2"/>
          </a:solidFill>
          <a:ln/>
          <a:effectLst>
            <a:outerShdw sx="100000" sy="100000" kx="0" ky="0" algn="bl" rotWithShape="0" blurRad="76200" dist="25400" dir="5400000">
              <a:srgbClr val="3A4A36">
                <a:alpha val="18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804672" y="4718304"/>
            <a:ext cx="32918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23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 · A/B power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4206240" y="4700016"/>
            <a:ext cx="3657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  </a:t>
            </a:r>
            <a:pPr indent="0" marL="0">
              <a:buNone/>
            </a:pPr>
            <a:r>
              <a:rPr lang="en-US" sz="105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 variance is 6× the original assumption; small effects may not fit the window.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8001000" y="4700016"/>
            <a:ext cx="3429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Mitigation  </a:t>
            </a:r>
            <a:pPr indent="0" marL="0">
              <a:buNone/>
            </a:pPr>
            <a:r>
              <a:rPr lang="en-US" sz="105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Empirical duration-vs-effect table from the derivation tool; the owner commits to a feasible pair before launch. No early reads.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548640" y="6108192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tracked: metric divergence at readout (pre-committed rule) · single-elasticity misspecification (residuals logged by discount region) · censored training labels (first phase-2 item).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Perishable Markdown MVP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430000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DECISIONS NEEDED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23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thresholds block launch — recommendations, with evidence</a:t>
            </a:r>
            <a:endParaRPr lang="en-US" sz="2900" dirty="0"/>
          </a:p>
        </p:txBody>
      </p:sp>
      <p:sp>
        <p:nvSpPr>
          <p:cNvPr id="6" name="Shape 4"/>
          <p:cNvSpPr/>
          <p:nvPr/>
        </p:nvSpPr>
        <p:spPr>
          <a:xfrm>
            <a:off x="548640" y="1691640"/>
            <a:ext cx="3611880" cy="3200400"/>
          </a:xfrm>
          <a:prstGeom prst="roundRect">
            <a:avLst>
              <a:gd name="adj" fmla="val 2571"/>
            </a:avLst>
          </a:prstGeom>
          <a:solidFill>
            <a:srgbClr val="F6F8F2"/>
          </a:solidFill>
          <a:ln/>
          <a:effectLst>
            <a:outerShdw sx="100000" sy="100000" kx="0" ky="0" algn="bl" rotWithShape="0" blurRad="76200" dist="25400" dir="5400000">
              <a:srgbClr val="3A4A36">
                <a:alpha val="18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777240" y="1874520"/>
            <a:ext cx="3154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23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A/B minimum detectable effect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777240" y="2560320"/>
            <a:ext cx="3154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7.5% relative on IL% · 2 weeks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777240" y="3154680"/>
            <a:ext cx="31546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 on real 2-week blocks of history: 5.54% detectable, so 7.5% has headroom and 5% is within reach. This overturns the earlier ≈5-week arithmetic. Rows beyond 6 weeks rest on 1–2 blocks and are noise — read the 2–4 week rows only.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343400" y="1691640"/>
            <a:ext cx="3611880" cy="3200400"/>
          </a:xfrm>
          <a:prstGeom prst="roundRect">
            <a:avLst>
              <a:gd name="adj" fmla="val 2571"/>
            </a:avLst>
          </a:prstGeom>
          <a:solidFill>
            <a:srgbClr val="F6F8F2"/>
          </a:solidFill>
          <a:ln/>
          <a:effectLst>
            <a:outerShdw sx="100000" sy="100000" kx="0" ky="0" algn="bl" rotWithShape="0" blurRad="76200" dist="25400" dir="5400000">
              <a:srgbClr val="3A4A36">
                <a:alpha val="1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572000" y="1874520"/>
            <a:ext cx="3154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23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Scrap-deterioration stop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4572000" y="2560320"/>
            <a:ext cx="3154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20% relative vs control</a:t>
            </a:r>
            <a:endParaRPr lang="en-US" sz="1900" dirty="0"/>
          </a:p>
        </p:txBody>
      </p:sp>
      <p:sp>
        <p:nvSpPr>
          <p:cNvPr id="13" name="Text 11"/>
          <p:cNvSpPr/>
          <p:nvPr/>
        </p:nvSpPr>
        <p:spPr>
          <a:xfrm>
            <a:off x="4572000" y="3154680"/>
            <a:ext cx="31546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healthy system spending 1% of IL cannot move scrap near 20%; the failure it guards against breached the equivalent 5–10× in replay. The raw 3σ noise measure came back outlier-dominated (a few low-volume days) — 20% is provisional pending the robust re-read.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8138160" y="1691640"/>
            <a:ext cx="3611880" cy="3200400"/>
          </a:xfrm>
          <a:prstGeom prst="roundRect">
            <a:avLst>
              <a:gd name="adj" fmla="val 2571"/>
            </a:avLst>
          </a:prstGeom>
          <a:solidFill>
            <a:srgbClr val="F6F8F2"/>
          </a:solidFill>
          <a:ln/>
          <a:effectLst>
            <a:outerShdw sx="100000" sy="100000" kx="0" ky="0" algn="bl" rotWithShape="0" blurRad="76200" dist="25400" dir="5400000">
              <a:srgbClr val="3A4A36">
                <a:alpha val="18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8366760" y="1874520"/>
            <a:ext cx="3154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23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Margin-deterioration stop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8366760" y="2560320"/>
            <a:ext cx="3154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15% relative + 2-day persistence</a:t>
            </a:r>
            <a:endParaRPr lang="en-US" sz="1900" dirty="0"/>
          </a:p>
        </p:txBody>
      </p:sp>
      <p:sp>
        <p:nvSpPr>
          <p:cNvPr id="17" name="Text 15"/>
          <p:cNvSpPr/>
          <p:nvPr/>
        </p:nvSpPr>
        <p:spPr>
          <a:xfrm>
            <a:off x="8366760" y="3154680"/>
            <a:ext cx="31546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Markdown margins are thin: measured 3σ daily noise is 13.4%, so anything at or under ~13% fires on ordinary days. Persistence, not a tighter number, is the noise control. Both guardrails suspend exploration only; pricing continues.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48640" y="5166360"/>
            <a:ext cx="11064240" cy="914400"/>
          </a:xfrm>
          <a:prstGeom prst="roundRect">
            <a:avLst>
              <a:gd name="adj" fmla="val 9000"/>
            </a:avLst>
          </a:prstGeom>
          <a:solidFill>
            <a:srgbClr val="EEF4E4"/>
          </a:solidFill>
          <a:ln/>
          <a:effectLst>
            <a:outerShdw sx="100000" sy="100000" kx="0" ky="0" algn="bl" rotWithShape="0" blurRad="76200" dist="25400" dir="5400000">
              <a:srgbClr val="3A4A36">
                <a:alpha val="18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822960" y="516636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steps on approval:  </a:t>
            </a:r>
            <a:pPr indent="0" marL="0">
              <a:buNone/>
            </a:pPr>
            <a:r>
              <a:rPr lang="en-US" sz="125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the three thresholds → read the learning-speed math from the shadow output → final model retrain at the launch freeze → exploit-only pilot.</a:t>
            </a:r>
            <a:endParaRPr lang="en-US" sz="12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C3A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92024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Learning rate is the product.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731520" y="3017520"/>
            <a:ext cx="10515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D8E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system prices safely by construction, proves itself behind blocking gates,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D8E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buys clean evidence at a budgeted price — 1% of the loss it exists to reduce.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731520" y="4297680"/>
            <a:ext cx="384048" cy="384048"/>
          </a:xfrm>
          <a:prstGeom prst="ellipse">
            <a:avLst/>
          </a:prstGeom>
          <a:solidFill>
            <a:srgbClr val="2C5F2D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1372" y="4397532"/>
            <a:ext cx="184343" cy="184343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298448" y="4270248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document — docs/design.md (standalone; architecture, rationale, risk register)</a:t>
            </a:r>
            <a:endParaRPr lang="en-US" sz="1350" dirty="0"/>
          </a:p>
        </p:txBody>
      </p:sp>
      <p:sp>
        <p:nvSpPr>
          <p:cNvPr id="7" name="Shape 4"/>
          <p:cNvSpPr/>
          <p:nvPr/>
        </p:nvSpPr>
        <p:spPr>
          <a:xfrm>
            <a:off x="731520" y="4901184"/>
            <a:ext cx="384048" cy="384048"/>
          </a:xfrm>
          <a:prstGeom prst="ellipse">
            <a:avLst/>
          </a:prstGeom>
          <a:solidFill>
            <a:srgbClr val="2C5F2D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1372" y="5001036"/>
            <a:ext cx="184343" cy="184343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298448" y="4873752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Repository — Kamalyunus/fresh-markdown (25 automated tests, full pipeline)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731520" y="5504688"/>
            <a:ext cx="384048" cy="384048"/>
          </a:xfrm>
          <a:prstGeom prst="ellipse">
            <a:avLst/>
          </a:prstGeom>
          <a:solidFill>
            <a:srgbClr val="2C5F2D"/>
          </a:solidFill>
          <a:ln/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1372" y="5604540"/>
            <a:ext cx="184343" cy="184343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1298448" y="5477256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Threshold evidence — bootstrap.derive_thresholds (A/B power + guardrail noise, from data)</a:t>
            </a:r>
            <a:endParaRPr lang="en-US" sz="13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2026-08-09T02:35:03Z</dcterms:created>
  <dcterms:modified xsi:type="dcterms:W3CDTF">2026-08-09T02:35:03Z</dcterms:modified>
</cp:coreProperties>
</file>