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1"/>
    <p:sldId id="259" r:id="rId4"/>
    <p:sldId id="260" r:id="rId5"/>
    <p:sldId id="261" r:id="rId42"/>
    <p:sldId id="262" r:id="rId23"/>
    <p:sldId id="263" r:id="rId6"/>
    <p:sldId id="264" r:id="rId8"/>
    <p:sldId id="265" r:id="rId7"/>
    <p:sldId id="266" r:id="rId27"/>
    <p:sldId id="267" r:id="rId39"/>
    <p:sldId id="268" r:id="rId40"/>
    <p:sldId id="269" r:id="rId24"/>
    <p:sldId id="270" r:id="rId25"/>
    <p:sldId id="271" r:id="rId26"/>
    <p:sldId id="272" r:id="rId43"/>
    <p:sldId id="273" r:id="rId44"/>
    <p:sldId id="274" r:id="rId45"/>
    <p:sldId id="275" r:id="rId28"/>
    <p:sldId id="276" r:id="rId9"/>
    <p:sldId id="277" r:id="rId29"/>
    <p:sldId id="278" r:id="rId30"/>
    <p:sldId id="279" r:id="rId31"/>
    <p:sldId id="280" r:id="rId10"/>
    <p:sldId id="281" r:id="rId32"/>
    <p:sldId id="282" r:id="rId11"/>
    <p:sldId id="283" r:id="rId33"/>
    <p:sldId id="284" r:id="rId34"/>
    <p:sldId id="285" r:id="rId35"/>
    <p:sldId id="286" r:id="rId37"/>
    <p:sldId id="287" r:id="rId12"/>
    <p:sldId id="288" r:id="rId13"/>
    <p:sldId id="289" r:id="rId46"/>
    <p:sldId id="290" r:id="rId36"/>
    <p:sldId id="291" r:id="rId47"/>
    <p:sldId id="292" r:id="rId38"/>
    <p:sldId id="293" r:id="rId14"/>
    <p:sldId id="294" r:id="rId15"/>
    <p:sldId id="295" r:id="rId16"/>
    <p:sldId id="296"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8.xml"/><Relationship Id="rId7" Type="http://schemas.openxmlformats.org/officeDocument/2006/relationships/slide" Target="slides/slide10.xml"/><Relationship Id="rId8" Type="http://schemas.openxmlformats.org/officeDocument/2006/relationships/slide" Target="slides/slide9.xml"/><Relationship Id="rId9" Type="http://schemas.openxmlformats.org/officeDocument/2006/relationships/slide" Target="slides/slide21.xml"/><Relationship Id="rId10" Type="http://schemas.openxmlformats.org/officeDocument/2006/relationships/slide" Target="slides/slide25.xml"/><Relationship Id="rId11" Type="http://schemas.openxmlformats.org/officeDocument/2006/relationships/slide" Target="slides/slide27.xml"/><Relationship Id="rId12" Type="http://schemas.openxmlformats.org/officeDocument/2006/relationships/slide" Target="slides/slide32.xml"/><Relationship Id="rId13" Type="http://schemas.openxmlformats.org/officeDocument/2006/relationships/slide" Target="slides/slide33.xml"/><Relationship Id="rId14" Type="http://schemas.openxmlformats.org/officeDocument/2006/relationships/slide" Target="slides/slide38.xml"/><Relationship Id="rId15" Type="http://schemas.openxmlformats.org/officeDocument/2006/relationships/slide" Target="slides/slide39.xml"/><Relationship Id="rId16" Type="http://schemas.openxmlformats.org/officeDocument/2006/relationships/slide" Target="slides/slide40.xml"/><Relationship Id="rId17" Type="http://schemas.openxmlformats.org/officeDocument/2006/relationships/slide" Target="slides/slide41.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7.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1.xml"/><Relationship Id="rId28" Type="http://schemas.openxmlformats.org/officeDocument/2006/relationships/slide" Target="slides/slide20.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6.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5.xml"/><Relationship Id="rId37" Type="http://schemas.openxmlformats.org/officeDocument/2006/relationships/slide" Target="slides/slide31.xml"/><Relationship Id="rId38" Type="http://schemas.openxmlformats.org/officeDocument/2006/relationships/slide" Target="slides/slide37.xml"/><Relationship Id="rId39" Type="http://schemas.openxmlformats.org/officeDocument/2006/relationships/slide" Target="slides/slide12.xml"/><Relationship Id="rId40" Type="http://schemas.openxmlformats.org/officeDocument/2006/relationships/slide" Target="slides/slide13.xml"/><Relationship Id="rId41" Type="http://schemas.openxmlformats.org/officeDocument/2006/relationships/slide" Target="slides/slide3.xml"/><Relationship Id="rId42" Type="http://schemas.openxmlformats.org/officeDocument/2006/relationships/slide" Target="slides/slide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34.xml"/><Relationship Id="rId47" Type="http://schemas.openxmlformats.org/officeDocument/2006/relationships/slide" Target="slides/slide3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Actual ÷ predicted units</c:v>
                </c:pt>
              </c:strCache>
            </c:strRef>
          </c:tx>
          <c:spPr>
            <a:solidFill>
              <a:srgbClr val="2C5F2D"/>
            </a:solidFill>
            <a:effectLst/>
          </c:spPr>
          <c:invertIfNegative val="0"/>
          <c:dLbls>
            <c:numFmt formatCode="0.000" sourceLinked="0"/>
            <c:txPr>
              <a:bodyPr/>
              <a:lstStyle/>
              <a:p>
                <a:pPr>
                  <a:defRPr b="0" i="0" strike="noStrike" sz="1000" u="none">
                    <a:solidFill>
                      <a:srgbClr val="22301F"/>
                    </a:solidFill>
                    <a:latin typeface="Arial"/>
                  </a:defRPr>
                </a:pPr>
              </a:p>
            </c:txPr>
            <c:showLegendKey val="0"/>
            <c:showVal val="1"/>
            <c:showCatName val="0"/>
            <c:showSerName val="0"/>
            <c:showPercent val="0"/>
            <c:showBubbleSize val="0"/>
            <c:showLeaderLines val="0"/>
          </c:dLbls>
          <c:cat>
            <c:multiLvlStrRef>
              <c:f>Sheet1!$A$2:$A$5</c:f>
              <c:multiLvlStrCache>
                <c:ptCount val="4"/>
                <c:lvl>
                  <c:pt idx="0">
                    <c:v>Train (spring)</c:v>
                  </c:pt>
                  <c:pt idx="1">
                    <c:v>Calib (July)</c:v>
                  </c:pt>
                  <c:pt idx="2">
                    <c:v>Test (late July)</c:v>
                  </c:pt>
                  <c:pt idx="3">
                    <c:v>All history</c:v>
                  </c:pt>
                </c:lvl>
              </c:multiLvlStrCache>
            </c:multiLvlStrRef>
          </c:cat>
          <c:val>
            <c:numRef>
              <c:f>Sheet1!$B$2:$B$5</c:f>
              <c:numCache>
                <c:formatCode>General</c:formatCode>
                <c:ptCount val="4"/>
                <c:pt idx="0">
                  <c:v>1.295</c:v>
                </c:pt>
                <c:pt idx="1">
                  <c:v>1.117</c:v>
                </c:pt>
                <c:pt idx="2">
                  <c:v>1.3116</c:v>
                </c:pt>
                <c:pt idx="3">
                  <c:v>1.2714</c:v>
                </c:pt>
              </c:numCache>
            </c:numRef>
          </c:val>
        </c:ser>
        <c:dLbls>
          <c:numFmt formatCode="0.000" sourceLinked="0"/>
          <c:txPr>
            <a:bodyPr/>
            <a:lstStyle/>
            <a:p>
              <a:pPr>
                <a:defRPr b="0" i="0" strike="noStrike" sz="1000" u="none">
                  <a:solidFill>
                    <a:srgbClr val="22301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6B5C"/>
                </a:solidFill>
                <a:latin typeface="Arial"/>
              </a:defRPr>
            </a:pPr>
            <a:endParaRPr lang="en-US"/>
          </a:p>
        </c:txPr>
        <c:crossAx val="2094734552"/>
        <c:crosses val="autoZero"/>
        <c:auto val="1"/>
        <c:lblAlgn val="ctr"/>
        <c:noMultiLvlLbl val="1"/>
      </c:catAx>
      <c:valAx>
        <c:axId val="2094734552"/>
        <c:scaling>
          <c:orientation val="minMax"/>
          <c:max val="1.4"/>
          <c:min val="0.9"/>
        </c:scaling>
        <c:delete val="0"/>
        <c:axPos val="l"/>
        <c:majorGridlines>
          <c:spPr>
            <a:ln w="6350" cap="flat">
              <a:solidFill>
                <a:srgbClr val="E5EA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6B5C"/>
                </a:solidFill>
                <a:latin typeface="Arial"/>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One-hour agenda: problem and why history can't answer it (10 min), design (20), what production data showed (10), launch plan, risks, and the three decisions we need (15), Q&amp;A. The design doc is the deep reference; this deck is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money: IL is discount cost plus scrap cost. 34.6% of full-price value of what sells. The point of the slide: decisions are hourly, inventories tiny, demand sparse — this is a hard estimation environment, which sets up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question this deck has to survive: 'you have five months of data, why don't you know the elasticity?' Answer it in three sentences. Every price in that data was set by a rule — it moved with the clock and with which items were already failing. So the data tells us what the rule did, not what customers do. Separating those needs prices chosen at random, which is what we budget 1% of inventory loss to buy. Lead with the reassuring half: history drives level, seasonality, hour shape and velocity, and all of it transfers — this is not a claim that our data is bad. Exactly one quantity fails, for a structural reason. And be ready for the natural follow-up, 'so collect more history first': it does not help. The bias is in how the data was generated, so it does not shrink with sample size. Ten years of the same ramp is ten years of the same confound.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answers 'why not just fit it?' — we did, in its most defensible form, and the estimates swing 30x on a single modelling choice and pin at the search bound. The trap card is the one to dwell on: a fitted epsilon makes the REPLAY look excellent because the replay generates demand with the same epsilon it plans with. It is internally consistent with whatever number you feed it. That is also the answer if anyone proposes raising the prior until the system deepens — the replay would reward it, and the reward would be fictional. We tested -1.0 vs -1.5: identical prices, because both sit far below the 2.43 deepening bar.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Key message: the design splits the world into what history can estimate (levels, variance, correlation) and the single quantity it cannot (price response). Everything frozen is in service of attribution. If asked WHY CATEGORY AND NOT SUBCATEGORY, three answers in order of force: (1) a finer epsilon changes no price until a cell crosses the 2.43 deepening bar, and we measured that -- a -1.5 prior produced identical prices to -1.0; (2) evidence divides proportionally, so three subcategories each take ~3x the calendar to move, against a throughput that is already risk 1; (3) the bracket was rejected for all 16 categories, so every cell would start at the same -1.0 +/- 0.6 anyway -- dilution bought for nothing. It is deferred to phase 2, not dismissed, and the right form there is partial pooling (shrink each subcategory toward its category by its own precision), never a hard threshold ladder, which puts a cliff at the boundary.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uncomfortable truth stated up front: the A/B will be read on a metric the planner does not optimise, and the most likely outcome is the escalation row. That's designed, not a bug — walk through why the ratio objective is gameable.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lanes. Top: what's frozen — note the posterior on the right is the single mutable artifact. Middle: the hourly path, milliseconds per decision. Bottom: the daily batch. Emphasise the events: append-only, quarantine not drop, exactly-once by an atomic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theme: safety properties are structural. The shadow-phase exit gate requires ZERO cost-floor violations — and by construction the count can only be zero; the gate exists to prove the plumbing, not to hope.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leadership remembers one mechanism, make it this: exploration is not a percentage or a schedule — it's money, budgeted, and the randomization is what makes the learning valid. The tau number self-corrects daily against realised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deff line matters most: 0.377 correlation across 9.1 forced hours ≈ 4.07. One measured line of code separates honest convergence from premature confidence. The human gate is the MVP posture — one reviewed step per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shows the persistent level deficit (every window above 1) the calibration factor absorbs. The deeper finding is the weekly series: +-8 percent swings mean the original +-5 percent band was ~1 sigma — a coin flip. The owner reset it to ~2 sigma; the daily drift ratio in shadow/production is the real continuous guard. Each finding here was caught by a pre-committed gate or diagnostic, not by luck.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slide — let them read. Flag two numbers: deff 4.07 (why our convergence claims can be trusted) and the SE at 6× the original assumption (why the A/B duration is a real decision,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Phases 0 and 0b are complete. Shadow can start immediately after this meeting. The only red status is the A/B — blocked on the MDE decision, which is one of the three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risk 1 honestly — it's the open question. The system fails visibly (a flat posterior alert), not silently, and shadow answers the throughput question at zero pricing risk. Risks 2–3 have concrete, scheduled mitigations.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crisp: three numbers, each with a recommended value and a measurement tool behind it (bootstrap.derive_thresholds). Nothing else blocks the shadow phase — it can start the day the meeting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thesis and hand over to Q&amp;A. Likely questions: why not learn from all outcomes (feedback loops), why frozen (attribution), what if learning is too slow (shadow tells us first, levers exist), why is IL% not the objective (gameable denominator).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frame before the mechanics. This is a Markov decision process and we say so — anyone with an ML background is already forming the RL comparison, so give it to them first. Key line: the model is known except for one parameter, so exact planning plus targeted identification beats learning a policy from scratch. If pushed on 'why not RL', the taxonomy table a few slides on has the full 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 this is the credibility slide for anyone who has worked with this data. Each of the four is a defect we shipped and then found. The write-off quirk is the best story: our code reported zero scrap for every episode and looked entirely healthy. All four were caught by gates or reconciliation checks, not by luck.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is auditability, not the filter list. Anyone can drop rows; the manifest is what lets a reviewer reconstruct the population behind every number. Note the 48-hour cap is a data-defect guard, not a modelling assumption — some window values in the source run into the thousands.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scrap is defined, and scrap is half of Inventory Loss. The truncated case is the one people miss: recording it as zero would have flattered every number in this deck. One shared function is the fix — three independent implementations is how the write-off quirk stayed hidden.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this ready; don't dwell unless asked. Honest summary: this IS the RL problem class, but we have a known model and a tiny state space, so we can plan exactly and spend the whole learning budget on the one unknown. The row that matters most is Thompson sampling — the closest alternative, rejected because its exploration cost is unbounded and cannot be signed off by a budget owner.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entire planner in three lines. Emphasise two things: the action set is constructed from the cost floor rather than filtered, so unsafe prices do not exist; and the horizon comes from the window,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concrete bug that shows the class of error this design exists to catch. Nothing crashed, no gate fired, and the replay looked better as the error grew. Use it if anyone asks how we know the replay numbers are real — the answer is that we found this before quoting them.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Entry is where identification lives, so the arms are deliberately coarse. The hourly grid is fine and always contains the deeper tiers — which sets up the next slide: the planner is not restricted, it declines.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likely hostile question in the room — 'why doesn't it mark down as the deadline approaches?' — and we have a closed form for the answer. The bar is 2.429, the prior is 1.0, so enter-and-hold is correct behaviour rather than a bug. Say the consequence out loud: lower clearance and higher scrap on day one, and brief the pilot for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they remember one mechanism, make it this. Exploration is money, not a probability, and the cost of each experiment is a subtraction from numbers the planner has already computed. The budget never anneals to zero, so drift stays detectable forever.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modelling choices a statistically literate reviewer will look for. Three quarters of hours sell nothing, so keeping zeros is not a detail — it is most of the dataset. Stockouts as censored is what stops us understating elasticity exactly where exploration takes us.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engineering-discipline slide. The banking bug is worth telling: we were destroying evidence on every sub-threshold day, and the end-to-end test was asserting the buggy behaviour. Fixed by making the unconsumed batch the accumulator.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answer to 'how fast does it learn'. Two floors, and the tighter one is our own governance — the step cap and the daily human gate. That is a choice we can revisit; the evidence floor is not. Also flag distance, not just speed: the posterior has a long way to travel before the policy changes shape.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is complete. The subtle design point is that shadow outcomes are poisoned on purpose so they can never train the model — enforced by the data, not by convention. State comes from reality, so this answers the safety question, not the value question.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discipline slide worth sixty seconds. A guardrail measured on a different basis than it is evaluated on is not a guardrail. We found this in our own tool: the control-arm floor was measured unsmoothed while the monitor smooths, which would have left the scrap guardrail structurally unable to fire.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Pre-empts the power question. We measured the standard error on real blocks rather than scaling it, and the gap is large — root-T over-promises by roughly a factor of two under SKU-level clustering. Conclusion: two weeks, about 3% resolution, against a 38% measured effect.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summary slide. Don't read it — let them scan, then pick the two that matter for this audience. The price-blind demand model and the currency-denominated exploration budget are the two that are genuinely unusual.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Discipline, not omission. Each of these was considered and declined for a stated reason, and off-policy learning is queued as the first phase-2 item. If someone proposes a smarter exploration rule in the meeting, the first card is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Sets up the whole argument. The rule is legible and safe, which is why it has survived -- but it prices on the clock and never looks at demand, stock or the cost floor. Two things to land: it is the baseline the -38% is measured against, and it is the REASON history cannot identify elasticity, because it makes price a deterministic function of the hour.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plain-language product, before any mechanism. If someone leaves after one slide, this is the one. Three verbs: choose, pay to learn, update. The footer is the attribution argument -- everything else is frozen, so a change in behaviour IS learning, not drift. Do not go into the DP or tau here; both come later.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component most people assume must use price, and the one where NOT using it is the novelty. The model predicts demand at the reference discount only; its single price feature is overwritten at inference so the gradient is never queried. If it could use price it would learn the legacy clock ramp and report it as elasticity. Model owns the LEVEL, posterior owns the SLOPE -- neither is allowed the other's job.</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most-debugged part of the system: five successive gate failures, each a distinct cause. The one worth telling is the basis bug -- the factor must be solved against the CENSORED expectation, not raw mu. A true correction of 1.45 fit as 0.68 on the raw basis, the wrong side of 1, which is why calibration used to make the gate worse. Also state the rule: level may be corrected multiplicatively, slope never.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frozen numbers most audiences will not ask about, but they set how fast we are allowed to believe anything. Negative binomial because Poisson would make every update overconfident. r per subcategory because dispersion genuinely differs and the data supports it; rho as one global scalar because per-cell it would be noise. deff = 3.347 is the honesty tax: ten forced hours in one episode are worth about three independent ones.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before someone finds it in the table. The DP does not clear more -- it clears slightly less and scraps more. The entire gain is not over-discounting: 0.1285 mean discount against legacy's 0.2935. A markdown system that cuts loss by discounting LESS is the correct answer here and it is not what people expect, so lead with it rather than letting it be discovered. Also flag that both arms run under the same demand model, which is what makes the comparison honest.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not the power -- power is the next slide. Three things: randomisation is on SKU x FC because consecutive episodes of the same unit share inventory carryover; the estimator is a ratio of sums with clustered errors, never a mean of per-episode ratios; and the A/B CANNOT measure elasticity, because both arms are policies. Elasticity learning happens inside the treatment arm from forced exploration. Two mechanisms, two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4.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8.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13.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14.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1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18.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1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3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1.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22.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28.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4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41.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A1D"/>
        </a:solidFill>
      </p:bgPr>
    </p:bg>
    <p:spTree>
      <p:nvGrpSpPr>
        <p:cNvPr id="1" name=""/>
        <p:cNvGrpSpPr/>
        <p:nvPr/>
      </p:nvGrpSpPr>
      <p:grpSpPr>
        <a:xfrm>
          <a:off x="0" y="0"/>
          <a:ext cx="0" cy="0"/>
          <a:chOff x="0" y="0"/>
          <a:chExt cx="0" cy="0"/>
        </a:xfrm>
      </p:grpSpPr>
      <p:sp>
        <p:nvSpPr>
          <p:cNvPr id="2" name="Text 0"/>
          <p:cNvSpPr/>
          <p:nvPr/>
        </p:nvSpPr>
        <p:spPr>
          <a:xfrm>
            <a:off x="731520" y="822960"/>
            <a:ext cx="10058400" cy="320040"/>
          </a:xfrm>
          <a:prstGeom prst="rect">
            <a:avLst/>
          </a:prstGeom>
          <a:noFill/>
          <a:ln/>
        </p:spPr>
        <p:txBody>
          <a:bodyPr wrap="square" lIns="0" tIns="0" rIns="0" bIns="0" rtlCol="0" anchor="ctr"/>
          <a:lstStyle/>
          <a:p>
            <a:pPr indent="0" marL="0">
              <a:buNone/>
            </a:pPr>
            <a:r>
              <a:rPr lang="en-US" sz="1300" b="1" spc="300" kern="0" dirty="0">
                <a:solidFill>
                  <a:srgbClr val="97BC62"/>
                </a:solidFill>
                <a:latin typeface="Calibri" pitchFamily="34" charset="0"/>
                <a:ea typeface="Calibri" pitchFamily="34" charset="-122"/>
                <a:cs typeface="Calibri" pitchFamily="34" charset="-120"/>
              </a:rPr>
              <a:t>PRICING SYSTEMS · TECHNICAL REVIEW</a:t>
            </a:r>
            <a:endParaRPr lang="en-US" sz="1300" dirty="0"/>
          </a:p>
        </p:txBody>
      </p:sp>
      <p:sp>
        <p:nvSpPr>
          <p:cNvPr id="3" name="Text 1"/>
          <p:cNvSpPr/>
          <p:nvPr/>
        </p:nvSpPr>
        <p:spPr>
          <a:xfrm>
            <a:off x="731520" y="1371600"/>
            <a:ext cx="1069848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Perishable Markdown MVP</a:t>
            </a:r>
            <a:endParaRPr lang="en-US" sz="5400" dirty="0"/>
          </a:p>
        </p:txBody>
      </p:sp>
      <p:sp>
        <p:nvSpPr>
          <p:cNvPr id="4" name="Text 2"/>
          <p:cNvSpPr/>
          <p:nvPr/>
        </p:nvSpPr>
        <p:spPr>
          <a:xfrm>
            <a:off x="731520" y="2487168"/>
            <a:ext cx="9601200" cy="548640"/>
          </a:xfrm>
          <a:prstGeom prst="rect">
            <a:avLst/>
          </a:prstGeom>
          <a:noFill/>
          <a:ln/>
        </p:spPr>
        <p:txBody>
          <a:bodyPr wrap="square" lIns="0" tIns="0" rIns="0" bIns="0" rtlCol="0" anchor="ctr"/>
          <a:lstStyle/>
          <a:p>
            <a:pPr indent="0" marL="0">
              <a:buNone/>
            </a:pPr>
            <a:r>
              <a:rPr lang="en-US" sz="2000" dirty="0">
                <a:solidFill>
                  <a:srgbClr val="D8E6C8"/>
                </a:solidFill>
                <a:latin typeface="Calibri" pitchFamily="34" charset="0"/>
                <a:ea typeface="Calibri" pitchFamily="34" charset="-122"/>
                <a:cs typeface="Calibri" pitchFamily="34" charset="-120"/>
              </a:rPr>
              <a:t>A markdown-pricing system that learns price elasticity from its own decisions</a:t>
            </a:r>
            <a:endParaRPr lang="en-US" sz="2000" dirty="0"/>
          </a:p>
        </p:txBody>
      </p:sp>
      <p:sp>
        <p:nvSpPr>
          <p:cNvPr id="5" name="Shape 3"/>
          <p:cNvSpPr/>
          <p:nvPr/>
        </p:nvSpPr>
        <p:spPr>
          <a:xfrm>
            <a:off x="731520" y="3794760"/>
            <a:ext cx="402336" cy="402336"/>
          </a:xfrm>
          <a:prstGeom prst="ellipse">
            <a:avLst/>
          </a:prstGeom>
          <a:solidFill>
            <a:srgbClr val="2C5F2D"/>
          </a:solidFill>
          <a:ln/>
        </p:spPr>
      </p:sp>
      <p:pic>
        <p:nvPicPr>
          <p:cNvPr id="6" name="Image 0" descr="preencoded.png">    </p:cNvPr>
          <p:cNvPicPr>
            <a:picLocks noChangeAspect="1"/>
          </p:cNvPicPr>
          <p:nvPr/>
        </p:nvPicPr>
        <p:blipFill>
          <a:blip r:embed="rId1"/>
          <a:stretch>
            <a:fillRect/>
          </a:stretch>
        </p:blipFill>
        <p:spPr>
          <a:xfrm>
            <a:off x="836127" y="3899367"/>
            <a:ext cx="193121" cy="193121"/>
          </a:xfrm>
          <a:prstGeom prst="rect">
            <a:avLst/>
          </a:prstGeom>
        </p:spPr>
      </p:pic>
      <p:sp>
        <p:nvSpPr>
          <p:cNvPr id="7" name="Text 4"/>
          <p:cNvSpPr/>
          <p:nvPr/>
        </p:nvSpPr>
        <p:spPr>
          <a:xfrm>
            <a:off x="1325880" y="3776472"/>
            <a:ext cx="822960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Gate: level-at-anchor 1.0389 · band [0.90, 1.10] from measured volatility</a:t>
            </a:r>
            <a:endParaRPr lang="en-US" sz="1500" dirty="0"/>
          </a:p>
        </p:txBody>
      </p:sp>
      <p:sp>
        <p:nvSpPr>
          <p:cNvPr id="8" name="Shape 5"/>
          <p:cNvSpPr/>
          <p:nvPr/>
        </p:nvSpPr>
        <p:spPr>
          <a:xfrm>
            <a:off x="731520" y="4453128"/>
            <a:ext cx="402336" cy="402336"/>
          </a:xfrm>
          <a:prstGeom prst="ellipse">
            <a:avLst/>
          </a:prstGeom>
          <a:solidFill>
            <a:srgbClr val="2C5F2D"/>
          </a:solidFill>
          <a:ln/>
        </p:spPr>
      </p:sp>
      <p:pic>
        <p:nvPicPr>
          <p:cNvPr id="9" name="Image 1" descr="preencoded.png">    </p:cNvPr>
          <p:cNvPicPr>
            <a:picLocks noChangeAspect="1"/>
          </p:cNvPicPr>
          <p:nvPr/>
        </p:nvPicPr>
        <p:blipFill>
          <a:blip r:embed="rId2"/>
          <a:stretch>
            <a:fillRect/>
          </a:stretch>
        </p:blipFill>
        <p:spPr>
          <a:xfrm>
            <a:off x="836127" y="4557735"/>
            <a:ext cx="193121" cy="193121"/>
          </a:xfrm>
          <a:prstGeom prst="rect">
            <a:avLst/>
          </a:prstGeom>
        </p:spPr>
      </p:pic>
      <p:sp>
        <p:nvSpPr>
          <p:cNvPr id="10" name="Text 6"/>
          <p:cNvSpPr/>
          <p:nvPr/>
        </p:nvSpPr>
        <p:spPr>
          <a:xfrm>
            <a:off x="1325880" y="4434840"/>
            <a:ext cx="822960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Calibration and shadow gates PASSED — no prices applied yet</a:t>
            </a:r>
            <a:endParaRPr lang="en-US" sz="1500" dirty="0"/>
          </a:p>
        </p:txBody>
      </p:sp>
      <p:sp>
        <p:nvSpPr>
          <p:cNvPr id="11" name="Shape 7"/>
          <p:cNvSpPr/>
          <p:nvPr/>
        </p:nvSpPr>
        <p:spPr>
          <a:xfrm>
            <a:off x="731520" y="5111496"/>
            <a:ext cx="402336" cy="402336"/>
          </a:xfrm>
          <a:prstGeom prst="ellipse">
            <a:avLst/>
          </a:prstGeom>
          <a:solidFill>
            <a:srgbClr val="2C5F2D"/>
          </a:solidFill>
          <a:ln/>
        </p:spPr>
      </p:sp>
      <p:pic>
        <p:nvPicPr>
          <p:cNvPr id="12" name="Image 2" descr="preencoded.png">    </p:cNvPr>
          <p:cNvPicPr>
            <a:picLocks noChangeAspect="1"/>
          </p:cNvPicPr>
          <p:nvPr/>
        </p:nvPicPr>
        <p:blipFill>
          <a:blip r:embed="rId3"/>
          <a:stretch>
            <a:fillRect/>
          </a:stretch>
        </p:blipFill>
        <p:spPr>
          <a:xfrm>
            <a:off x="836127" y="5216103"/>
            <a:ext cx="193121" cy="193121"/>
          </a:xfrm>
          <a:prstGeom prst="rect">
            <a:avLst/>
          </a:prstGeom>
        </p:spPr>
      </p:pic>
      <p:sp>
        <p:nvSpPr>
          <p:cNvPr id="13" name="Text 8"/>
          <p:cNvSpPr/>
          <p:nvPr/>
        </p:nvSpPr>
        <p:spPr>
          <a:xfrm>
            <a:off x="1325880" y="5093208"/>
            <a:ext cx="822960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47 automated tests · full pipeline on production data</a:t>
            </a:r>
            <a:endParaRPr lang="en-US" sz="1500" dirty="0"/>
          </a:p>
        </p:txBody>
      </p:sp>
      <p:sp>
        <p:nvSpPr>
          <p:cNvPr id="14" name="Text 9"/>
          <p:cNvSpPr/>
          <p:nvPr/>
        </p:nvSpPr>
        <p:spPr>
          <a:xfrm>
            <a:off x="731520" y="6172200"/>
            <a:ext cx="10058400" cy="320040"/>
          </a:xfrm>
          <a:prstGeom prst="rect">
            <a:avLst/>
          </a:prstGeom>
          <a:noFill/>
          <a:ln/>
        </p:spPr>
        <p:txBody>
          <a:bodyPr wrap="square" lIns="0" tIns="0" rIns="0" bIns="0" rtlCol="0" anchor="ctr"/>
          <a:lstStyle/>
          <a:p>
            <a:pPr indent="0" marL="0">
              <a:buNone/>
            </a:pPr>
            <a:r>
              <a:rPr lang="en-US" sz="1100" dirty="0">
                <a:solidFill>
                  <a:srgbClr val="8FA483"/>
                </a:solidFill>
                <a:latin typeface="Calibri" pitchFamily="34" charset="0"/>
                <a:ea typeface="Calibri" pitchFamily="34" charset="-122"/>
                <a:cs typeface="Calibri" pitchFamily="34" charset="-120"/>
              </a:rPr>
              <a:t>Accompanies the standalone design document (docs/design.md) · 2026-08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PROBLEM</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Ten hours to sell it, or scrap it at cost</a:t>
            </a:r>
            <a:endParaRPr lang="en-US" sz="2900" dirty="0"/>
          </a:p>
        </p:txBody>
      </p:sp>
      <p:sp>
        <p:nvSpPr>
          <p:cNvPr id="6" name="Text 4"/>
          <p:cNvSpPr/>
          <p:nvPr/>
        </p:nvSpPr>
        <p:spPr>
          <a:xfrm>
            <a:off x="548640" y="1600200"/>
            <a:ext cx="5852160" cy="4206240"/>
          </a:xfrm>
          <a:prstGeom prst="rect">
            <a:avLst/>
          </a:prstGeom>
          <a:noFill/>
          <a:ln/>
        </p:spPr>
        <p:txBody>
          <a:bodyPr wrap="square" lIns="0" tIns="0" rIns="0" bIns="0" rtlCol="0" anchor="t"/>
          <a:lstStyle/>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Every perishable SKU × fulfilment centre gets one final selling window — an “episode” of contiguous hours with a median starting inventory of just 2 units. Windows are not a trading day: they routinely run past midnight and 36-hour windows are common.</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Each hour a discount is chosen. Whatever is unsold at window end is scrapped at cost.</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Price too shallow → scrap dominates. Too deep → margin given away on units that would have sold anyway.</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The legacy policy ignores demand entirely: enter at a fixed reference discount, deepen ~1pp per hour on the clock, to a cap.</a:t>
            </a:r>
            <a:endParaRPr lang="en-US" sz="1400" dirty="0"/>
          </a:p>
        </p:txBody>
      </p:sp>
      <p:sp>
        <p:nvSpPr>
          <p:cNvPr id="7" name="Shape 5"/>
          <p:cNvSpPr/>
          <p:nvPr/>
        </p:nvSpPr>
        <p:spPr>
          <a:xfrm>
            <a:off x="6720840" y="169164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8" name="Text 6"/>
          <p:cNvSpPr/>
          <p:nvPr/>
        </p:nvSpPr>
        <p:spPr>
          <a:xfrm>
            <a:off x="6922008" y="1856232"/>
            <a:ext cx="2103120" cy="594360"/>
          </a:xfrm>
          <a:prstGeom prst="rect">
            <a:avLst/>
          </a:prstGeom>
          <a:noFill/>
          <a:ln/>
        </p:spPr>
        <p:txBody>
          <a:bodyPr wrap="square" lIns="0" tIns="0" rIns="0" bIns="0" rtlCol="0" anchor="ctr"/>
          <a:lstStyle/>
          <a:p>
            <a:pPr indent="0" marL="0">
              <a:buNone/>
            </a:pPr>
            <a:r>
              <a:rPr lang="en-US" sz="3400" b="1" dirty="0">
                <a:solidFill>
                  <a:srgbClr val="B3402A"/>
                </a:solidFill>
                <a:latin typeface="Cambria" pitchFamily="34" charset="0"/>
                <a:ea typeface="Cambria" pitchFamily="34" charset="-122"/>
                <a:cs typeface="Cambria" pitchFamily="34" charset="-120"/>
              </a:rPr>
              <a:t>36.7%</a:t>
            </a:r>
            <a:endParaRPr lang="en-US" sz="3400" dirty="0"/>
          </a:p>
        </p:txBody>
      </p:sp>
      <p:sp>
        <p:nvSpPr>
          <p:cNvPr id="9" name="Text 7"/>
          <p:cNvSpPr/>
          <p:nvPr/>
        </p:nvSpPr>
        <p:spPr>
          <a:xfrm>
            <a:off x="6922008" y="247802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Inventory Loss as a share of full-price sales value, on a 2,000-episode replay</a:t>
            </a:r>
            <a:endParaRPr lang="en-US" sz="1050" dirty="0"/>
          </a:p>
        </p:txBody>
      </p:sp>
      <p:sp>
        <p:nvSpPr>
          <p:cNvPr id="10" name="Shape 8"/>
          <p:cNvSpPr/>
          <p:nvPr/>
        </p:nvSpPr>
        <p:spPr>
          <a:xfrm>
            <a:off x="9326880" y="169164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9528048" y="185623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93%</a:t>
            </a:r>
            <a:endParaRPr lang="en-US" sz="3400" dirty="0"/>
          </a:p>
        </p:txBody>
      </p:sp>
      <p:sp>
        <p:nvSpPr>
          <p:cNvPr id="12" name="Text 10"/>
          <p:cNvSpPr/>
          <p:nvPr/>
        </p:nvSpPr>
        <p:spPr>
          <a:xfrm>
            <a:off x="9528048" y="247802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clearance under legacy — the bar the system must not break</a:t>
            </a:r>
            <a:endParaRPr lang="en-US" sz="1050" dirty="0"/>
          </a:p>
        </p:txBody>
      </p:sp>
      <p:sp>
        <p:nvSpPr>
          <p:cNvPr id="13" name="Shape 11"/>
          <p:cNvSpPr/>
          <p:nvPr/>
        </p:nvSpPr>
        <p:spPr>
          <a:xfrm>
            <a:off x="6720840" y="365760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14" name="Text 12"/>
          <p:cNvSpPr/>
          <p:nvPr/>
        </p:nvSpPr>
        <p:spPr>
          <a:xfrm>
            <a:off x="6922008" y="382219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76%</a:t>
            </a:r>
            <a:endParaRPr lang="en-US" sz="3400" dirty="0"/>
          </a:p>
        </p:txBody>
      </p:sp>
      <p:sp>
        <p:nvSpPr>
          <p:cNvPr id="15" name="Text 13"/>
          <p:cNvSpPr/>
          <p:nvPr/>
        </p:nvSpPr>
        <p:spPr>
          <a:xfrm>
            <a:off x="6922008" y="444398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of selling hours record zero sales — demand is sparse and noisy</a:t>
            </a:r>
            <a:endParaRPr lang="en-US" sz="1050" dirty="0"/>
          </a:p>
        </p:txBody>
      </p:sp>
      <p:sp>
        <p:nvSpPr>
          <p:cNvPr id="16" name="Shape 14"/>
          <p:cNvSpPr/>
          <p:nvPr/>
        </p:nvSpPr>
        <p:spPr>
          <a:xfrm>
            <a:off x="9326880" y="365760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17" name="Text 15"/>
          <p:cNvSpPr/>
          <p:nvPr/>
        </p:nvSpPr>
        <p:spPr>
          <a:xfrm>
            <a:off x="9528048" y="382219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₩17.1M</a:t>
            </a:r>
            <a:endParaRPr lang="en-US" sz="3400" dirty="0"/>
          </a:p>
        </p:txBody>
      </p:sp>
      <p:sp>
        <p:nvSpPr>
          <p:cNvPr id="18" name="Text 16"/>
          <p:cNvSpPr/>
          <p:nvPr/>
        </p:nvSpPr>
        <p:spPr>
          <a:xfrm>
            <a:off x="9528048" y="444398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IL on that same 2,000-episode sample — 334k episodes in the full window</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POLICY TODAY</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A rule that prices by the clock, not by demand</a:t>
            </a:r>
            <a:endParaRPr lang="en-US" sz="2900" dirty="0"/>
          </a:p>
        </p:txBody>
      </p:sp>
      <p:sp>
        <p:nvSpPr>
          <p:cNvPr id="6" name="Shape 4"/>
          <p:cNvSpPr/>
          <p:nvPr/>
        </p:nvSpPr>
        <p:spPr>
          <a:xfrm>
            <a:off x="548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20240"/>
            <a:ext cx="502920" cy="502920"/>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99439" y="2050999"/>
            <a:ext cx="241402" cy="241402"/>
          </a:xfrm>
          <a:prstGeom prst="rect">
            <a:avLst/>
          </a:prstGeom>
        </p:spPr>
      </p:pic>
      <p:sp>
        <p:nvSpPr>
          <p:cNvPr id="9" name="Text 6"/>
          <p:cNvSpPr/>
          <p:nvPr/>
        </p:nvSpPr>
        <p:spPr>
          <a:xfrm>
            <a:off x="1554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What it does</a:t>
            </a:r>
            <a:endParaRPr lang="en-US" sz="1700" dirty="0"/>
          </a:p>
        </p:txBody>
      </p:sp>
      <p:sp>
        <p:nvSpPr>
          <p:cNvPr id="10" name="Text 7"/>
          <p:cNvSpPr/>
          <p:nvPr/>
        </p:nvSpPr>
        <p:spPr>
          <a:xfrm>
            <a:off x="868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Enter every episode at a fixed reference discount, set per category.</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Deepen roughly one percentage point per hour, every hour, to a cap.</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Hold at the cap until the window closes, then scrap whatever is left.</a:t>
            </a:r>
            <a:endParaRPr lang="en-US" sz="1250" dirty="0"/>
          </a:p>
        </p:txBody>
      </p:sp>
      <p:sp>
        <p:nvSpPr>
          <p:cNvPr id="11" name="Shape 8"/>
          <p:cNvSpPr/>
          <p:nvPr/>
        </p:nvSpPr>
        <p:spPr>
          <a:xfrm>
            <a:off x="6263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583680" y="1920240"/>
            <a:ext cx="502920" cy="50292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714439" y="2050999"/>
            <a:ext cx="241402" cy="241402"/>
          </a:xfrm>
          <a:prstGeom prst="rect">
            <a:avLst/>
          </a:prstGeom>
        </p:spPr>
      </p:pic>
      <p:sp>
        <p:nvSpPr>
          <p:cNvPr id="14" name="Text 10"/>
          <p:cNvSpPr/>
          <p:nvPr/>
        </p:nvSpPr>
        <p:spPr>
          <a:xfrm>
            <a:off x="7269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What it never looks at</a:t>
            </a:r>
            <a:endParaRPr lang="en-US" sz="1700" dirty="0"/>
          </a:p>
        </p:txBody>
      </p:sp>
      <p:sp>
        <p:nvSpPr>
          <p:cNvPr id="15" name="Text 11"/>
          <p:cNvSpPr/>
          <p:nvPr/>
        </p:nvSpPr>
        <p:spPr>
          <a:xfrm>
            <a:off x="6583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How much stock is on the shelf, or how fast it is moving.</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How many hours the window actually has left.</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Whether the price it is charging has fallen below cost.</a:t>
            </a:r>
            <a:endParaRPr lang="en-US" sz="1250" dirty="0"/>
          </a:p>
        </p:txBody>
      </p:sp>
      <p:sp>
        <p:nvSpPr>
          <p:cNvPr id="16" name="Text 12"/>
          <p:cNvSpPr/>
          <p:nvPr/>
        </p:nvSpPr>
        <p:spPr>
          <a:xfrm>
            <a:off x="548640" y="5257800"/>
            <a:ext cx="11155680" cy="822960"/>
          </a:xfrm>
          <a:prstGeom prst="rect">
            <a:avLst/>
          </a:prstGeom>
          <a:noFill/>
          <a:ln/>
        </p:spPr>
        <p:txBody>
          <a:bodyPr wrap="square" lIns="0" tIns="0" rIns="0" bIns="0" rtlCol="0" anchor="ctr"/>
          <a:lstStyle/>
          <a:p>
            <a:pPr indent="0" marL="0">
              <a:buNone/>
            </a:pPr>
            <a:r>
              <a:rPr lang="en-US" sz="1500" b="1" dirty="0">
                <a:solidFill>
                  <a:srgbClr val="B3402A"/>
                </a:solidFill>
                <a:latin typeface="Calibri" pitchFamily="34" charset="0"/>
                <a:ea typeface="Calibri" pitchFamily="34" charset="-122"/>
                <a:cs typeface="Calibri" pitchFamily="34" charset="-120"/>
              </a:rPr>
              <a:t>Legible and safe — and demand-blind:  </a:t>
            </a:r>
            <a:pPr indent="0" marL="0">
              <a:buNone/>
            </a:pPr>
            <a:r>
              <a:rPr lang="en-US" sz="1500" dirty="0">
                <a:solidFill>
                  <a:srgbClr val="22301F"/>
                </a:solidFill>
                <a:latin typeface="Calibri" pitchFamily="34" charset="0"/>
                <a:ea typeface="Calibri" pitchFamily="34" charset="-122"/>
                <a:cs typeface="Calibri" pitchFamily="34" charset="-120"/>
              </a:rPr>
              <a:t>it is also the reason price and hour are the same variable in five months of history, which is the constraint the next two slides are about. Measured result: 36.7% of full-price sales value lost, at 93% clearance.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4</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CORE DIFFICULTY</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History predicts demand. It cannot identify price response.</a:t>
            </a:r>
            <a:endParaRPr lang="en-US" sz="2900" dirty="0"/>
          </a:p>
        </p:txBody>
      </p:sp>
      <p:sp>
        <p:nvSpPr>
          <p:cNvPr id="6" name="Shape 4"/>
          <p:cNvSpPr/>
          <p:nvPr/>
        </p:nvSpPr>
        <p:spPr>
          <a:xfrm>
            <a:off x="548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20240"/>
            <a:ext cx="502920" cy="502920"/>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99439" y="2050999"/>
            <a:ext cx="241402" cy="241402"/>
          </a:xfrm>
          <a:prstGeom prst="rect">
            <a:avLst/>
          </a:prstGeom>
        </p:spPr>
      </p:pic>
      <p:sp>
        <p:nvSpPr>
          <p:cNvPr id="9" name="Text 6"/>
          <p:cNvSpPr/>
          <p:nvPr/>
        </p:nvSpPr>
        <p:spPr>
          <a:xfrm>
            <a:off x="1554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Confound 1 — the clock</a:t>
            </a:r>
            <a:endParaRPr lang="en-US" sz="1700" dirty="0"/>
          </a:p>
        </p:txBody>
      </p:sp>
      <p:sp>
        <p:nvSpPr>
          <p:cNvPr id="10" name="Text 7"/>
          <p:cNvSpPr/>
          <p:nvPr/>
        </p:nvSpPr>
        <p:spPr>
          <a:xfrm>
            <a:off x="868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Legacy deepens the discount exactly as the evening demand peak arrives.</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Within an episode, price and hour move in lock-step (correlation ≈ 0.8).</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Evening lift and discount lift are statistically indistinguishable.</a:t>
            </a:r>
            <a:endParaRPr lang="en-US" sz="1250" dirty="0"/>
          </a:p>
        </p:txBody>
      </p:sp>
      <p:sp>
        <p:nvSpPr>
          <p:cNvPr id="11" name="Shape 8"/>
          <p:cNvSpPr/>
          <p:nvPr/>
        </p:nvSpPr>
        <p:spPr>
          <a:xfrm>
            <a:off x="6263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583680" y="1920240"/>
            <a:ext cx="502920" cy="50292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714439" y="2050999"/>
            <a:ext cx="241402" cy="241402"/>
          </a:xfrm>
          <a:prstGeom prst="rect">
            <a:avLst/>
          </a:prstGeom>
        </p:spPr>
      </p:pic>
      <p:sp>
        <p:nvSpPr>
          <p:cNvPr id="14" name="Text 10"/>
          <p:cNvSpPr/>
          <p:nvPr/>
        </p:nvSpPr>
        <p:spPr>
          <a:xfrm>
            <a:off x="7269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Confound 2 — survivorship</a:t>
            </a:r>
            <a:endParaRPr lang="en-US" sz="1700" dirty="0"/>
          </a:p>
        </p:txBody>
      </p:sp>
      <p:sp>
        <p:nvSpPr>
          <p:cNvPr id="15" name="Text 11"/>
          <p:cNvSpPr/>
          <p:nvPr/>
        </p:nvSpPr>
        <p:spPr>
          <a:xfrm>
            <a:off x="6583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A row at a deep discount exists only because earlier hours failed to sell.</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Deep-discount observations are adversely selected toward low-demand episodes.</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Fit on all rows and every category reads “discounts don’t help” — we observed all 16 categories pinned at the zero boundary until this was fixed.</a:t>
            </a:r>
            <a:endParaRPr lang="en-US" sz="1250" dirty="0"/>
          </a:p>
        </p:txBody>
      </p:sp>
      <p:sp>
        <p:nvSpPr>
          <p:cNvPr id="16" name="Text 12"/>
          <p:cNvSpPr/>
          <p:nvPr/>
        </p:nvSpPr>
        <p:spPr>
          <a:xfrm>
            <a:off x="548640" y="5257800"/>
            <a:ext cx="11155680" cy="822960"/>
          </a:xfrm>
          <a:prstGeom prst="rect">
            <a:avLst/>
          </a:prstGeom>
          <a:noFill/>
          <a:ln/>
        </p:spPr>
        <p:txBody>
          <a:bodyPr wrap="square" lIns="0" tIns="0" rIns="0" bIns="0" rtlCol="0" anchor="ctr"/>
          <a:lstStyle/>
          <a:p>
            <a:pPr indent="0" marL="0">
              <a:buNone/>
            </a:pPr>
            <a:r>
              <a:rPr lang="en-US" sz="1500" b="1" dirty="0">
                <a:solidFill>
                  <a:srgbClr val="B3402A"/>
                </a:solidFill>
                <a:latin typeface="Calibri" pitchFamily="34" charset="0"/>
                <a:ea typeface="Calibri" pitchFamily="34" charset="-122"/>
                <a:cs typeface="Calibri" pitchFamily="34" charset="-120"/>
              </a:rPr>
              <a:t>Why history works for everything else:  </a:t>
            </a:r>
            <a:pPr indent="0" marL="0">
              <a:buNone/>
            </a:pPr>
            <a:r>
              <a:rPr lang="en-US" sz="1500" dirty="0">
                <a:solidFill>
                  <a:srgbClr val="22301F"/>
                </a:solidFill>
                <a:latin typeface="Calibri" pitchFamily="34" charset="0"/>
                <a:ea typeface="Calibri" pitchFamily="34" charset="-122"/>
                <a:cs typeface="Calibri" pitchFamily="34" charset="-120"/>
              </a:rPr>
              <a:t>the frozen model takes level, seasonality, hour shape and SKU velocity from history, and all of it transfers. Only the price SLOPE does not, because price was never varied independently of the clock or of which items were already failing. More history cannot fix that — ten years of the same ramp is ten years of the same confound. Only randomised prices can.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5</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OBVIOUS SHORTCUT</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Why we don’t fit ε to history — we tried, and it told us not to</a:t>
            </a:r>
            <a:endParaRPr lang="en-US" sz="2900" dirty="0"/>
          </a:p>
        </p:txBody>
      </p:sp>
      <p:sp>
        <p:nvSpPr>
          <p:cNvPr id="6" name="Text 4"/>
          <p:cNvSpPr/>
          <p:nvPr/>
        </p:nvSpPr>
        <p:spPr>
          <a:xfrm>
            <a:off x="548640" y="1691640"/>
            <a:ext cx="5760720" cy="4480560"/>
          </a:xfrm>
          <a:prstGeom prst="rect">
            <a:avLst/>
          </a:prstGeom>
          <a:noFill/>
          <a:ln/>
        </p:spPr>
        <p:txBody>
          <a:bodyPr wrap="square" lIns="0" tIns="0" rIns="0" bIns="0" rtlCol="0" anchor="t"/>
          <a:lstStyle/>
          <a:p>
            <a:pPr marL="152400" indent="-152400">
              <a:spcAft>
                <a:spcPts val="1100"/>
              </a:spcAft>
              <a:buSzPct val="100000"/>
              <a:buChar char="•"/>
            </a:pPr>
            <a:r>
              <a:rPr lang="en-US" sz="1250" dirty="0">
                <a:solidFill>
                  <a:srgbClr val="22301F"/>
                </a:solidFill>
                <a:latin typeface="Calibri" pitchFamily="34" charset="0"/>
                <a:ea typeface="Calibri" pitchFamily="34" charset="-122"/>
                <a:cs typeface="Calibri" pitchFamily="34" charset="-120"/>
              </a:rPr>
              <a:t>“Pick the ε where the model best fits history” was run in its most defensible form — proper censored likelihood, per category, on the cleanest identifying slice. That is exactly the prior procedure.</a:t>
            </a:r>
            <a:endParaRPr lang="en-US" sz="1250" dirty="0"/>
          </a:p>
          <a:p>
            <a:pPr marL="152400" indent="-152400">
              <a:spcAft>
                <a:spcPts val="1100"/>
              </a:spcAft>
              <a:buSzPct val="100000"/>
              <a:buChar char="•"/>
            </a:pPr>
            <a:r>
              <a:rPr lang="en-US" sz="1250" dirty="0">
                <a:solidFill>
                  <a:srgbClr val="22301F"/>
                </a:solidFill>
                <a:latin typeface="Calibri" pitchFamily="34" charset="0"/>
                <a:ea typeface="Calibri" pitchFamily="34" charset="-122"/>
                <a:cs typeface="Calibri" pitchFamily="34" charset="-120"/>
              </a:rPr>
              <a:t>The fitted optimum is set by whatever variation dominates the data — the clock, survivorship, weekly shocks — not by customer price response. The instability on the right is the fingerprint.</a:t>
            </a:r>
            <a:endParaRPr lang="en-US" sz="1250" dirty="0"/>
          </a:p>
          <a:p>
            <a:pPr marL="152400" indent="-152400">
              <a:spcAft>
                <a:spcPts val="1100"/>
              </a:spcAft>
              <a:buSzPct val="100000"/>
              <a:buChar char="•"/>
            </a:pPr>
            <a:r>
              <a:rPr lang="en-US" sz="1250" dirty="0">
                <a:solidFill>
                  <a:srgbClr val="22301F"/>
                </a:solidFill>
                <a:latin typeface="Calibri" pitchFamily="34" charset="0"/>
                <a:ea typeface="Calibri" pitchFamily="34" charset="-122"/>
                <a:cs typeface="Calibri" pitchFamily="34" charset="-120"/>
              </a:rPr>
              <a:t>History still contributes: honest bounds where the bracket passes its checks, and a neutral, wide, cheap-to-correct cold start (−1.0 ± 0.6) where it doesn’t.</a:t>
            </a:r>
            <a:endParaRPr lang="en-US" sz="1250" dirty="0"/>
          </a:p>
          <a:p>
            <a:pPr marL="152400" indent="-152400">
              <a:spcAft>
                <a:spcPts val="1100"/>
              </a:spcAft>
              <a:buSzPct val="100000"/>
              <a:buChar char="•"/>
            </a:pPr>
            <a:r>
              <a:rPr lang="en-US" sz="1250" dirty="0">
                <a:solidFill>
                  <a:srgbClr val="22301F"/>
                </a:solidFill>
                <a:latin typeface="Calibri" pitchFamily="34" charset="0"/>
                <a:ea typeface="Calibri" pitchFamily="34" charset="-122"/>
                <a:cs typeface="Calibri" pitchFamily="34" charset="-120"/>
              </a:rPr>
              <a:t>The wide start holds the exploration budget at full scale, and the first weeks of the pilot ARE the ε fit — on randomized data, where the optimum means price response. One day of randomised prices identifies ε better than five months of history, because it is the only data in which price was not set by a rule. Cost: capped at 1% of IL per day.</a:t>
            </a:r>
            <a:endParaRPr lang="en-US" sz="1250" dirty="0"/>
          </a:p>
        </p:txBody>
      </p:sp>
      <p:sp>
        <p:nvSpPr>
          <p:cNvPr id="7" name="Shape 5"/>
          <p:cNvSpPr/>
          <p:nvPr/>
        </p:nvSpPr>
        <p:spPr>
          <a:xfrm>
            <a:off x="6629400" y="1691640"/>
            <a:ext cx="4983480" cy="1371600"/>
          </a:xfrm>
          <a:prstGeom prst="roundRect">
            <a:avLst>
              <a:gd name="adj" fmla="val 6000"/>
            </a:avLst>
          </a:prstGeom>
          <a:solidFill>
            <a:srgbClr val="F6F8F2"/>
          </a:solidFill>
          <a:ln/>
          <a:effectLst>
            <a:outerShdw sx="100000" sy="100000" kx="0" ky="0" algn="bl" rotWithShape="0" blurRad="76200" dist="25400" dir="5400000">
              <a:srgbClr val="3A4A36">
                <a:alpha val="18000"/>
              </a:srgbClr>
            </a:outerShdw>
          </a:effectLst>
        </p:spPr>
      </p:sp>
      <p:sp>
        <p:nvSpPr>
          <p:cNvPr id="8" name="Text 6"/>
          <p:cNvSpPr/>
          <p:nvPr/>
        </p:nvSpPr>
        <p:spPr>
          <a:xfrm>
            <a:off x="6858000" y="1828800"/>
            <a:ext cx="4572000" cy="502920"/>
          </a:xfrm>
          <a:prstGeom prst="rect">
            <a:avLst/>
          </a:prstGeom>
          <a:noFill/>
          <a:ln/>
        </p:spPr>
        <p:txBody>
          <a:bodyPr wrap="square" lIns="0" tIns="0" rIns="0" bIns="0" rtlCol="0" anchor="ctr"/>
          <a:lstStyle/>
          <a:p>
            <a:pPr indent="0" marL="0">
              <a:buNone/>
            </a:pPr>
            <a:r>
              <a:rPr lang="en-US" sz="2600" b="1" dirty="0">
                <a:solidFill>
                  <a:srgbClr val="B3402A"/>
                </a:solidFill>
                <a:latin typeface="Cambria" pitchFamily="34" charset="0"/>
                <a:ea typeface="Cambria" pitchFamily="34" charset="-122"/>
                <a:cs typeface="Cambria" pitchFamily="34" charset="-120"/>
              </a:rPr>
              <a:t>−0.10  vs  −3.05</a:t>
            </a:r>
            <a:endParaRPr lang="en-US" sz="2600" dirty="0"/>
          </a:p>
        </p:txBody>
      </p:sp>
      <p:sp>
        <p:nvSpPr>
          <p:cNvPr id="9" name="Text 7"/>
          <p:cNvSpPr/>
          <p:nvPr/>
        </p:nvSpPr>
        <p:spPr>
          <a:xfrm>
            <a:off x="6858000" y="2331720"/>
            <a:ext cx="4572000" cy="6400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One category’s best-fit ε under two equally defensible specifications — 30× apart on a single modelling choice.</a:t>
            </a:r>
            <a:endParaRPr lang="en-US" sz="1100" dirty="0"/>
          </a:p>
        </p:txBody>
      </p:sp>
      <p:sp>
        <p:nvSpPr>
          <p:cNvPr id="10" name="Shape 8"/>
          <p:cNvSpPr/>
          <p:nvPr/>
        </p:nvSpPr>
        <p:spPr>
          <a:xfrm>
            <a:off x="6629400" y="3200400"/>
            <a:ext cx="4983480" cy="1234440"/>
          </a:xfrm>
          <a:prstGeom prst="roundRect">
            <a:avLst>
              <a:gd name="adj" fmla="val 6667"/>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6858000" y="3319272"/>
            <a:ext cx="4572000" cy="365760"/>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Pinned at the search bound</a:t>
            </a:r>
            <a:endParaRPr lang="en-US" sz="1500" dirty="0"/>
          </a:p>
        </p:txBody>
      </p:sp>
      <p:sp>
        <p:nvSpPr>
          <p:cNvPr id="12" name="Text 10"/>
          <p:cNvSpPr/>
          <p:nvPr/>
        </p:nvSpPr>
        <p:spPr>
          <a:xfrm>
            <a:off x="6858000" y="3685032"/>
            <a:ext cx="4572000" cy="6400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Another category’s “estimate” sat at the edge of the search grid — an optimiser reporting its cage, not the customer.</a:t>
            </a:r>
            <a:endParaRPr lang="en-US" sz="1100" dirty="0"/>
          </a:p>
        </p:txBody>
      </p:sp>
      <p:sp>
        <p:nvSpPr>
          <p:cNvPr id="13" name="Shape 11"/>
          <p:cNvSpPr/>
          <p:nvPr/>
        </p:nvSpPr>
        <p:spPr>
          <a:xfrm>
            <a:off x="6629400" y="4572000"/>
            <a:ext cx="4983480" cy="1508760"/>
          </a:xfrm>
          <a:prstGeom prst="roundRect">
            <a:avLst>
              <a:gd name="adj" fmla="val 5455"/>
            </a:avLst>
          </a:prstGeom>
          <a:solidFill>
            <a:srgbClr val="EEF4E4"/>
          </a:solidFill>
          <a:ln/>
          <a:effectLst>
            <a:outerShdw sx="100000" sy="100000" kx="0" ky="0" algn="bl" rotWithShape="0" blurRad="76200" dist="25400" dir="5400000">
              <a:srgbClr val="3A4A36">
                <a:alpha val="18000"/>
              </a:srgbClr>
            </a:outerShdw>
          </a:effectLst>
        </p:spPr>
      </p:sp>
      <p:sp>
        <p:nvSpPr>
          <p:cNvPr id="14" name="Text 12"/>
          <p:cNvSpPr/>
          <p:nvPr/>
        </p:nvSpPr>
        <p:spPr>
          <a:xfrm>
            <a:off x="6858000" y="4690872"/>
            <a:ext cx="4572000" cy="365760"/>
          </a:xfrm>
          <a:prstGeom prst="rect">
            <a:avLst/>
          </a:prstGeom>
          <a:noFill/>
          <a:ln/>
        </p:spPr>
        <p:txBody>
          <a:bodyPr wrap="square" lIns="0" tIns="0" rIns="0" bIns="0" rtlCol="0" anchor="ctr"/>
          <a:lstStyle/>
          <a:p>
            <a:pPr indent="0" marL="0">
              <a:buNone/>
            </a:pPr>
            <a:r>
              <a:rPr lang="en-US" sz="1500" b="1" dirty="0">
                <a:solidFill>
                  <a:srgbClr val="B3402A"/>
                </a:solidFill>
                <a:latin typeface="Cambria" pitchFamily="34" charset="0"/>
                <a:ea typeface="Cambria" pitchFamily="34" charset="-122"/>
                <a:cs typeface="Cambria" pitchFamily="34" charset="-120"/>
              </a:rPr>
              <a:t>The trap</a:t>
            </a:r>
            <a:endParaRPr lang="en-US" sz="1500" dirty="0"/>
          </a:p>
        </p:txBody>
      </p:sp>
      <p:sp>
        <p:nvSpPr>
          <p:cNvPr id="15" name="Text 13"/>
          <p:cNvSpPr/>
          <p:nvPr/>
        </p:nvSpPr>
        <p:spPr>
          <a:xfrm>
            <a:off x="6858000" y="5056632"/>
            <a:ext cx="4572000" cy="96012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A fitted ε makes the offline replay look excellent — it fits the residual by construction — while teaching the planner the confound: hold price, burn scrap. The dashboard smiles while the system fails.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6</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SYSTEM IN ONE SLIDE</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Price for the window ahead, and pay to learn</a:t>
            </a:r>
            <a:endParaRPr lang="en-US" sz="2900" dirty="0"/>
          </a:p>
        </p:txBody>
      </p:sp>
      <p:sp>
        <p:nvSpPr>
          <p:cNvPr id="6" name="Shape 4"/>
          <p:cNvSpPr/>
          <p:nvPr/>
        </p:nvSpPr>
        <p:spPr>
          <a:xfrm>
            <a:off x="54864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7" name="Text 5"/>
          <p:cNvSpPr/>
          <p:nvPr/>
        </p:nvSpPr>
        <p:spPr>
          <a:xfrm>
            <a:off x="77724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Every hour</a:t>
            </a:r>
            <a:endParaRPr lang="en-US" sz="1450" dirty="0"/>
          </a:p>
        </p:txBody>
      </p:sp>
      <p:sp>
        <p:nvSpPr>
          <p:cNvPr id="8" name="Text 6"/>
          <p:cNvSpPr/>
          <p:nvPr/>
        </p:nvSpPr>
        <p:spPr>
          <a:xfrm>
            <a:off x="77724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choose the price</a:t>
            </a:r>
            <a:endParaRPr lang="en-US" sz="1900" dirty="0"/>
          </a:p>
        </p:txBody>
      </p:sp>
      <p:sp>
        <p:nvSpPr>
          <p:cNvPr id="9" name="Text 7"/>
          <p:cNvSpPr/>
          <p:nvPr/>
        </p:nvSpPr>
        <p:spPr>
          <a:xfrm>
            <a:off x="77724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For each SKU × fulfilment centre, take the stock on hand and the hours left and pick the discount that minimises expected loss over the WHOLE remaining window, not just the next hour. A below-cost price is not among the options.</a:t>
            </a:r>
            <a:endParaRPr lang="en-US" sz="1050" dirty="0"/>
          </a:p>
        </p:txBody>
      </p:sp>
      <p:sp>
        <p:nvSpPr>
          <p:cNvPr id="10" name="Shape 8"/>
          <p:cNvSpPr/>
          <p:nvPr/>
        </p:nvSpPr>
        <p:spPr>
          <a:xfrm>
            <a:off x="434340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457200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Some hours</a:t>
            </a:r>
            <a:endParaRPr lang="en-US" sz="1450" dirty="0"/>
          </a:p>
        </p:txBody>
      </p:sp>
      <p:sp>
        <p:nvSpPr>
          <p:cNvPr id="12" name="Text 10"/>
          <p:cNvSpPr/>
          <p:nvPr/>
        </p:nvSpPr>
        <p:spPr>
          <a:xfrm>
            <a:off x="457200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pay to learn</a:t>
            </a:r>
            <a:endParaRPr lang="en-US" sz="1900" dirty="0"/>
          </a:p>
        </p:txBody>
      </p:sp>
      <p:sp>
        <p:nvSpPr>
          <p:cNvPr id="13" name="Text 11"/>
          <p:cNvSpPr/>
          <p:nvPr/>
        </p:nvSpPr>
        <p:spPr>
          <a:xfrm>
            <a:off x="457200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Deliberately choose a different price and record what happened. The cost of each experiment is known in won before it is made, and total spend is capped at 1% of the loss the system exists to reduce.</a:t>
            </a:r>
            <a:endParaRPr lang="en-US" sz="1050" dirty="0"/>
          </a:p>
        </p:txBody>
      </p:sp>
      <p:sp>
        <p:nvSpPr>
          <p:cNvPr id="14" name="Shape 12"/>
          <p:cNvSpPr/>
          <p:nvPr/>
        </p:nvSpPr>
        <p:spPr>
          <a:xfrm>
            <a:off x="813816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5" name="Text 13"/>
          <p:cNvSpPr/>
          <p:nvPr/>
        </p:nvSpPr>
        <p:spPr>
          <a:xfrm>
            <a:off x="836676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Every day</a:t>
            </a:r>
            <a:endParaRPr lang="en-US" sz="1450" dirty="0"/>
          </a:p>
        </p:txBody>
      </p:sp>
      <p:sp>
        <p:nvSpPr>
          <p:cNvPr id="16" name="Text 14"/>
          <p:cNvSpPr/>
          <p:nvPr/>
        </p:nvSpPr>
        <p:spPr>
          <a:xfrm>
            <a:off x="836676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update one belief</a:t>
            </a:r>
            <a:endParaRPr lang="en-US" sz="1900" dirty="0"/>
          </a:p>
        </p:txBody>
      </p:sp>
      <p:sp>
        <p:nvSpPr>
          <p:cNvPr id="17" name="Text 15"/>
          <p:cNvSpPr/>
          <p:nvPr/>
        </p:nvSpPr>
        <p:spPr>
          <a:xfrm>
            <a:off x="836676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Use ONLY those randomised outcomes to update a single number — how customers respond to price. A human approves each step, the step is bounded, and every outcome is spent exactly once.</a:t>
            </a:r>
            <a:endParaRPr lang="en-US" sz="1050" dirty="0"/>
          </a:p>
        </p:txBody>
      </p:sp>
      <p:sp>
        <p:nvSpPr>
          <p:cNvPr id="18" name="Shape 16"/>
          <p:cNvSpPr/>
          <p:nvPr/>
        </p:nvSpPr>
        <p:spPr>
          <a:xfrm>
            <a:off x="548640" y="5166360"/>
            <a:ext cx="11064240" cy="914400"/>
          </a:xfrm>
          <a:prstGeom prst="roundRect">
            <a:avLst>
              <a:gd name="adj" fmla="val 9000"/>
            </a:avLst>
          </a:prstGeom>
          <a:solidFill>
            <a:srgbClr val="EEF4E4"/>
          </a:solidFill>
          <a:ln/>
          <a:effectLst>
            <a:outerShdw sx="100000" sy="100000" kx="0" ky="0" algn="bl" rotWithShape="0" blurRad="76200" dist="25400" dir="5400000">
              <a:srgbClr val="3A4A36">
                <a:alpha val="18000"/>
              </a:srgbClr>
            </a:outerShdw>
          </a:effectLst>
        </p:spPr>
      </p:sp>
      <p:sp>
        <p:nvSpPr>
          <p:cNvPr id="19" name="Text 17"/>
          <p:cNvSpPr/>
          <p:nvPr/>
        </p:nvSpPr>
        <p:spPr>
          <a:xfrm>
            <a:off x="822960" y="5166360"/>
            <a:ext cx="10515600" cy="914400"/>
          </a:xfrm>
          <a:prstGeom prst="rect">
            <a:avLst/>
          </a:prstGeom>
          <a:noFill/>
          <a:ln/>
        </p:spPr>
        <p:txBody>
          <a:bodyPr wrap="square" lIns="0" tIns="0" rIns="0" bIns="0" rtlCol="0" anchor="ctr"/>
          <a:lstStyle/>
          <a:p>
            <a:pPr indent="0" marL="0">
              <a:buNone/>
            </a:pPr>
            <a:r>
              <a:rPr lang="en-US" sz="1250" b="1" dirty="0">
                <a:solidFill>
                  <a:srgbClr val="22301F"/>
                </a:solidFill>
                <a:latin typeface="Calibri" pitchFamily="34" charset="0"/>
                <a:ea typeface="Calibri" pitchFamily="34" charset="-122"/>
                <a:cs typeface="Calibri" pitchFamily="34" charset="-120"/>
              </a:rPr>
              <a:t>Nothing else moves:  </a:t>
            </a:r>
            <a:pPr indent="0" marL="0">
              <a:buNone/>
            </a:pPr>
            <a:r>
              <a:rPr lang="en-US" sz="1250" dirty="0">
                <a:solidFill>
                  <a:srgbClr val="22301F"/>
                </a:solidFill>
                <a:latin typeface="Calibri" pitchFamily="34" charset="0"/>
                <a:ea typeface="Calibri" pitchFamily="34" charset="-122"/>
                <a:cs typeface="Calibri" pitchFamily="34" charset="-120"/>
              </a:rPr>
              <a:t>demand levels, seasonality and variance are fit offline and frozen. The only thing that changes in production is the price-response belief — so if the system's behaviour changes, it learned something.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7</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PROBLEM CLASS</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A sequential decision problem under parameter uncertainty</a:t>
            </a:r>
            <a:endParaRPr lang="en-US" sz="2900" dirty="0"/>
          </a:p>
        </p:txBody>
      </p:sp>
      <p:sp>
        <p:nvSpPr>
          <p:cNvPr id="6" name="Shape 4"/>
          <p:cNvSpPr/>
          <p:nvPr/>
        </p:nvSpPr>
        <p:spPr>
          <a:xfrm>
            <a:off x="548640" y="1691640"/>
            <a:ext cx="5074920" cy="4206240"/>
          </a:xfrm>
          <a:prstGeom prst="roundRect">
            <a:avLst>
              <a:gd name="adj" fmla="val 1957"/>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38528"/>
            <a:ext cx="457200" cy="457200"/>
          </a:xfrm>
          <a:prstGeom prst="ellipse">
            <a:avLst/>
          </a:prstGeom>
          <a:solidFill>
            <a:srgbClr val="5F6B5C"/>
          </a:solidFill>
          <a:ln/>
        </p:spPr>
      </p:sp>
      <p:pic>
        <p:nvPicPr>
          <p:cNvPr id="8" name="Image 0" descr="preencoded.png">    </p:cNvPr>
          <p:cNvPicPr>
            <a:picLocks noChangeAspect="1"/>
          </p:cNvPicPr>
          <p:nvPr/>
        </p:nvPicPr>
        <p:blipFill>
          <a:blip r:embed="rId1"/>
          <a:stretch>
            <a:fillRect/>
          </a:stretch>
        </p:blipFill>
        <p:spPr>
          <a:xfrm>
            <a:off x="987552" y="2057400"/>
            <a:ext cx="219456" cy="219456"/>
          </a:xfrm>
          <a:prstGeom prst="rect">
            <a:avLst/>
          </a:prstGeom>
        </p:spPr>
      </p:pic>
      <p:sp>
        <p:nvSpPr>
          <p:cNvPr id="9" name="Text 6"/>
          <p:cNvSpPr/>
          <p:nvPr/>
        </p:nvSpPr>
        <p:spPr>
          <a:xfrm>
            <a:off x="1463040" y="1956816"/>
            <a:ext cx="4023360" cy="420624"/>
          </a:xfrm>
          <a:prstGeom prst="rect">
            <a:avLst/>
          </a:prstGeom>
          <a:noFill/>
          <a:ln/>
        </p:spPr>
        <p:txBody>
          <a:bodyPr wrap="square" lIns="0" tIns="0" rIns="0" bIns="0" rtlCol="0" anchor="ctr"/>
          <a:lstStyle/>
          <a:p>
            <a:pPr indent="0" marL="0">
              <a:buNone/>
            </a:pPr>
            <a:r>
              <a:rPr lang="en-US" sz="1300" b="1" dirty="0">
                <a:solidFill>
                  <a:srgbClr val="5F6B5C"/>
                </a:solidFill>
                <a:latin typeface="Calibri" pitchFamily="34" charset="0"/>
                <a:ea typeface="Calibri" pitchFamily="34" charset="-122"/>
                <a:cs typeface="Calibri" pitchFamily="34" charset="-120"/>
              </a:rPr>
              <a:t>THE MDP IS FULLY SPECIFIED</a:t>
            </a:r>
            <a:endParaRPr lang="en-US" sz="1300" dirty="0"/>
          </a:p>
        </p:txBody>
      </p:sp>
      <p:sp>
        <p:nvSpPr>
          <p:cNvPr id="10" name="Text 7"/>
          <p:cNvSpPr/>
          <p:nvPr/>
        </p:nvSpPr>
        <p:spPr>
          <a:xfrm>
            <a:off x="868680" y="2560320"/>
            <a:ext cx="4526280" cy="3108960"/>
          </a:xfrm>
          <a:prstGeom prst="rect">
            <a:avLst/>
          </a:prstGeom>
          <a:noFill/>
          <a:ln/>
        </p:spPr>
        <p:txBody>
          <a:bodyPr wrap="square" lIns="0" tIns="0" rIns="0" bIns="0" rtlCol="0" anchor="t"/>
          <a:lstStyle/>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State — units remaining, hours left in the clearance window, and the discount currently in force</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Action — one discount tier, from a feasible set rebuilt every hour from the cost floor</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Transition — units sold as E[min(D, q)] under a negative-binomial demand model</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Reward — hourly margin, with a terminal penalty of −cost × whatever is still unsold</a:t>
            </a:r>
            <a:endParaRPr lang="en-US" sz="1250" dirty="0"/>
          </a:p>
        </p:txBody>
      </p:sp>
      <p:sp>
        <p:nvSpPr>
          <p:cNvPr id="11" name="Shape 8"/>
          <p:cNvSpPr/>
          <p:nvPr/>
        </p:nvSpPr>
        <p:spPr>
          <a:xfrm>
            <a:off x="6537960" y="1691640"/>
            <a:ext cx="5074920" cy="4206240"/>
          </a:xfrm>
          <a:prstGeom prst="roundRect">
            <a:avLst>
              <a:gd name="adj" fmla="val 1957"/>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858000" y="1938528"/>
            <a:ext cx="457200" cy="45720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976872" y="2057400"/>
            <a:ext cx="219456" cy="219456"/>
          </a:xfrm>
          <a:prstGeom prst="rect">
            <a:avLst/>
          </a:prstGeom>
        </p:spPr>
      </p:pic>
      <p:sp>
        <p:nvSpPr>
          <p:cNvPr id="14" name="Text 10"/>
          <p:cNvSpPr/>
          <p:nvPr/>
        </p:nvSpPr>
        <p:spPr>
          <a:xfrm>
            <a:off x="7452360" y="1956816"/>
            <a:ext cx="4023360" cy="420624"/>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ONE PARAMETER IS UNKNOWN</a:t>
            </a:r>
            <a:endParaRPr lang="en-US" sz="1300" dirty="0"/>
          </a:p>
        </p:txBody>
      </p:sp>
      <p:sp>
        <p:nvSpPr>
          <p:cNvPr id="15" name="Text 11"/>
          <p:cNvSpPr/>
          <p:nvPr/>
        </p:nvSpPr>
        <p:spPr>
          <a:xfrm>
            <a:off x="6858000" y="2651760"/>
            <a:ext cx="1188720" cy="914400"/>
          </a:xfrm>
          <a:prstGeom prst="rect">
            <a:avLst/>
          </a:prstGeom>
          <a:noFill/>
          <a:ln/>
        </p:spPr>
        <p:txBody>
          <a:bodyPr wrap="square" lIns="0" tIns="0" rIns="0" bIns="0" rtlCol="0" anchor="ctr"/>
          <a:lstStyle/>
          <a:p>
            <a:pPr indent="0" marL="0">
              <a:buNone/>
            </a:pPr>
            <a:r>
              <a:rPr lang="en-US" sz="6000" b="1" dirty="0">
                <a:solidFill>
                  <a:srgbClr val="2C5F2D"/>
                </a:solidFill>
                <a:latin typeface="Cambria" pitchFamily="34" charset="0"/>
                <a:ea typeface="Cambria" pitchFamily="34" charset="-122"/>
                <a:cs typeface="Cambria" pitchFamily="34" charset="-120"/>
              </a:rPr>
              <a:t>ε</a:t>
            </a:r>
            <a:endParaRPr lang="en-US" sz="6000" dirty="0"/>
          </a:p>
        </p:txBody>
      </p:sp>
      <p:sp>
        <p:nvSpPr>
          <p:cNvPr id="16" name="Text 12"/>
          <p:cNvSpPr/>
          <p:nvPr/>
        </p:nvSpPr>
        <p:spPr>
          <a:xfrm>
            <a:off x="7863840" y="2743200"/>
            <a:ext cx="3657600" cy="914400"/>
          </a:xfrm>
          <a:prstGeom prst="rect">
            <a:avLst/>
          </a:prstGeom>
          <a:noFill/>
          <a:ln/>
        </p:spPr>
        <p:txBody>
          <a:bodyPr wrap="square" lIns="0" tIns="0" rIns="0" bIns="0" rtlCol="0" anchor="ctr"/>
          <a:lstStyle/>
          <a:p>
            <a:pPr indent="0" marL="0">
              <a:buNone/>
            </a:pPr>
            <a:r>
              <a:rPr lang="en-US" sz="1300" dirty="0">
                <a:solidFill>
                  <a:srgbClr val="22301F"/>
                </a:solidFill>
                <a:latin typeface="Calibri" pitchFamily="34" charset="0"/>
                <a:ea typeface="Calibri" pitchFamily="34" charset="-122"/>
                <a:cs typeface="Calibri" pitchFamily="34" charset="-120"/>
              </a:rPr>
              <a:t>The price-response exponent —</a:t>
            </a:r>
            <a:endParaRPr lang="en-US" sz="1300" dirty="0"/>
          </a:p>
          <a:p>
            <a:pPr indent="0" marL="0">
              <a:buNone/>
            </a:pPr>
            <a:r>
              <a:rPr lang="en-US" sz="1300" dirty="0">
                <a:solidFill>
                  <a:srgbClr val="22301F"/>
                </a:solidFill>
                <a:latin typeface="Calibri" pitchFamily="34" charset="0"/>
                <a:ea typeface="Calibri" pitchFamily="34" charset="-122"/>
                <a:cs typeface="Calibri" pitchFamily="34" charset="-120"/>
              </a:rPr>
              <a:t>the one thing history cannot identify</a:t>
            </a:r>
            <a:endParaRPr lang="en-US" sz="1300" dirty="0"/>
          </a:p>
        </p:txBody>
      </p:sp>
      <p:sp>
        <p:nvSpPr>
          <p:cNvPr id="17" name="Text 13"/>
          <p:cNvSpPr/>
          <p:nvPr/>
        </p:nvSpPr>
        <p:spPr>
          <a:xfrm>
            <a:off x="6858000" y="3794760"/>
            <a:ext cx="4526280" cy="1920240"/>
          </a:xfrm>
          <a:prstGeom prst="rect">
            <a:avLst/>
          </a:prstGeom>
          <a:noFill/>
          <a:ln/>
        </p:spPr>
        <p:txBody>
          <a:bodyPr wrap="square" lIns="0" tIns="0" rIns="0" bIns="0" rtlCol="0" anchor="t"/>
          <a:lstStyle/>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Reinforcement learning learns a value function or a policy because the model is unknown. Here the model is known except for ε</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So we solve the MDP exactly by backward induction, and spend the entire learning budget on the one thing that is genuinely unknown</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That is Bayes-adaptive control: plan under the posterior, randomize deliberately, update only from the randomization</a:t>
            </a:r>
            <a:endParaRPr lang="en-US" sz="1250" dirty="0"/>
          </a:p>
        </p:txBody>
      </p:sp>
      <p:sp>
        <p:nvSpPr>
          <p:cNvPr id="18" name="Text 14"/>
          <p:cNvSpPr/>
          <p:nvPr/>
        </p:nvSpPr>
        <p:spPr>
          <a:xfrm>
            <a:off x="548640" y="6035040"/>
            <a:ext cx="11155680" cy="365760"/>
          </a:xfrm>
          <a:prstGeom prst="rect">
            <a:avLst/>
          </a:prstGeom>
          <a:noFill/>
          <a:ln/>
        </p:spPr>
        <p:txBody>
          <a:bodyPr wrap="square" lIns="0" tIns="0" rIns="0" bIns="0" rtlCol="0" anchor="ctr"/>
          <a:lstStyle/>
          <a:p>
            <a:pPr indent="0" marL="0">
              <a:buNone/>
            </a:pPr>
            <a:r>
              <a:rPr lang="en-US" sz="1300" i="1" dirty="0">
                <a:solidFill>
                  <a:srgbClr val="5F6B5C"/>
                </a:solidFill>
                <a:latin typeface="Calibri" pitchFamily="34" charset="0"/>
                <a:ea typeface="Calibri" pitchFamily="34" charset="-122"/>
                <a:cs typeface="Calibri" pitchFamily="34" charset="-120"/>
              </a:rPr>
              <a:t>The hard part here is identification, not optimisation — optimisation is a short dynamic program.</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8</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DESIGN THESIS</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Freeze what history can support · learn the one thing it cannot</a:t>
            </a:r>
            <a:endParaRPr lang="en-US" sz="2900" dirty="0"/>
          </a:p>
        </p:txBody>
      </p:sp>
      <p:sp>
        <p:nvSpPr>
          <p:cNvPr id="6" name="Shape 4"/>
          <p:cNvSpPr/>
          <p:nvPr/>
        </p:nvSpPr>
        <p:spPr>
          <a:xfrm>
            <a:off x="548640" y="1691640"/>
            <a:ext cx="5074920" cy="4206240"/>
          </a:xfrm>
          <a:prstGeom prst="roundRect">
            <a:avLst>
              <a:gd name="adj" fmla="val 1957"/>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38528"/>
            <a:ext cx="457200" cy="457200"/>
          </a:xfrm>
          <a:prstGeom prst="ellipse">
            <a:avLst/>
          </a:prstGeom>
          <a:solidFill>
            <a:srgbClr val="5F6B5C"/>
          </a:solidFill>
          <a:ln/>
        </p:spPr>
      </p:sp>
      <p:pic>
        <p:nvPicPr>
          <p:cNvPr id="8" name="Image 0" descr="preencoded.png">    </p:cNvPr>
          <p:cNvPicPr>
            <a:picLocks noChangeAspect="1"/>
          </p:cNvPicPr>
          <p:nvPr/>
        </p:nvPicPr>
        <p:blipFill>
          <a:blip r:embed="rId1"/>
          <a:stretch>
            <a:fillRect/>
          </a:stretch>
        </p:blipFill>
        <p:spPr>
          <a:xfrm>
            <a:off x="987552" y="2057400"/>
            <a:ext cx="219456" cy="219456"/>
          </a:xfrm>
          <a:prstGeom prst="rect">
            <a:avLst/>
          </a:prstGeom>
        </p:spPr>
      </p:pic>
      <p:sp>
        <p:nvSpPr>
          <p:cNvPr id="9" name="Text 6"/>
          <p:cNvSpPr/>
          <p:nvPr/>
        </p:nvSpPr>
        <p:spPr>
          <a:xfrm>
            <a:off x="1463040" y="1956816"/>
            <a:ext cx="4023360" cy="420624"/>
          </a:xfrm>
          <a:prstGeom prst="rect">
            <a:avLst/>
          </a:prstGeom>
          <a:noFill/>
          <a:ln/>
        </p:spPr>
        <p:txBody>
          <a:bodyPr wrap="square" lIns="0" tIns="0" rIns="0" bIns="0" rtlCol="0" anchor="ctr"/>
          <a:lstStyle/>
          <a:p>
            <a:pPr indent="0" marL="0">
              <a:buNone/>
            </a:pPr>
            <a:r>
              <a:rPr lang="en-US" sz="1300" b="1" dirty="0">
                <a:solidFill>
                  <a:srgbClr val="5F6B5C"/>
                </a:solidFill>
                <a:latin typeface="Calibri" pitchFamily="34" charset="0"/>
                <a:ea typeface="Calibri" pitchFamily="34" charset="-122"/>
                <a:cs typeface="Calibri" pitchFamily="34" charset="-120"/>
              </a:rPr>
              <a:t>FROZEN — fit offline, unchanged all window</a:t>
            </a:r>
            <a:endParaRPr lang="en-US" sz="1300" dirty="0"/>
          </a:p>
        </p:txBody>
      </p:sp>
      <p:sp>
        <p:nvSpPr>
          <p:cNvPr id="10" name="Text 7"/>
          <p:cNvSpPr/>
          <p:nvPr/>
        </p:nvSpPr>
        <p:spPr>
          <a:xfrm>
            <a:off x="868680" y="2560320"/>
            <a:ext cx="4526280" cy="3108960"/>
          </a:xfrm>
          <a:prstGeom prst="rect">
            <a:avLst/>
          </a:prstGeom>
          <a:noFill/>
          <a:ln/>
        </p:spPr>
        <p:txBody>
          <a:bodyPr wrap="square" lIns="0" tIns="0" rIns="0" bIns="0" rtlCol="0" anchor="t"/>
          <a:lstStyle/>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Baseline demand at the reference discount (LightGBM / Tweedie) — its price gradient is never queried</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Demand variance — negative-binomial dispersion by subcategory</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Intra-episode correlation (one scalar)</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A bracketed elasticity prior — honest bounds, or a recorded wide fallback</a:t>
            </a:r>
            <a:endParaRPr lang="en-US" sz="1250" dirty="0"/>
          </a:p>
        </p:txBody>
      </p:sp>
      <p:sp>
        <p:nvSpPr>
          <p:cNvPr id="11" name="Shape 8"/>
          <p:cNvSpPr/>
          <p:nvPr/>
        </p:nvSpPr>
        <p:spPr>
          <a:xfrm>
            <a:off x="6537960" y="1691640"/>
            <a:ext cx="5074920" cy="4206240"/>
          </a:xfrm>
          <a:prstGeom prst="roundRect">
            <a:avLst>
              <a:gd name="adj" fmla="val 1957"/>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858000" y="1938528"/>
            <a:ext cx="457200" cy="45720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976872" y="2057400"/>
            <a:ext cx="219456" cy="219456"/>
          </a:xfrm>
          <a:prstGeom prst="rect">
            <a:avLst/>
          </a:prstGeom>
        </p:spPr>
      </p:pic>
      <p:sp>
        <p:nvSpPr>
          <p:cNvPr id="14" name="Text 10"/>
          <p:cNvSpPr/>
          <p:nvPr/>
        </p:nvSpPr>
        <p:spPr>
          <a:xfrm>
            <a:off x="7452360" y="1956816"/>
            <a:ext cx="4023360" cy="420624"/>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LEARNED — in production, from randomization</a:t>
            </a:r>
            <a:endParaRPr lang="en-US" sz="1300" dirty="0"/>
          </a:p>
        </p:txBody>
      </p:sp>
      <p:sp>
        <p:nvSpPr>
          <p:cNvPr id="15" name="Text 11"/>
          <p:cNvSpPr/>
          <p:nvPr/>
        </p:nvSpPr>
        <p:spPr>
          <a:xfrm>
            <a:off x="6858000" y="2651760"/>
            <a:ext cx="1188720" cy="914400"/>
          </a:xfrm>
          <a:prstGeom prst="rect">
            <a:avLst/>
          </a:prstGeom>
          <a:noFill/>
          <a:ln/>
        </p:spPr>
        <p:txBody>
          <a:bodyPr wrap="square" lIns="0" tIns="0" rIns="0" bIns="0" rtlCol="0" anchor="ctr"/>
          <a:lstStyle/>
          <a:p>
            <a:pPr indent="0" marL="0">
              <a:buNone/>
            </a:pPr>
            <a:r>
              <a:rPr lang="en-US" sz="6000" b="1" dirty="0">
                <a:solidFill>
                  <a:srgbClr val="2C5F2D"/>
                </a:solidFill>
                <a:latin typeface="Cambria" pitchFamily="34" charset="0"/>
                <a:ea typeface="Cambria" pitchFamily="34" charset="-122"/>
                <a:cs typeface="Cambria" pitchFamily="34" charset="-120"/>
              </a:rPr>
              <a:t>ε</a:t>
            </a:r>
            <a:endParaRPr lang="en-US" sz="6000" dirty="0"/>
          </a:p>
        </p:txBody>
      </p:sp>
      <p:sp>
        <p:nvSpPr>
          <p:cNvPr id="16" name="Text 12"/>
          <p:cNvSpPr/>
          <p:nvPr/>
        </p:nvSpPr>
        <p:spPr>
          <a:xfrm>
            <a:off x="7863840" y="2743200"/>
            <a:ext cx="3657600" cy="914400"/>
          </a:xfrm>
          <a:prstGeom prst="rect">
            <a:avLst/>
          </a:prstGeom>
          <a:noFill/>
          <a:ln/>
        </p:spPr>
        <p:txBody>
          <a:bodyPr wrap="square" lIns="0" tIns="0" rIns="0" bIns="0" rtlCol="0" anchor="ctr"/>
          <a:lstStyle/>
          <a:p>
            <a:pPr indent="0" marL="0">
              <a:buNone/>
            </a:pPr>
            <a:r>
              <a:rPr lang="en-US" sz="1300" dirty="0">
                <a:solidFill>
                  <a:srgbClr val="22301F"/>
                </a:solidFill>
                <a:latin typeface="Calibri" pitchFamily="34" charset="0"/>
                <a:ea typeface="Calibri" pitchFamily="34" charset="-122"/>
                <a:cs typeface="Calibri" pitchFamily="34" charset="-120"/>
              </a:rPr>
              <a:t>One elasticity exponent per category</a:t>
            </a:r>
            <a:endParaRPr lang="en-US" sz="1300" dirty="0"/>
          </a:p>
          <a:p>
            <a:pPr indent="0" marL="0">
              <a:buNone/>
            </a:pPr>
            <a:r>
              <a:rPr lang="en-US" sz="1300" dirty="0">
                <a:solidFill>
                  <a:srgbClr val="22301F"/>
                </a:solidFill>
                <a:latin typeface="Calibri" pitchFamily="34" charset="0"/>
                <a:ea typeface="Calibri" pitchFamily="34" charset="-122"/>
                <a:cs typeface="Calibri" pitchFamily="34" charset="-120"/>
              </a:rPr>
              <a:t> mu(d) = mu_ref × ((1−d)/(1−d_ref))^ε</a:t>
            </a:r>
            <a:endParaRPr lang="en-US" sz="1300" dirty="0"/>
          </a:p>
        </p:txBody>
      </p:sp>
      <p:sp>
        <p:nvSpPr>
          <p:cNvPr id="17" name="Text 13"/>
          <p:cNvSpPr/>
          <p:nvPr/>
        </p:nvSpPr>
        <p:spPr>
          <a:xfrm>
            <a:off x="6858000" y="3794760"/>
            <a:ext cx="4526280" cy="1920240"/>
          </a:xfrm>
          <a:prstGeom prst="rect">
            <a:avLst/>
          </a:prstGeom>
          <a:noFill/>
          <a:ln/>
        </p:spPr>
        <p:txBody>
          <a:bodyPr wrap="square" lIns="0" tIns="0" rIns="0" bIns="0" rtlCol="0" anchor="t"/>
          <a:lstStyle/>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Learned from uniformly-randomized price perturbations only</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Total exploration cost capped at 1% of markdown IL per day</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~10 learning cells: high-volume categories plus one pooled cell. NOT subcategory — a finer ε changes no price until a cell crosses the deepening bar (2.43), and splitting cells divides the same evidence, so finer grain would only slow the one thing that gets us there</a:t>
            </a:r>
            <a:endParaRPr lang="en-US" sz="1250" dirty="0"/>
          </a:p>
        </p:txBody>
      </p:sp>
      <p:sp>
        <p:nvSpPr>
          <p:cNvPr id="18" name="Text 14"/>
          <p:cNvSpPr/>
          <p:nvPr/>
        </p:nvSpPr>
        <p:spPr>
          <a:xfrm>
            <a:off x="548640" y="6035040"/>
            <a:ext cx="11155680" cy="365760"/>
          </a:xfrm>
          <a:prstGeom prst="rect">
            <a:avLst/>
          </a:prstGeom>
          <a:noFill/>
          <a:ln/>
        </p:spPr>
        <p:txBody>
          <a:bodyPr wrap="square" lIns="0" tIns="0" rIns="0" bIns="0" rtlCol="0" anchor="ctr"/>
          <a:lstStyle/>
          <a:p>
            <a:pPr indent="0" marL="0">
              <a:buNone/>
            </a:pPr>
            <a:r>
              <a:rPr lang="en-US" sz="1300" i="1" dirty="0">
                <a:solidFill>
                  <a:srgbClr val="5F6B5C"/>
                </a:solidFill>
                <a:latin typeface="Calibri" pitchFamily="34" charset="0"/>
                <a:ea typeface="Calibri" pitchFamily="34" charset="-122"/>
                <a:cs typeface="Calibri" pitchFamily="34" charset="-120"/>
              </a:rPr>
              <a:t>Freezing everything else makes posterior movement attributable: if beliefs change, it was learning — not drift.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9</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ARCHITECTURE</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One decision path, one learning loop, everything versioned</a:t>
            </a:r>
            <a:endParaRPr lang="en-US" sz="2900" dirty="0"/>
          </a:p>
        </p:txBody>
      </p:sp>
      <p:sp>
        <p:nvSpPr>
          <p:cNvPr id="6" name="Text 4"/>
          <p:cNvSpPr/>
          <p:nvPr/>
        </p:nvSpPr>
        <p:spPr>
          <a:xfrm>
            <a:off x="548640" y="1426464"/>
            <a:ext cx="5486400" cy="274320"/>
          </a:xfrm>
          <a:prstGeom prst="rect">
            <a:avLst/>
          </a:prstGeom>
          <a:noFill/>
          <a:ln/>
        </p:spPr>
        <p:txBody>
          <a:bodyPr wrap="square" lIns="0" tIns="0" rIns="0" bIns="0" rtlCol="0" anchor="ctr"/>
          <a:lstStyle/>
          <a:p>
            <a:pPr indent="0" marL="0">
              <a:buNone/>
            </a:pPr>
            <a:r>
              <a:rPr lang="en-US" sz="1050" b="1" spc="200" kern="0" dirty="0">
                <a:solidFill>
                  <a:srgbClr val="5F6B5C"/>
                </a:solidFill>
                <a:latin typeface="Calibri" pitchFamily="34" charset="0"/>
                <a:ea typeface="Calibri" pitchFamily="34" charset="-122"/>
                <a:cs typeface="Calibri" pitchFamily="34" charset="-120"/>
              </a:rPr>
              <a:t>FROZEN ARTIFACTS</a:t>
            </a:r>
            <a:endParaRPr lang="en-US" sz="1050" dirty="0"/>
          </a:p>
        </p:txBody>
      </p:sp>
      <p:sp>
        <p:nvSpPr>
          <p:cNvPr id="7" name="Text 5"/>
          <p:cNvSpPr/>
          <p:nvPr/>
        </p:nvSpPr>
        <p:spPr>
          <a:xfrm>
            <a:off x="548640" y="3072384"/>
            <a:ext cx="5486400" cy="274320"/>
          </a:xfrm>
          <a:prstGeom prst="rect">
            <a:avLst/>
          </a:prstGeom>
          <a:noFill/>
          <a:ln/>
        </p:spPr>
        <p:txBody>
          <a:bodyPr wrap="square" lIns="0" tIns="0" rIns="0" bIns="0" rtlCol="0" anchor="ctr"/>
          <a:lstStyle/>
          <a:p>
            <a:pPr indent="0" marL="0">
              <a:buNone/>
            </a:pPr>
            <a:r>
              <a:rPr lang="en-US" sz="1050" b="1" spc="200" kern="0" dirty="0">
                <a:solidFill>
                  <a:srgbClr val="5F6B5C"/>
                </a:solidFill>
                <a:latin typeface="Calibri" pitchFamily="34" charset="0"/>
                <a:ea typeface="Calibri" pitchFamily="34" charset="-122"/>
                <a:cs typeface="Calibri" pitchFamily="34" charset="-120"/>
              </a:rPr>
              <a:t>HOURLY DECISION PATH</a:t>
            </a:r>
            <a:endParaRPr lang="en-US" sz="1050" dirty="0"/>
          </a:p>
        </p:txBody>
      </p:sp>
      <p:sp>
        <p:nvSpPr>
          <p:cNvPr id="8" name="Text 6"/>
          <p:cNvSpPr/>
          <p:nvPr/>
        </p:nvSpPr>
        <p:spPr>
          <a:xfrm>
            <a:off x="548640" y="4672584"/>
            <a:ext cx="5486400" cy="274320"/>
          </a:xfrm>
          <a:prstGeom prst="rect">
            <a:avLst/>
          </a:prstGeom>
          <a:noFill/>
          <a:ln/>
        </p:spPr>
        <p:txBody>
          <a:bodyPr wrap="square" lIns="0" tIns="0" rIns="0" bIns="0" rtlCol="0" anchor="ctr"/>
          <a:lstStyle/>
          <a:p>
            <a:pPr indent="0" marL="0">
              <a:buNone/>
            </a:pPr>
            <a:r>
              <a:rPr lang="en-US" sz="1050" b="1" spc="200" kern="0" dirty="0">
                <a:solidFill>
                  <a:srgbClr val="5F6B5C"/>
                </a:solidFill>
                <a:latin typeface="Calibri" pitchFamily="34" charset="0"/>
                <a:ea typeface="Calibri" pitchFamily="34" charset="-122"/>
                <a:cs typeface="Calibri" pitchFamily="34" charset="-120"/>
              </a:rPr>
              <a:t>DAILY LEARNING LOOP</a:t>
            </a:r>
            <a:endParaRPr lang="en-US" sz="1050" dirty="0"/>
          </a:p>
        </p:txBody>
      </p:sp>
      <p:sp>
        <p:nvSpPr>
          <p:cNvPr id="9" name="Shape 7"/>
          <p:cNvSpPr/>
          <p:nvPr/>
        </p:nvSpPr>
        <p:spPr>
          <a:xfrm>
            <a:off x="548640" y="1737360"/>
            <a:ext cx="2286000" cy="868680"/>
          </a:xfrm>
          <a:prstGeom prst="roundRect">
            <a:avLst>
              <a:gd name="adj" fmla="val 7368"/>
            </a:avLst>
          </a:prstGeom>
          <a:solidFill>
            <a:srgbClr val="F6F8F2"/>
          </a:solidFill>
          <a:ln w="9525">
            <a:solidFill>
              <a:srgbClr val="D9E2CF"/>
            </a:solidFill>
            <a:prstDash val="solid"/>
          </a:ln>
        </p:spPr>
      </p:sp>
      <p:sp>
        <p:nvSpPr>
          <p:cNvPr id="10" name="Text 8"/>
          <p:cNvSpPr/>
          <p:nvPr/>
        </p:nvSpPr>
        <p:spPr>
          <a:xfrm>
            <a:off x="621792" y="1737360"/>
            <a:ext cx="213969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Baseline demand</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(price-blind mu_ref)</a:t>
            </a:r>
            <a:endParaRPr lang="en-US" sz="1100" dirty="0"/>
          </a:p>
        </p:txBody>
      </p:sp>
      <p:sp>
        <p:nvSpPr>
          <p:cNvPr id="11" name="Shape 9"/>
          <p:cNvSpPr/>
          <p:nvPr/>
        </p:nvSpPr>
        <p:spPr>
          <a:xfrm>
            <a:off x="3017520" y="1737360"/>
            <a:ext cx="2011680" cy="868680"/>
          </a:xfrm>
          <a:prstGeom prst="roundRect">
            <a:avLst>
              <a:gd name="adj" fmla="val 7368"/>
            </a:avLst>
          </a:prstGeom>
          <a:solidFill>
            <a:srgbClr val="F6F8F2"/>
          </a:solidFill>
          <a:ln w="9525">
            <a:solidFill>
              <a:srgbClr val="D9E2CF"/>
            </a:solidFill>
            <a:prstDash val="solid"/>
          </a:ln>
        </p:spPr>
      </p:sp>
      <p:sp>
        <p:nvSpPr>
          <p:cNvPr id="12" name="Text 10"/>
          <p:cNvSpPr/>
          <p:nvPr/>
        </p:nvSpPr>
        <p:spPr>
          <a:xfrm>
            <a:off x="3090672" y="1737360"/>
            <a:ext cx="186537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Dispersion r</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 correlation ρ</a:t>
            </a:r>
            <a:endParaRPr lang="en-US" sz="1100" dirty="0"/>
          </a:p>
        </p:txBody>
      </p:sp>
      <p:sp>
        <p:nvSpPr>
          <p:cNvPr id="13" name="Shape 11"/>
          <p:cNvSpPr/>
          <p:nvPr/>
        </p:nvSpPr>
        <p:spPr>
          <a:xfrm>
            <a:off x="5212080" y="1737360"/>
            <a:ext cx="2011680" cy="868680"/>
          </a:xfrm>
          <a:prstGeom prst="roundRect">
            <a:avLst>
              <a:gd name="adj" fmla="val 7368"/>
            </a:avLst>
          </a:prstGeom>
          <a:solidFill>
            <a:srgbClr val="F6F8F2"/>
          </a:solidFill>
          <a:ln w="9525">
            <a:solidFill>
              <a:srgbClr val="D9E2CF"/>
            </a:solidFill>
            <a:prstDash val="solid"/>
          </a:ln>
        </p:spPr>
      </p:sp>
      <p:sp>
        <p:nvSpPr>
          <p:cNvPr id="14" name="Text 12"/>
          <p:cNvSpPr/>
          <p:nvPr/>
        </p:nvSpPr>
        <p:spPr>
          <a:xfrm>
            <a:off x="5285232" y="1737360"/>
            <a:ext cx="186537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Elasticity prior</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(bracket / fallback)</a:t>
            </a:r>
            <a:endParaRPr lang="en-US" sz="1100" dirty="0"/>
          </a:p>
        </p:txBody>
      </p:sp>
      <p:sp>
        <p:nvSpPr>
          <p:cNvPr id="15" name="Shape 13"/>
          <p:cNvSpPr/>
          <p:nvPr/>
        </p:nvSpPr>
        <p:spPr>
          <a:xfrm>
            <a:off x="7406640" y="1737360"/>
            <a:ext cx="2011680" cy="868680"/>
          </a:xfrm>
          <a:prstGeom prst="roundRect">
            <a:avLst>
              <a:gd name="adj" fmla="val 7368"/>
            </a:avLst>
          </a:prstGeom>
          <a:solidFill>
            <a:srgbClr val="F6F8F2"/>
          </a:solidFill>
          <a:ln w="9525">
            <a:solidFill>
              <a:srgbClr val="D9E2CF"/>
            </a:solidFill>
            <a:prstDash val="solid"/>
          </a:ln>
        </p:spPr>
      </p:sp>
      <p:sp>
        <p:nvSpPr>
          <p:cNvPr id="16" name="Text 14"/>
          <p:cNvSpPr/>
          <p:nvPr/>
        </p:nvSpPr>
        <p:spPr>
          <a:xfrm>
            <a:off x="7479792" y="1737360"/>
            <a:ext cx="186537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Config</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(single tuning surface)</a:t>
            </a:r>
            <a:endParaRPr lang="en-US" sz="1100" dirty="0"/>
          </a:p>
        </p:txBody>
      </p:sp>
      <p:sp>
        <p:nvSpPr>
          <p:cNvPr id="17" name="Shape 15"/>
          <p:cNvSpPr/>
          <p:nvPr/>
        </p:nvSpPr>
        <p:spPr>
          <a:xfrm>
            <a:off x="9601200" y="1737360"/>
            <a:ext cx="2011680" cy="868680"/>
          </a:xfrm>
          <a:prstGeom prst="roundRect">
            <a:avLst>
              <a:gd name="adj" fmla="val 7368"/>
            </a:avLst>
          </a:prstGeom>
          <a:solidFill>
            <a:srgbClr val="EEF4E4"/>
          </a:solidFill>
          <a:ln w="9525">
            <a:solidFill>
              <a:srgbClr val="D9E2CF"/>
            </a:solidFill>
            <a:prstDash val="solid"/>
          </a:ln>
        </p:spPr>
      </p:sp>
      <p:sp>
        <p:nvSpPr>
          <p:cNvPr id="18" name="Text 16"/>
          <p:cNvSpPr/>
          <p:nvPr/>
        </p:nvSpPr>
        <p:spPr>
          <a:xfrm>
            <a:off x="9674352" y="1737360"/>
            <a:ext cx="1865376" cy="868680"/>
          </a:xfrm>
          <a:prstGeom prst="rect">
            <a:avLst/>
          </a:prstGeom>
          <a:noFill/>
          <a:ln/>
        </p:spPr>
        <p:txBody>
          <a:bodyPr wrap="square" lIns="0" tIns="0" rIns="0" bIns="0" rtlCol="0" anchor="ctr"/>
          <a:lstStyle/>
          <a:p>
            <a:pPr algn="ctr" indent="0" marL="0">
              <a:buNone/>
            </a:pPr>
            <a:r>
              <a:rPr lang="en-US" sz="1100" dirty="0">
                <a:solidFill>
                  <a:srgbClr val="2C5F2D"/>
                </a:solidFill>
                <a:latin typeface="Calibri" pitchFamily="34" charset="0"/>
                <a:ea typeface="Calibri" pitchFamily="34" charset="-122"/>
                <a:cs typeface="Calibri" pitchFamily="34" charset="-120"/>
              </a:rPr>
              <a:t>Posterior ε by cell</a:t>
            </a:r>
            <a:endParaRPr lang="en-US" sz="1100" dirty="0"/>
          </a:p>
          <a:p>
            <a:pPr algn="ctr" indent="0" marL="0">
              <a:buNone/>
            </a:pPr>
            <a:r>
              <a:rPr lang="en-US" sz="1100" dirty="0">
                <a:solidFill>
                  <a:srgbClr val="2C5F2D"/>
                </a:solidFill>
                <a:latin typeface="Calibri" pitchFamily="34" charset="0"/>
                <a:ea typeface="Calibri" pitchFamily="34" charset="-122"/>
                <a:cs typeface="Calibri" pitchFamily="34" charset="-120"/>
              </a:rPr>
              <a:t>(the ONE learner)</a:t>
            </a:r>
            <a:endParaRPr lang="en-US" sz="1100" dirty="0"/>
          </a:p>
        </p:txBody>
      </p:sp>
      <p:sp>
        <p:nvSpPr>
          <p:cNvPr id="19" name="Shape 17"/>
          <p:cNvSpPr/>
          <p:nvPr/>
        </p:nvSpPr>
        <p:spPr>
          <a:xfrm>
            <a:off x="548640" y="3383280"/>
            <a:ext cx="1691640" cy="868680"/>
          </a:xfrm>
          <a:prstGeom prst="roundRect">
            <a:avLst>
              <a:gd name="adj" fmla="val 7368"/>
            </a:avLst>
          </a:prstGeom>
          <a:solidFill>
            <a:srgbClr val="FFFFFF"/>
          </a:solidFill>
          <a:ln w="9525">
            <a:solidFill>
              <a:srgbClr val="D9E2CF"/>
            </a:solidFill>
            <a:prstDash val="solid"/>
          </a:ln>
        </p:spPr>
      </p:sp>
      <p:sp>
        <p:nvSpPr>
          <p:cNvPr id="20" name="Text 18"/>
          <p:cNvSpPr/>
          <p:nvPr/>
        </p:nvSpPr>
        <p:spPr>
          <a:xfrm>
            <a:off x="621792" y="3383280"/>
            <a:ext cx="154533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Validate state</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(reject, never guess)</a:t>
            </a:r>
            <a:endParaRPr lang="en-US" sz="1100" dirty="0"/>
          </a:p>
        </p:txBody>
      </p:sp>
      <p:sp>
        <p:nvSpPr>
          <p:cNvPr id="21" name="Shape 19"/>
          <p:cNvSpPr/>
          <p:nvPr/>
        </p:nvSpPr>
        <p:spPr>
          <a:xfrm>
            <a:off x="2286000" y="3822192"/>
            <a:ext cx="228600" cy="0"/>
          </a:xfrm>
          <a:prstGeom prst="line">
            <a:avLst/>
          </a:prstGeom>
          <a:noFill/>
          <a:ln w="19050">
            <a:solidFill>
              <a:srgbClr val="5F6B5C"/>
            </a:solidFill>
            <a:prstDash val="solid"/>
            <a:tailEnd type="triangle"/>
          </a:ln>
        </p:spPr>
      </p:sp>
      <p:sp>
        <p:nvSpPr>
          <p:cNvPr id="22" name="Shape 20"/>
          <p:cNvSpPr/>
          <p:nvPr/>
        </p:nvSpPr>
        <p:spPr>
          <a:xfrm>
            <a:off x="2514600" y="3383280"/>
            <a:ext cx="1691640" cy="868680"/>
          </a:xfrm>
          <a:prstGeom prst="roundRect">
            <a:avLst>
              <a:gd name="adj" fmla="val 7368"/>
            </a:avLst>
          </a:prstGeom>
          <a:solidFill>
            <a:srgbClr val="FFFFFF"/>
          </a:solidFill>
          <a:ln w="9525">
            <a:solidFill>
              <a:srgbClr val="D9E2CF"/>
            </a:solidFill>
            <a:prstDash val="solid"/>
          </a:ln>
        </p:spPr>
      </p:sp>
      <p:sp>
        <p:nvSpPr>
          <p:cNvPr id="23" name="Text 21"/>
          <p:cNvSpPr/>
          <p:nvPr/>
        </p:nvSpPr>
        <p:spPr>
          <a:xfrm>
            <a:off x="2587752" y="3383280"/>
            <a:ext cx="154533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Feasible tiers</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from cost floor</a:t>
            </a:r>
            <a:endParaRPr lang="en-US" sz="1100" dirty="0"/>
          </a:p>
        </p:txBody>
      </p:sp>
      <p:sp>
        <p:nvSpPr>
          <p:cNvPr id="24" name="Shape 22"/>
          <p:cNvSpPr/>
          <p:nvPr/>
        </p:nvSpPr>
        <p:spPr>
          <a:xfrm>
            <a:off x="4251960" y="3822192"/>
            <a:ext cx="228600" cy="0"/>
          </a:xfrm>
          <a:prstGeom prst="line">
            <a:avLst/>
          </a:prstGeom>
          <a:noFill/>
          <a:ln w="19050">
            <a:solidFill>
              <a:srgbClr val="5F6B5C"/>
            </a:solidFill>
            <a:prstDash val="solid"/>
            <a:tailEnd type="triangle"/>
          </a:ln>
        </p:spPr>
      </p:sp>
      <p:sp>
        <p:nvSpPr>
          <p:cNvPr id="25" name="Shape 23"/>
          <p:cNvSpPr/>
          <p:nvPr/>
        </p:nvSpPr>
        <p:spPr>
          <a:xfrm>
            <a:off x="4480560" y="3383280"/>
            <a:ext cx="1691640" cy="868680"/>
          </a:xfrm>
          <a:prstGeom prst="roundRect">
            <a:avLst>
              <a:gd name="adj" fmla="val 7368"/>
            </a:avLst>
          </a:prstGeom>
          <a:solidFill>
            <a:srgbClr val="FFFFFF"/>
          </a:solidFill>
          <a:ln w="9525">
            <a:solidFill>
              <a:srgbClr val="D9E2CF"/>
            </a:solidFill>
            <a:prstDash val="solid"/>
          </a:ln>
        </p:spPr>
      </p:sp>
      <p:sp>
        <p:nvSpPr>
          <p:cNvPr id="26" name="Text 24"/>
          <p:cNvSpPr/>
          <p:nvPr/>
        </p:nvSpPr>
        <p:spPr>
          <a:xfrm>
            <a:off x="4553712" y="3383280"/>
            <a:ext cx="154533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Exact DP</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Q(p) per tier</a:t>
            </a:r>
            <a:endParaRPr lang="en-US" sz="1100" dirty="0"/>
          </a:p>
        </p:txBody>
      </p:sp>
      <p:sp>
        <p:nvSpPr>
          <p:cNvPr id="27" name="Shape 25"/>
          <p:cNvSpPr/>
          <p:nvPr/>
        </p:nvSpPr>
        <p:spPr>
          <a:xfrm>
            <a:off x="6217920" y="3822192"/>
            <a:ext cx="228600" cy="0"/>
          </a:xfrm>
          <a:prstGeom prst="line">
            <a:avLst/>
          </a:prstGeom>
          <a:noFill/>
          <a:ln w="19050">
            <a:solidFill>
              <a:srgbClr val="5F6B5C"/>
            </a:solidFill>
            <a:prstDash val="solid"/>
            <a:tailEnd type="triangle"/>
          </a:ln>
        </p:spPr>
      </p:sp>
      <p:sp>
        <p:nvSpPr>
          <p:cNvPr id="28" name="Shape 26"/>
          <p:cNvSpPr/>
          <p:nvPr/>
        </p:nvSpPr>
        <p:spPr>
          <a:xfrm>
            <a:off x="6446520" y="3383280"/>
            <a:ext cx="1783080" cy="868680"/>
          </a:xfrm>
          <a:prstGeom prst="roundRect">
            <a:avLst>
              <a:gd name="adj" fmla="val 7368"/>
            </a:avLst>
          </a:prstGeom>
          <a:solidFill>
            <a:srgbClr val="FFFFFF"/>
          </a:solidFill>
          <a:ln w="9525">
            <a:solidFill>
              <a:srgbClr val="D9E2CF"/>
            </a:solidFill>
            <a:prstDash val="solid"/>
          </a:ln>
        </p:spPr>
      </p:sp>
      <p:sp>
        <p:nvSpPr>
          <p:cNvPr id="29" name="Text 27"/>
          <p:cNvSpPr/>
          <p:nvPr/>
        </p:nvSpPr>
        <p:spPr>
          <a:xfrm>
            <a:off x="6519672" y="3383280"/>
            <a:ext cx="163677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Exploit argmax /</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explore affordable</a:t>
            </a:r>
            <a:endParaRPr lang="en-US" sz="1100" dirty="0"/>
          </a:p>
        </p:txBody>
      </p:sp>
      <p:sp>
        <p:nvSpPr>
          <p:cNvPr id="30" name="Shape 28"/>
          <p:cNvSpPr/>
          <p:nvPr/>
        </p:nvSpPr>
        <p:spPr>
          <a:xfrm>
            <a:off x="8275320" y="3822192"/>
            <a:ext cx="228600" cy="0"/>
          </a:xfrm>
          <a:prstGeom prst="line">
            <a:avLst/>
          </a:prstGeom>
          <a:noFill/>
          <a:ln w="19050">
            <a:solidFill>
              <a:srgbClr val="5F6B5C"/>
            </a:solidFill>
            <a:prstDash val="solid"/>
            <a:tailEnd type="triangle"/>
          </a:ln>
        </p:spPr>
      </p:sp>
      <p:sp>
        <p:nvSpPr>
          <p:cNvPr id="31" name="Shape 29"/>
          <p:cNvSpPr/>
          <p:nvPr/>
        </p:nvSpPr>
        <p:spPr>
          <a:xfrm>
            <a:off x="8503920" y="3383280"/>
            <a:ext cx="1371600" cy="868680"/>
          </a:xfrm>
          <a:prstGeom prst="roundRect">
            <a:avLst>
              <a:gd name="adj" fmla="val 7368"/>
            </a:avLst>
          </a:prstGeom>
          <a:solidFill>
            <a:srgbClr val="EEF4E4"/>
          </a:solidFill>
          <a:ln w="9525">
            <a:solidFill>
              <a:srgbClr val="D9E2CF"/>
            </a:solidFill>
            <a:prstDash val="solid"/>
          </a:ln>
        </p:spPr>
      </p:sp>
      <p:sp>
        <p:nvSpPr>
          <p:cNvPr id="32" name="Text 30"/>
          <p:cNvSpPr/>
          <p:nvPr/>
        </p:nvSpPr>
        <p:spPr>
          <a:xfrm>
            <a:off x="8577072" y="3383280"/>
            <a:ext cx="1225296" cy="868680"/>
          </a:xfrm>
          <a:prstGeom prst="rect">
            <a:avLst/>
          </a:prstGeom>
          <a:noFill/>
          <a:ln/>
        </p:spPr>
        <p:txBody>
          <a:bodyPr wrap="square" lIns="0" tIns="0" rIns="0" bIns="0" rtlCol="0" anchor="ctr"/>
          <a:lstStyle/>
          <a:p>
            <a:pPr algn="ctr" indent="0" marL="0">
              <a:buNone/>
            </a:pPr>
            <a:r>
              <a:rPr lang="en-US" sz="1200" dirty="0">
                <a:solidFill>
                  <a:srgbClr val="2C5F2D"/>
                </a:solidFill>
                <a:latin typeface="Calibri" pitchFamily="34" charset="0"/>
                <a:ea typeface="Calibri" pitchFamily="34" charset="-122"/>
                <a:cs typeface="Calibri" pitchFamily="34" charset="-120"/>
              </a:rPr>
              <a:t>Price</a:t>
            </a:r>
            <a:endParaRPr lang="en-US" sz="1200" dirty="0"/>
          </a:p>
        </p:txBody>
      </p:sp>
      <p:sp>
        <p:nvSpPr>
          <p:cNvPr id="33" name="Shape 31"/>
          <p:cNvSpPr/>
          <p:nvPr/>
        </p:nvSpPr>
        <p:spPr>
          <a:xfrm>
            <a:off x="9921240" y="3822192"/>
            <a:ext cx="228600" cy="0"/>
          </a:xfrm>
          <a:prstGeom prst="line">
            <a:avLst/>
          </a:prstGeom>
          <a:noFill/>
          <a:ln w="19050">
            <a:solidFill>
              <a:srgbClr val="5F6B5C"/>
            </a:solidFill>
            <a:prstDash val="solid"/>
            <a:tailEnd type="triangle"/>
          </a:ln>
        </p:spPr>
      </p:sp>
      <p:sp>
        <p:nvSpPr>
          <p:cNvPr id="34" name="Shape 32"/>
          <p:cNvSpPr/>
          <p:nvPr/>
        </p:nvSpPr>
        <p:spPr>
          <a:xfrm>
            <a:off x="10149840" y="3383280"/>
            <a:ext cx="1463040" cy="868680"/>
          </a:xfrm>
          <a:prstGeom prst="roundRect">
            <a:avLst>
              <a:gd name="adj" fmla="val 7368"/>
            </a:avLst>
          </a:prstGeom>
          <a:solidFill>
            <a:srgbClr val="FFFFFF"/>
          </a:solidFill>
          <a:ln w="9525">
            <a:solidFill>
              <a:srgbClr val="D9E2CF"/>
            </a:solidFill>
            <a:prstDash val="solid"/>
          </a:ln>
        </p:spPr>
      </p:sp>
      <p:sp>
        <p:nvSpPr>
          <p:cNvPr id="35" name="Text 33"/>
          <p:cNvSpPr/>
          <p:nvPr/>
        </p:nvSpPr>
        <p:spPr>
          <a:xfrm>
            <a:off x="10222992" y="3383280"/>
            <a:ext cx="131673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Decision event</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(~30 fields)</a:t>
            </a:r>
            <a:endParaRPr lang="en-US" sz="1100" dirty="0"/>
          </a:p>
        </p:txBody>
      </p:sp>
      <p:sp>
        <p:nvSpPr>
          <p:cNvPr id="36" name="Shape 34"/>
          <p:cNvSpPr/>
          <p:nvPr/>
        </p:nvSpPr>
        <p:spPr>
          <a:xfrm>
            <a:off x="548640" y="4983480"/>
            <a:ext cx="2103120" cy="868680"/>
          </a:xfrm>
          <a:prstGeom prst="roundRect">
            <a:avLst>
              <a:gd name="adj" fmla="val 7368"/>
            </a:avLst>
          </a:prstGeom>
          <a:solidFill>
            <a:srgbClr val="FFFFFF"/>
          </a:solidFill>
          <a:ln w="9525">
            <a:solidFill>
              <a:srgbClr val="D9E2CF"/>
            </a:solidFill>
            <a:prstDash val="solid"/>
          </a:ln>
        </p:spPr>
      </p:sp>
      <p:sp>
        <p:nvSpPr>
          <p:cNvPr id="37" name="Text 35"/>
          <p:cNvSpPr/>
          <p:nvPr/>
        </p:nvSpPr>
        <p:spPr>
          <a:xfrm>
            <a:off x="621792" y="4983480"/>
            <a:ext cx="195681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Outcome events</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(exactly one per decision)</a:t>
            </a:r>
            <a:endParaRPr lang="en-US" sz="1100" dirty="0"/>
          </a:p>
        </p:txBody>
      </p:sp>
      <p:sp>
        <p:nvSpPr>
          <p:cNvPr id="38" name="Shape 36"/>
          <p:cNvSpPr/>
          <p:nvPr/>
        </p:nvSpPr>
        <p:spPr>
          <a:xfrm>
            <a:off x="2697480" y="5422392"/>
            <a:ext cx="228600" cy="0"/>
          </a:xfrm>
          <a:prstGeom prst="line">
            <a:avLst/>
          </a:prstGeom>
          <a:noFill/>
          <a:ln w="19050">
            <a:solidFill>
              <a:srgbClr val="5F6B5C"/>
            </a:solidFill>
            <a:prstDash val="solid"/>
            <a:tailEnd type="triangle"/>
          </a:ln>
        </p:spPr>
      </p:sp>
      <p:sp>
        <p:nvSpPr>
          <p:cNvPr id="39" name="Shape 37"/>
          <p:cNvSpPr/>
          <p:nvPr/>
        </p:nvSpPr>
        <p:spPr>
          <a:xfrm>
            <a:off x="2926080" y="4983480"/>
            <a:ext cx="2331720" cy="868680"/>
          </a:xfrm>
          <a:prstGeom prst="roundRect">
            <a:avLst>
              <a:gd name="adj" fmla="val 7368"/>
            </a:avLst>
          </a:prstGeom>
          <a:solidFill>
            <a:srgbClr val="FFFFFF"/>
          </a:solidFill>
          <a:ln w="9525">
            <a:solidFill>
              <a:srgbClr val="D9E2CF"/>
            </a:solidFill>
            <a:prstDash val="solid"/>
          </a:ln>
        </p:spPr>
      </p:sp>
      <p:sp>
        <p:nvSpPr>
          <p:cNvPr id="40" name="Text 38"/>
          <p:cNvSpPr/>
          <p:nvPr/>
        </p:nvSpPr>
        <p:spPr>
          <a:xfrm>
            <a:off x="2999232" y="4983480"/>
            <a:ext cx="218541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Censored NB likelihood</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exploration outcomes only</a:t>
            </a:r>
            <a:endParaRPr lang="en-US" sz="1100" dirty="0"/>
          </a:p>
        </p:txBody>
      </p:sp>
      <p:sp>
        <p:nvSpPr>
          <p:cNvPr id="41" name="Shape 39"/>
          <p:cNvSpPr/>
          <p:nvPr/>
        </p:nvSpPr>
        <p:spPr>
          <a:xfrm>
            <a:off x="5303520" y="5422392"/>
            <a:ext cx="228600" cy="0"/>
          </a:xfrm>
          <a:prstGeom prst="line">
            <a:avLst/>
          </a:prstGeom>
          <a:noFill/>
          <a:ln w="19050">
            <a:solidFill>
              <a:srgbClr val="5F6B5C"/>
            </a:solidFill>
            <a:prstDash val="solid"/>
            <a:tailEnd type="triangle"/>
          </a:ln>
        </p:spPr>
      </p:sp>
      <p:sp>
        <p:nvSpPr>
          <p:cNvPr id="42" name="Shape 40"/>
          <p:cNvSpPr/>
          <p:nvPr/>
        </p:nvSpPr>
        <p:spPr>
          <a:xfrm>
            <a:off x="5532120" y="4983480"/>
            <a:ext cx="2057400" cy="868680"/>
          </a:xfrm>
          <a:prstGeom prst="roundRect">
            <a:avLst>
              <a:gd name="adj" fmla="val 7368"/>
            </a:avLst>
          </a:prstGeom>
          <a:solidFill>
            <a:srgbClr val="FFFFFF"/>
          </a:solidFill>
          <a:ln w="9525">
            <a:solidFill>
              <a:srgbClr val="D9E2CF"/>
            </a:solidFill>
            <a:prstDash val="solid"/>
          </a:ln>
        </p:spPr>
      </p:sp>
      <p:sp>
        <p:nvSpPr>
          <p:cNvPr id="43" name="Text 41"/>
          <p:cNvSpPr/>
          <p:nvPr/>
        </p:nvSpPr>
        <p:spPr>
          <a:xfrm>
            <a:off x="5605272" y="4983480"/>
            <a:ext cx="191109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Evidence ÷ deff = 3.347</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(correlation deflation)</a:t>
            </a:r>
            <a:endParaRPr lang="en-US" sz="1100" dirty="0"/>
          </a:p>
        </p:txBody>
      </p:sp>
      <p:sp>
        <p:nvSpPr>
          <p:cNvPr id="44" name="Shape 42"/>
          <p:cNvSpPr/>
          <p:nvPr/>
        </p:nvSpPr>
        <p:spPr>
          <a:xfrm>
            <a:off x="7635240" y="5422392"/>
            <a:ext cx="228600" cy="0"/>
          </a:xfrm>
          <a:prstGeom prst="line">
            <a:avLst/>
          </a:prstGeom>
          <a:noFill/>
          <a:ln w="19050">
            <a:solidFill>
              <a:srgbClr val="5F6B5C"/>
            </a:solidFill>
            <a:prstDash val="solid"/>
            <a:tailEnd type="triangle"/>
          </a:ln>
        </p:spPr>
      </p:sp>
      <p:sp>
        <p:nvSpPr>
          <p:cNvPr id="45" name="Shape 43"/>
          <p:cNvSpPr/>
          <p:nvPr/>
        </p:nvSpPr>
        <p:spPr>
          <a:xfrm>
            <a:off x="7863840" y="4983480"/>
            <a:ext cx="1965960" cy="868680"/>
          </a:xfrm>
          <a:prstGeom prst="roundRect">
            <a:avLst>
              <a:gd name="adj" fmla="val 7368"/>
            </a:avLst>
          </a:prstGeom>
          <a:solidFill>
            <a:srgbClr val="FFFFFF"/>
          </a:solidFill>
          <a:ln w="9525">
            <a:solidFill>
              <a:srgbClr val="D9E2CF"/>
            </a:solidFill>
            <a:prstDash val="solid"/>
          </a:ln>
        </p:spPr>
      </p:sp>
      <p:sp>
        <p:nvSpPr>
          <p:cNvPr id="46" name="Text 44"/>
          <p:cNvSpPr/>
          <p:nvPr/>
        </p:nvSpPr>
        <p:spPr>
          <a:xfrm>
            <a:off x="7936992" y="4983480"/>
            <a:ext cx="1819656" cy="868680"/>
          </a:xfrm>
          <a:prstGeom prst="rect">
            <a:avLst/>
          </a:prstGeom>
          <a:noFill/>
          <a:ln/>
        </p:spPr>
        <p:txBody>
          <a:bodyPr wrap="square" lIns="0" tIns="0" rIns="0" bIns="0" rtlCol="0" anchor="ctr"/>
          <a:lstStyle/>
          <a:p>
            <a:pPr algn="ctr" indent="0" marL="0">
              <a:buNone/>
            </a:pPr>
            <a:r>
              <a:rPr lang="en-US" sz="1100" dirty="0">
                <a:solidFill>
                  <a:srgbClr val="22301F"/>
                </a:solidFill>
                <a:latin typeface="Calibri" pitchFamily="34" charset="0"/>
                <a:ea typeface="Calibri" pitchFamily="34" charset="-122"/>
                <a:cs typeface="Calibri" pitchFamily="34" charset="-120"/>
              </a:rPr>
              <a:t>Bounded step</a:t>
            </a:r>
            <a:endParaRPr lang="en-US" sz="1100" dirty="0"/>
          </a:p>
          <a:p>
            <a:pPr algn="ctr" indent="0" marL="0">
              <a:buNone/>
            </a:pPr>
            <a:r>
              <a:rPr lang="en-US" sz="1100" dirty="0">
                <a:solidFill>
                  <a:srgbClr val="22301F"/>
                </a:solidFill>
                <a:latin typeface="Calibri" pitchFamily="34" charset="0"/>
                <a:ea typeface="Calibri" pitchFamily="34" charset="-122"/>
                <a:cs typeface="Calibri" pitchFamily="34" charset="-120"/>
              </a:rPr>
              <a:t>+ daily human gate</a:t>
            </a:r>
            <a:endParaRPr lang="en-US" sz="1100" dirty="0"/>
          </a:p>
        </p:txBody>
      </p:sp>
      <p:sp>
        <p:nvSpPr>
          <p:cNvPr id="47" name="Shape 45"/>
          <p:cNvSpPr/>
          <p:nvPr/>
        </p:nvSpPr>
        <p:spPr>
          <a:xfrm>
            <a:off x="9875520" y="5422392"/>
            <a:ext cx="228600" cy="0"/>
          </a:xfrm>
          <a:prstGeom prst="line">
            <a:avLst/>
          </a:prstGeom>
          <a:noFill/>
          <a:ln w="19050">
            <a:solidFill>
              <a:srgbClr val="5F6B5C"/>
            </a:solidFill>
            <a:prstDash val="solid"/>
            <a:tailEnd type="triangle"/>
          </a:ln>
        </p:spPr>
      </p:sp>
      <p:sp>
        <p:nvSpPr>
          <p:cNvPr id="48" name="Shape 46"/>
          <p:cNvSpPr/>
          <p:nvPr/>
        </p:nvSpPr>
        <p:spPr>
          <a:xfrm>
            <a:off x="10104120" y="4983480"/>
            <a:ext cx="1508760" cy="868680"/>
          </a:xfrm>
          <a:prstGeom prst="roundRect">
            <a:avLst>
              <a:gd name="adj" fmla="val 7368"/>
            </a:avLst>
          </a:prstGeom>
          <a:solidFill>
            <a:srgbClr val="EEF4E4"/>
          </a:solidFill>
          <a:ln w="9525">
            <a:solidFill>
              <a:srgbClr val="D9E2CF"/>
            </a:solidFill>
            <a:prstDash val="solid"/>
          </a:ln>
        </p:spPr>
      </p:sp>
      <p:sp>
        <p:nvSpPr>
          <p:cNvPr id="49" name="Text 47"/>
          <p:cNvSpPr/>
          <p:nvPr/>
        </p:nvSpPr>
        <p:spPr>
          <a:xfrm>
            <a:off x="10177272" y="4983480"/>
            <a:ext cx="1362456" cy="868680"/>
          </a:xfrm>
          <a:prstGeom prst="rect">
            <a:avLst/>
          </a:prstGeom>
          <a:noFill/>
          <a:ln/>
        </p:spPr>
        <p:txBody>
          <a:bodyPr wrap="square" lIns="0" tIns="0" rIns="0" bIns="0" rtlCol="0" anchor="ctr"/>
          <a:lstStyle/>
          <a:p>
            <a:pPr algn="ctr" indent="0" marL="0">
              <a:buNone/>
            </a:pPr>
            <a:r>
              <a:rPr lang="en-US" sz="1200" dirty="0">
                <a:solidFill>
                  <a:srgbClr val="2C5F2D"/>
                </a:solidFill>
                <a:latin typeface="Calibri" pitchFamily="34" charset="0"/>
                <a:ea typeface="Calibri" pitchFamily="34" charset="-122"/>
                <a:cs typeface="Calibri" pitchFamily="34" charset="-120"/>
              </a:rPr>
              <a:t>Posterior</a:t>
            </a:r>
            <a:endParaRPr lang="en-US" sz="1200" dirty="0"/>
          </a:p>
          <a:p>
            <a:pPr algn="ctr" indent="0" marL="0">
              <a:buNone/>
            </a:pPr>
            <a:r>
              <a:rPr lang="en-US" sz="1200" dirty="0">
                <a:solidFill>
                  <a:srgbClr val="2C5F2D"/>
                </a:solidFill>
                <a:latin typeface="Calibri" pitchFamily="34" charset="0"/>
                <a:ea typeface="Calibri" pitchFamily="34" charset="-122"/>
                <a:cs typeface="Calibri" pitchFamily="34" charset="-120"/>
              </a:rPr>
              <a:t>updated</a:t>
            </a:r>
            <a:endParaRPr lang="en-US" sz="1200" dirty="0"/>
          </a:p>
        </p:txBody>
      </p:sp>
      <p:sp>
        <p:nvSpPr>
          <p:cNvPr id="50" name="Text 48"/>
          <p:cNvSpPr/>
          <p:nvPr/>
        </p:nvSpPr>
        <p:spPr>
          <a:xfrm>
            <a:off x="548640" y="6053328"/>
            <a:ext cx="11155680" cy="365760"/>
          </a:xfrm>
          <a:prstGeom prst="rect">
            <a:avLst/>
          </a:prstGeom>
          <a:noFill/>
          <a:ln/>
        </p:spPr>
        <p:txBody>
          <a:bodyPr wrap="square" lIns="0" tIns="0" rIns="0" bIns="0" rtlCol="0" anchor="ctr"/>
          <a:lstStyle/>
          <a:p>
            <a:pPr indent="0" marL="0">
              <a:buNone/>
            </a:pPr>
            <a:r>
              <a:rPr lang="en-US" sz="1200" i="1" dirty="0">
                <a:solidFill>
                  <a:srgbClr val="5F6B5C"/>
                </a:solidFill>
                <a:latin typeface="Calibri" pitchFamily="34" charset="0"/>
                <a:ea typeface="Calibri" pitchFamily="34" charset="-122"/>
                <a:cs typeface="Calibri" pitchFamily="34" charset="-120"/>
              </a:rPr>
              <a:t>Every decision event carries the exact prediction, posterior, and artifact versions it used — any decision is reproducible from its event alone.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10</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OBJECTIVE &amp; METRIC</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The planner optimises absolute IL — the business reads IL%</a:t>
            </a:r>
            <a:endParaRPr lang="en-US" sz="2900" dirty="0"/>
          </a:p>
        </p:txBody>
      </p:sp>
      <p:sp>
        <p:nvSpPr>
          <p:cNvPr id="6" name="Text 4"/>
          <p:cNvSpPr/>
          <p:nvPr/>
        </p:nvSpPr>
        <p:spPr>
          <a:xfrm>
            <a:off x="548640" y="1554480"/>
            <a:ext cx="11064240" cy="411480"/>
          </a:xfrm>
          <a:prstGeom prst="rect">
            <a:avLst/>
          </a:prstGeom>
          <a:noFill/>
          <a:ln/>
        </p:spPr>
        <p:txBody>
          <a:bodyPr wrap="square" lIns="0" tIns="0" rIns="0" bIns="0" rtlCol="0" anchor="ctr"/>
          <a:lstStyle/>
          <a:p>
            <a:pPr indent="0" marL="0">
              <a:buNone/>
            </a:pPr>
            <a:r>
              <a:rPr lang="en-US" sz="1400" dirty="0">
                <a:solidFill>
                  <a:srgbClr val="22301F"/>
                </a:solidFill>
                <a:latin typeface="Calibri" pitchFamily="34" charset="0"/>
                <a:ea typeface="Calibri" pitchFamily="34" charset="-122"/>
                <a:cs typeface="Calibri" pitchFamily="34" charset="-120"/>
              </a:rPr>
              <a:t>IL% has an endogenous denominator: deeper markdowns sell more units and grow it. The two metrics can disagree by design:</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5760720" cy="914400"/>
        </p:xfrm>
        <a:graphic>
          <a:graphicData uri="http://schemas.openxmlformats.org/drawingml/2006/table">
            <a:tbl>
              <a:tblPr/>
              <a:tblGrid>
                <a:gridCol w="1691640"/>
                <a:gridCol w="777240"/>
                <a:gridCol w="685800"/>
                <a:gridCol w="868680"/>
                <a:gridCol w="1005840"/>
                <a:gridCol w="731520"/>
              </a:tblGrid>
              <a:tr h="384048">
                <a:tc>
                  <a:txBody>
                    <a:bodyPr/>
                    <a:lstStyle/>
                    <a:p>
                      <a:pPr algn="l" indent="0" marL="0">
                        <a:buNone/>
                      </a:pPr>
                      <a:r>
                        <a:rPr lang="en-US" sz="1100" b="1" dirty="0">
                          <a:solidFill>
                            <a:srgbClr val="22301F"/>
                          </a:solidFill>
                          <a:latin typeface="Calibri" pitchFamily="34" charset="0"/>
                          <a:ea typeface="Calibri" pitchFamily="34" charset="-122"/>
                          <a:cs typeface="Calibri" pitchFamily="34" charset="-120"/>
                        </a:rPr>
                        <a:t>Policy</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2301F"/>
                          </a:solidFill>
                          <a:latin typeface="Calibri" pitchFamily="34" charset="0"/>
                          <a:ea typeface="Calibri" pitchFamily="34" charset="-122"/>
                          <a:cs typeface="Calibri" pitchFamily="34" charset="-120"/>
                        </a:rPr>
                        <a:t>Price</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2301F"/>
                          </a:solidFill>
                          <a:latin typeface="Calibri" pitchFamily="34" charset="0"/>
                          <a:ea typeface="Calibri" pitchFamily="34" charset="-122"/>
                          <a:cs typeface="Calibri" pitchFamily="34" charset="-120"/>
                        </a:rPr>
                        <a:t>Units</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2301F"/>
                          </a:solidFill>
                          <a:latin typeface="Calibri" pitchFamily="34" charset="0"/>
                          <a:ea typeface="Calibri" pitchFamily="34" charset="-122"/>
                          <a:cs typeface="Calibri" pitchFamily="34" charset="-120"/>
                        </a:rPr>
                        <a:t>IL</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2301F"/>
                          </a:solidFill>
                          <a:latin typeface="Calibri" pitchFamily="34" charset="0"/>
                          <a:ea typeface="Calibri" pitchFamily="34" charset="-122"/>
                          <a:cs typeface="Calibri" pitchFamily="34" charset="-120"/>
                        </a:rPr>
                        <a:t>Denom.</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2301F"/>
                          </a:solidFill>
                          <a:latin typeface="Calibri" pitchFamily="34" charset="0"/>
                          <a:ea typeface="Calibri" pitchFamily="34" charset="-122"/>
                          <a:cs typeface="Calibri" pitchFamily="34" charset="-120"/>
                        </a:rPr>
                        <a:t>IL%</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A  (planner’s choice)</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9,000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16,000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40,000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40.0%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7,000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28,000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80,000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301F"/>
                          </a:solidFill>
                          <a:latin typeface="Calibri" pitchFamily="34" charset="0"/>
                          <a:ea typeface="Calibri" pitchFamily="34" charset="-122"/>
                          <a:cs typeface="Calibri" pitchFamily="34" charset="-120"/>
                        </a:rPr>
                        <a:t>35.0%</a:t>
                      </a:r>
                      <a:endParaRPr lang="en-US" sz="1100" dirty="0">
                        <a:latin typeface="Calibri" charset="0"/>
                        <a:ea typeface="Calibri" charset="0"/>
                        <a:cs typeface="Calibri" charset="0"/>
                      </a:endParaRPr>
                    </a:p>
                  </a:txBody>
                  <a:tcPr marL="91440" marR="91440" marT="45720" marB="45720"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FFFFFF"/>
                    </a:solidFill>
                  </a:tcPr>
                </a:tc>
              </a:tr>
            </a:tbl>
          </a:graphicData>
        </a:graphic>
      </p:graphicFrame>
      <p:sp>
        <p:nvSpPr>
          <p:cNvPr id="8" name="Text 5"/>
          <p:cNvSpPr/>
          <p:nvPr/>
        </p:nvSpPr>
        <p:spPr>
          <a:xfrm>
            <a:off x="548640" y="3520440"/>
            <a:ext cx="5760720" cy="1554480"/>
          </a:xfrm>
          <a:prstGeom prst="rect">
            <a:avLst/>
          </a:prstGeom>
          <a:noFill/>
          <a:ln/>
        </p:spPr>
        <p:txBody>
          <a:bodyPr wrap="square" lIns="0" tIns="0" rIns="0" bIns="0" rtlCol="0" anchor="ctr"/>
          <a:lstStyle/>
          <a:p>
            <a:pPr indent="0" marL="0">
              <a:buNone/>
            </a:pPr>
            <a:r>
              <a:rPr lang="en-US" sz="1200" dirty="0">
                <a:solidFill>
                  <a:srgbClr val="5F6B5C"/>
                </a:solidFill>
                <a:latin typeface="Calibri" pitchFamily="34" charset="0"/>
                <a:ea typeface="Calibri" pitchFamily="34" charset="-122"/>
                <a:cs typeface="Calibri" pitchFamily="34" charset="-120"/>
              </a:rPr>
              <a:t>Original price 10,000 · cost 2,000 · 10 units. The planner picks A — 16,000 of loss beats 28,000. IL% prefers B because its own denominator grew. A ratio objective can be gamed by discounting harder; the planner optimises the currency amount instead.</a:t>
            </a:r>
            <a:endParaRPr lang="en-US" sz="1200" dirty="0"/>
          </a:p>
        </p:txBody>
      </p:sp>
      <p:sp>
        <p:nvSpPr>
          <p:cNvPr id="9" name="Shape 6"/>
          <p:cNvSpPr/>
          <p:nvPr/>
        </p:nvSpPr>
        <p:spPr>
          <a:xfrm>
            <a:off x="6720840" y="2103120"/>
            <a:ext cx="4892040" cy="3566160"/>
          </a:xfrm>
          <a:prstGeom prst="roundRect">
            <a:avLst>
              <a:gd name="adj" fmla="val 2308"/>
            </a:avLst>
          </a:prstGeom>
          <a:solidFill>
            <a:srgbClr val="F6F8F2"/>
          </a:solidFill>
          <a:ln/>
          <a:effectLst>
            <a:outerShdw sx="100000" sy="100000" kx="0" ky="0" algn="bl" rotWithShape="0" blurRad="76200" dist="25400" dir="5400000">
              <a:srgbClr val="3A4A36">
                <a:alpha val="18000"/>
              </a:srgbClr>
            </a:outerShdw>
          </a:effectLst>
        </p:spPr>
      </p:sp>
      <p:sp>
        <p:nvSpPr>
          <p:cNvPr id="10" name="Text 7"/>
          <p:cNvSpPr/>
          <p:nvPr/>
        </p:nvSpPr>
        <p:spPr>
          <a:xfrm>
            <a:off x="6949440" y="2286000"/>
            <a:ext cx="4480560" cy="365760"/>
          </a:xfrm>
          <a:prstGeom prst="rect">
            <a:avLst/>
          </a:prstGeom>
          <a:noFill/>
          <a:ln/>
        </p:spPr>
        <p:txBody>
          <a:bodyPr wrap="square" lIns="0" tIns="0" rIns="0" bIns="0" rtlCol="0" anchor="ctr"/>
          <a:lstStyle/>
          <a:p>
            <a:pPr indent="0" marL="0">
              <a:buNone/>
            </a:pPr>
            <a:r>
              <a:rPr lang="en-US" sz="1400" b="1" dirty="0">
                <a:solidFill>
                  <a:srgbClr val="22301F"/>
                </a:solidFill>
                <a:latin typeface="Cambria" pitchFamily="34" charset="0"/>
                <a:ea typeface="Cambria" pitchFamily="34" charset="-122"/>
                <a:cs typeface="Cambria" pitchFamily="34" charset="-120"/>
              </a:rPr>
              <a:t>Pre-committed A/B decision rule</a:t>
            </a:r>
            <a:endParaRPr lang="en-US" sz="1400" dirty="0"/>
          </a:p>
        </p:txBody>
      </p:sp>
      <p:sp>
        <p:nvSpPr>
          <p:cNvPr id="11" name="Text 8"/>
          <p:cNvSpPr/>
          <p:nvPr/>
        </p:nvSpPr>
        <p:spPr>
          <a:xfrm>
            <a:off x="6949440" y="2788920"/>
            <a:ext cx="1920240" cy="621792"/>
          </a:xfrm>
          <a:prstGeom prst="rect">
            <a:avLst/>
          </a:prstGeom>
          <a:noFill/>
          <a:ln/>
        </p:spPr>
        <p:txBody>
          <a:bodyPr wrap="square" lIns="0" tIns="0" rIns="0" bIns="0" rtlCol="0" anchor="ctr"/>
          <a:lstStyle/>
          <a:p>
            <a:pPr indent="0" marL="0">
              <a:buNone/>
            </a:pPr>
            <a:r>
              <a:rPr lang="en-US" sz="1150" b="1" dirty="0">
                <a:solidFill>
                  <a:srgbClr val="22301F"/>
                </a:solidFill>
                <a:latin typeface="Calibri" pitchFamily="34" charset="0"/>
                <a:ea typeface="Calibri" pitchFamily="34" charset="-122"/>
                <a:cs typeface="Calibri" pitchFamily="34" charset="-120"/>
              </a:rPr>
              <a:t>IL ↓  ·  IL% ↓</a:t>
            </a:r>
            <a:endParaRPr lang="en-US" sz="1150" dirty="0"/>
          </a:p>
        </p:txBody>
      </p:sp>
      <p:sp>
        <p:nvSpPr>
          <p:cNvPr id="12" name="Text 9"/>
          <p:cNvSpPr/>
          <p:nvPr/>
        </p:nvSpPr>
        <p:spPr>
          <a:xfrm>
            <a:off x="8915400" y="2788920"/>
            <a:ext cx="2560320" cy="621792"/>
          </a:xfrm>
          <a:prstGeom prst="rect">
            <a:avLst/>
          </a:prstGeom>
          <a:noFill/>
          <a:ln/>
        </p:spPr>
        <p:txBody>
          <a:bodyPr wrap="square" lIns="0" tIns="0" rIns="0" bIns="0" rtlCol="0" anchor="ctr"/>
          <a:lstStyle/>
          <a:p>
            <a:pPr indent="0" marL="0">
              <a:buNone/>
            </a:pPr>
            <a:r>
              <a:rPr lang="en-US" sz="1150" dirty="0">
                <a:solidFill>
                  <a:srgbClr val="2C5F2D"/>
                </a:solidFill>
                <a:latin typeface="Calibri" pitchFamily="34" charset="0"/>
                <a:ea typeface="Calibri" pitchFamily="34" charset="-122"/>
                <a:cs typeface="Calibri" pitchFamily="34" charset="-120"/>
              </a:rPr>
              <a:t>Ship</a:t>
            </a:r>
            <a:endParaRPr lang="en-US" sz="1150" dirty="0"/>
          </a:p>
        </p:txBody>
      </p:sp>
      <p:sp>
        <p:nvSpPr>
          <p:cNvPr id="13" name="Text 10"/>
          <p:cNvSpPr/>
          <p:nvPr/>
        </p:nvSpPr>
        <p:spPr>
          <a:xfrm>
            <a:off x="6949440" y="3502152"/>
            <a:ext cx="1920240" cy="621792"/>
          </a:xfrm>
          <a:prstGeom prst="rect">
            <a:avLst/>
          </a:prstGeom>
          <a:noFill/>
          <a:ln/>
        </p:spPr>
        <p:txBody>
          <a:bodyPr wrap="square" lIns="0" tIns="0" rIns="0" bIns="0" rtlCol="0" anchor="ctr"/>
          <a:lstStyle/>
          <a:p>
            <a:pPr indent="0" marL="0">
              <a:buNone/>
            </a:pPr>
            <a:r>
              <a:rPr lang="en-US" sz="1150" b="1" dirty="0">
                <a:solidFill>
                  <a:srgbClr val="22301F"/>
                </a:solidFill>
                <a:latin typeface="Calibri" pitchFamily="34" charset="0"/>
                <a:ea typeface="Calibri" pitchFamily="34" charset="-122"/>
                <a:cs typeface="Calibri" pitchFamily="34" charset="-120"/>
              </a:rPr>
              <a:t>IL ↓  ·  IL% flat</a:t>
            </a:r>
            <a:endParaRPr lang="en-US" sz="1150" dirty="0"/>
          </a:p>
        </p:txBody>
      </p:sp>
      <p:sp>
        <p:nvSpPr>
          <p:cNvPr id="14" name="Text 11"/>
          <p:cNvSpPr/>
          <p:nvPr/>
        </p:nvSpPr>
        <p:spPr>
          <a:xfrm>
            <a:off x="8915400" y="3502152"/>
            <a:ext cx="2560320" cy="621792"/>
          </a:xfrm>
          <a:prstGeom prst="rect">
            <a:avLst/>
          </a:prstGeom>
          <a:noFill/>
          <a:ln/>
        </p:spPr>
        <p:txBody>
          <a:bodyPr wrap="square" lIns="0" tIns="0" rIns="0" bIns="0" rtlCol="0" anchor="ctr"/>
          <a:lstStyle/>
          <a:p>
            <a:pPr indent="0" marL="0">
              <a:buNone/>
            </a:pPr>
            <a:r>
              <a:rPr lang="en-US" sz="1150" dirty="0">
                <a:solidFill>
                  <a:srgbClr val="C8901A"/>
                </a:solidFill>
                <a:latin typeface="Calibri" pitchFamily="34" charset="0"/>
                <a:ea typeface="Calibri" pitchFamily="34" charset="-122"/>
                <a:cs typeface="Calibri" pitchFamily="34" charset="-120"/>
              </a:rPr>
              <a:t>Escalate to owner — likeliest outcome</a:t>
            </a:r>
            <a:endParaRPr lang="en-US" sz="1150" dirty="0"/>
          </a:p>
        </p:txBody>
      </p:sp>
      <p:sp>
        <p:nvSpPr>
          <p:cNvPr id="15" name="Text 12"/>
          <p:cNvSpPr/>
          <p:nvPr/>
        </p:nvSpPr>
        <p:spPr>
          <a:xfrm>
            <a:off x="6949440" y="4215384"/>
            <a:ext cx="1920240" cy="621792"/>
          </a:xfrm>
          <a:prstGeom prst="rect">
            <a:avLst/>
          </a:prstGeom>
          <a:noFill/>
          <a:ln/>
        </p:spPr>
        <p:txBody>
          <a:bodyPr wrap="square" lIns="0" tIns="0" rIns="0" bIns="0" rtlCol="0" anchor="ctr"/>
          <a:lstStyle/>
          <a:p>
            <a:pPr indent="0" marL="0">
              <a:buNone/>
            </a:pPr>
            <a:r>
              <a:rPr lang="en-US" sz="1150" b="1" dirty="0">
                <a:solidFill>
                  <a:srgbClr val="22301F"/>
                </a:solidFill>
                <a:latin typeface="Calibri" pitchFamily="34" charset="0"/>
                <a:ea typeface="Calibri" pitchFamily="34" charset="-122"/>
                <a:cs typeface="Calibri" pitchFamily="34" charset="-120"/>
              </a:rPr>
              <a:t>IL flat  ·  IL% ↓</a:t>
            </a:r>
            <a:endParaRPr lang="en-US" sz="1150" dirty="0"/>
          </a:p>
        </p:txBody>
      </p:sp>
      <p:sp>
        <p:nvSpPr>
          <p:cNvPr id="16" name="Text 13"/>
          <p:cNvSpPr/>
          <p:nvPr/>
        </p:nvSpPr>
        <p:spPr>
          <a:xfrm>
            <a:off x="8915400" y="4215384"/>
            <a:ext cx="2560320" cy="621792"/>
          </a:xfrm>
          <a:prstGeom prst="rect">
            <a:avLst/>
          </a:prstGeom>
          <a:noFill/>
          <a:ln/>
        </p:spPr>
        <p:txBody>
          <a:bodyPr wrap="square" lIns="0" tIns="0" rIns="0" bIns="0" rtlCol="0" anchor="ctr"/>
          <a:lstStyle/>
          <a:p>
            <a:pPr indent="0" marL="0">
              <a:buNone/>
            </a:pPr>
            <a:r>
              <a:rPr lang="en-US" sz="1150" dirty="0">
                <a:solidFill>
                  <a:srgbClr val="B3402A"/>
                </a:solidFill>
                <a:latin typeface="Calibri" pitchFamily="34" charset="0"/>
                <a:ea typeface="Calibri" pitchFamily="34" charset="-122"/>
                <a:cs typeface="Calibri" pitchFamily="34" charset="-120"/>
              </a:rPr>
              <a:t>Do NOT ship on IL% alone</a:t>
            </a:r>
            <a:endParaRPr lang="en-US" sz="1150" dirty="0"/>
          </a:p>
        </p:txBody>
      </p:sp>
      <p:sp>
        <p:nvSpPr>
          <p:cNvPr id="17" name="Text 14"/>
          <p:cNvSpPr/>
          <p:nvPr/>
        </p:nvSpPr>
        <p:spPr>
          <a:xfrm>
            <a:off x="6949440" y="4928616"/>
            <a:ext cx="1920240" cy="621792"/>
          </a:xfrm>
          <a:prstGeom prst="rect">
            <a:avLst/>
          </a:prstGeom>
          <a:noFill/>
          <a:ln/>
        </p:spPr>
        <p:txBody>
          <a:bodyPr wrap="square" lIns="0" tIns="0" rIns="0" bIns="0" rtlCol="0" anchor="ctr"/>
          <a:lstStyle/>
          <a:p>
            <a:pPr indent="0" marL="0">
              <a:buNone/>
            </a:pPr>
            <a:r>
              <a:rPr lang="en-US" sz="1150" b="1" dirty="0">
                <a:solidFill>
                  <a:srgbClr val="22301F"/>
                </a:solidFill>
                <a:latin typeface="Calibri" pitchFamily="34" charset="0"/>
                <a:ea typeface="Calibri" pitchFamily="34" charset="-122"/>
                <a:cs typeface="Calibri" pitchFamily="34" charset="-120"/>
              </a:rPr>
              <a:t>IL flat  ·  IL% flat</a:t>
            </a:r>
            <a:endParaRPr lang="en-US" sz="1150" dirty="0"/>
          </a:p>
        </p:txBody>
      </p:sp>
      <p:sp>
        <p:nvSpPr>
          <p:cNvPr id="18" name="Text 15"/>
          <p:cNvSpPr/>
          <p:nvPr/>
        </p:nvSpPr>
        <p:spPr>
          <a:xfrm>
            <a:off x="8915400" y="4928616"/>
            <a:ext cx="2560320" cy="621792"/>
          </a:xfrm>
          <a:prstGeom prst="rect">
            <a:avLst/>
          </a:prstGeom>
          <a:noFill/>
          <a:ln/>
        </p:spPr>
        <p:txBody>
          <a:bodyPr wrap="square" lIns="0" tIns="0" rIns="0" bIns="0" rtlCol="0" anchor="ctr"/>
          <a:lstStyle/>
          <a:p>
            <a:pPr indent="0" marL="0">
              <a:buNone/>
            </a:pPr>
            <a:r>
              <a:rPr lang="en-US" sz="1150" dirty="0">
                <a:solidFill>
                  <a:srgbClr val="B3402A"/>
                </a:solidFill>
                <a:latin typeface="Calibri" pitchFamily="34" charset="0"/>
                <a:ea typeface="Calibri" pitchFamily="34" charset="-122"/>
                <a:cs typeface="Calibri" pitchFamily="34" charset="-120"/>
              </a:rPr>
              <a:t>Do not ship</a:t>
            </a:r>
            <a:endParaRPr lang="en-US" sz="1150" dirty="0"/>
          </a:p>
        </p:txBody>
      </p:sp>
      <p:sp>
        <p:nvSpPr>
          <p:cNvPr id="19" name="Text 16"/>
          <p:cNvSpPr/>
          <p:nvPr/>
        </p:nvSpPr>
        <p:spPr>
          <a:xfrm>
            <a:off x="548640" y="5943600"/>
            <a:ext cx="11064240" cy="365760"/>
          </a:xfrm>
          <a:prstGeom prst="rect">
            <a:avLst/>
          </a:prstGeom>
          <a:noFill/>
          <a:ln/>
        </p:spPr>
        <p:txBody>
          <a:bodyPr wrap="square" lIns="0" tIns="0" rIns="0" bIns="0" rtlCol="0" anchor="ctr"/>
          <a:lstStyle/>
          <a:p>
            <a:pPr indent="0" marL="0">
              <a:buNone/>
            </a:pPr>
            <a:r>
              <a:rPr lang="en-US" sz="1250" i="1" dirty="0">
                <a:solidFill>
                  <a:srgbClr val="5F6B5C"/>
                </a:solidFill>
                <a:latin typeface="Calibri" pitchFamily="34" charset="0"/>
                <a:ea typeface="Calibri" pitchFamily="34" charset="-122"/>
                <a:cs typeface="Calibri" pitchFamily="34" charset="-120"/>
              </a:rPr>
              <a:t>Stated now, before the experiment — so the readout is not decided by whoever reads the dashboard.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11</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DESIGN CHOICE</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Why exact planning, and not a learned policy</a:t>
            </a:r>
            <a:endParaRPr lang="en-US" sz="2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108960"/>
                <a:gridCol w="3566160"/>
                <a:gridCol w="4389120"/>
              </a:tblGrid>
              <a:tr h="51206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Approach</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Assessment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we took from it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Deep RL — learned value or policy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Needs a simulator and millions of interactions. Our model is known and the state is three numbers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The MDP formulation itself</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Contextual bandit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Treats hours as independent — but selling a unit now removes it from every later hour</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Randomized actions as the source of causal evidence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Thompson sampling</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Samples ε per decision, making the perturbation state-dependent and its cost unbudgetable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 posterior over the unknown; effort that scales with uncertainty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ε-greedy schedule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An exploration rate has no business meaning. Identical rates cost wildly different amounts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Nothing — replaced by a currency budget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Off-policy evaluation</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Would recover the ~62% of outcomes we discard, but needs a correction we cannot yet validate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The first phase-2 priority, once the loop works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Vendor rules engine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Encodes somebody else's elasticity assumption and cannot report what it does not know</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 system that cannot say “I am uncertain” cannot be trusted with price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Exact backward induction — ours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State is (units, hours, anchor); horizon ≤ 48; ≤ 40 actions. Computable, not approximable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The whole decision core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12</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NOVELTY</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Seven choices that are not standard practice</a:t>
            </a:r>
            <a:endParaRPr lang="en-US" sz="2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108960"/>
                <a:gridCol w="3566160"/>
                <a:gridCol w="4389120"/>
              </a:tblGrid>
              <a:tr h="51206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Where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 choice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 it matters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Demand model</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Deliberately blind to price — its one price feature is overwritten at inference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 model free to use price would launder the legacy clock ramp into an elasticity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Elasticity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 bracket with acceptance checks, not a point estimate — all 16 categories rejected</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We launch on a recorded wide prior instead of a confident wrong number</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Action set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The cost floor constructs the actions; unsafe prices are unrepresentable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Safety survives every path, including forced randomisation</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Exploration</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Priced in won from the planner's own Q-values, capped as a P&amp;L line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 finance owner can sign an exploration budget; nobody can sign an ε</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Policy shape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 closed-form deepening bar, |ε| &gt; (1−d)/(γ−d), reported every run</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Behaviour is explained rather than observed — and the bar names what must change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Evidence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Deflated by a measured design effect, bounded per step, spent exactly once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Convergence claims are honest, and a crash cannot double-count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Thresholds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Floors measured on the same definition, smoothing and basis the monitor uses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 guardrail that cannot fire is a defect, not a conservative setting</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13</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SCOPE</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Four things we could have built, and why we did not</a:t>
            </a:r>
            <a:endParaRPr lang="en-US" sz="2900" dirty="0"/>
          </a:p>
        </p:txBody>
      </p:sp>
      <p:sp>
        <p:nvSpPr>
          <p:cNvPr id="6" name="Shape 4"/>
          <p:cNvSpPr/>
          <p:nvPr/>
        </p:nvSpPr>
        <p:spPr>
          <a:xfrm>
            <a:off x="548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04672" y="1896032"/>
            <a:ext cx="475488" cy="475488"/>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28299" y="2071299"/>
            <a:ext cx="228234" cy="228234"/>
          </a:xfrm>
          <a:prstGeom prst="rect">
            <a:avLst/>
          </a:prstGeom>
        </p:spPr>
      </p:pic>
      <p:sp>
        <p:nvSpPr>
          <p:cNvPr id="9" name="Text 6"/>
          <p:cNvSpPr/>
          <p:nvPr/>
        </p:nvSpPr>
        <p:spPr>
          <a:xfrm>
            <a:off x="1463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A smarter exploration rule</a:t>
            </a:r>
            <a:endParaRPr lang="en-US" sz="1500" dirty="0"/>
          </a:p>
        </p:txBody>
      </p:sp>
      <p:sp>
        <p:nvSpPr>
          <p:cNvPr id="10" name="Text 7"/>
          <p:cNvSpPr/>
          <p:nvPr/>
        </p:nvSpPr>
        <p:spPr>
          <a:xfrm>
            <a:off x="1463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Choosing the most informative affordable arm instead of drawing uniformly would improve information per won on paper. It would also make the perturbation a function of state — which is exactly the endogeneity that makes our history unusable. The uniform draw is the asset; optimising it destroys it.</a:t>
            </a:r>
            <a:endParaRPr lang="en-US" sz="1150" dirty="0"/>
          </a:p>
        </p:txBody>
      </p:sp>
      <p:sp>
        <p:nvSpPr>
          <p:cNvPr id="11" name="Shape 8"/>
          <p:cNvSpPr/>
          <p:nvPr/>
        </p:nvSpPr>
        <p:spPr>
          <a:xfrm>
            <a:off x="6263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2" name="Shape 9"/>
          <p:cNvSpPr/>
          <p:nvPr/>
        </p:nvSpPr>
        <p:spPr>
          <a:xfrm>
            <a:off x="6519672" y="1896032"/>
            <a:ext cx="475488" cy="475488"/>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643299" y="2071299"/>
            <a:ext cx="228234" cy="228234"/>
          </a:xfrm>
          <a:prstGeom prst="rect">
            <a:avLst/>
          </a:prstGeom>
        </p:spPr>
      </p:pic>
      <p:sp>
        <p:nvSpPr>
          <p:cNvPr id="14" name="Text 10"/>
          <p:cNvSpPr/>
          <p:nvPr/>
        </p:nvSpPr>
        <p:spPr>
          <a:xfrm>
            <a:off x="7178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Off-policy learning from every outcome</a:t>
            </a:r>
            <a:endParaRPr lang="en-US" sz="1500" dirty="0"/>
          </a:p>
        </p:txBody>
      </p:sp>
      <p:sp>
        <p:nvSpPr>
          <p:cNvPr id="15" name="Text 11"/>
          <p:cNvSpPr/>
          <p:nvPr/>
        </p:nvSpPr>
        <p:spPr>
          <a:xfrm>
            <a:off x="7178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Roughly 62% of outcomes are exploitation decisions and are discarded. An importance-weighted correction would recover them and it is the highest-value phase-2 item — but it needs a correction we cannot validate until the loop has demonstrably worked once.</a:t>
            </a:r>
            <a:endParaRPr lang="en-US" sz="1150" dirty="0"/>
          </a:p>
        </p:txBody>
      </p:sp>
      <p:sp>
        <p:nvSpPr>
          <p:cNvPr id="16" name="Shape 12"/>
          <p:cNvSpPr/>
          <p:nvPr/>
        </p:nvSpPr>
        <p:spPr>
          <a:xfrm>
            <a:off x="548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7" name="Shape 13"/>
          <p:cNvSpPr/>
          <p:nvPr/>
        </p:nvSpPr>
        <p:spPr>
          <a:xfrm>
            <a:off x="804672" y="4246032"/>
            <a:ext cx="475488" cy="475488"/>
          </a:xfrm>
          <a:prstGeom prst="ellipse">
            <a:avLst/>
          </a:prstGeom>
          <a:solidFill>
            <a:srgbClr val="2C5F2D"/>
          </a:solidFill>
          <a:ln/>
        </p:spPr>
      </p:sp>
      <p:pic>
        <p:nvPicPr>
          <p:cNvPr id="18" name="Image 2" descr="preencoded.png">    </p:cNvPr>
          <p:cNvPicPr>
            <a:picLocks noChangeAspect="1"/>
          </p:cNvPicPr>
          <p:nvPr/>
        </p:nvPicPr>
        <p:blipFill>
          <a:blip r:embed="rId3"/>
          <a:stretch>
            <a:fillRect/>
          </a:stretch>
        </p:blipFill>
        <p:spPr>
          <a:xfrm>
            <a:off x="928299" y="4220139"/>
            <a:ext cx="228234" cy="228234"/>
          </a:xfrm>
          <a:prstGeom prst="rect">
            <a:avLst/>
          </a:prstGeom>
        </p:spPr>
      </p:pic>
      <p:sp>
        <p:nvSpPr>
          <p:cNvPr id="19" name="Text 14"/>
          <p:cNvSpPr/>
          <p:nvPr/>
        </p:nvSpPr>
        <p:spPr>
          <a:xfrm>
            <a:off x="1463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Per-SKU calibration</a:t>
            </a:r>
            <a:endParaRPr lang="en-US" sz="1500" dirty="0"/>
          </a:p>
        </p:txBody>
      </p:sp>
      <p:sp>
        <p:nvSpPr>
          <p:cNvPr id="20" name="Text 15"/>
          <p:cNvSpPr/>
          <p:nvPr/>
        </p:nvSpPr>
        <p:spPr>
          <a:xfrm>
            <a:off x="1463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Finer calibration looks like an obvious improvement until you count anchor rows per SKU. Most units carry too few to fit a factor on signal rather than noise, and applying that noise forward projects it onto prices. The mix decomposition showed the weekly level movement was composition, not drift — so the remedy was a mix-robust metric, not a finer grain.</a:t>
            </a:r>
            <a:endParaRPr lang="en-US" sz="1150" dirty="0"/>
          </a:p>
        </p:txBody>
      </p:sp>
      <p:sp>
        <p:nvSpPr>
          <p:cNvPr id="21" name="Shape 16"/>
          <p:cNvSpPr/>
          <p:nvPr/>
        </p:nvSpPr>
        <p:spPr>
          <a:xfrm>
            <a:off x="6263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22" name="Shape 17"/>
          <p:cNvSpPr/>
          <p:nvPr/>
        </p:nvSpPr>
        <p:spPr>
          <a:xfrm>
            <a:off x="6519672" y="4246032"/>
            <a:ext cx="475488" cy="475488"/>
          </a:xfrm>
          <a:prstGeom prst="ellipse">
            <a:avLst/>
          </a:prstGeom>
          <a:solidFill>
            <a:srgbClr val="2C5F2D"/>
          </a:solidFill>
          <a:ln/>
        </p:spPr>
      </p:sp>
      <p:pic>
        <p:nvPicPr>
          <p:cNvPr id="23" name="Image 3" descr="preencoded.png">    </p:cNvPr>
          <p:cNvPicPr>
            <a:picLocks noChangeAspect="1"/>
          </p:cNvPicPr>
          <p:nvPr/>
        </p:nvPicPr>
        <p:blipFill>
          <a:blip r:embed="rId4"/>
          <a:stretch>
            <a:fillRect/>
          </a:stretch>
        </p:blipFill>
        <p:spPr>
          <a:xfrm>
            <a:off x="6643299" y="4220139"/>
            <a:ext cx="228234" cy="228234"/>
          </a:xfrm>
          <a:prstGeom prst="rect">
            <a:avLst/>
          </a:prstGeom>
        </p:spPr>
      </p:pic>
      <p:sp>
        <p:nvSpPr>
          <p:cNvPr id="24" name="Text 18"/>
          <p:cNvSpPr/>
          <p:nvPr/>
        </p:nvSpPr>
        <p:spPr>
          <a:xfrm>
            <a:off x="7178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Automated posterior updates</a:t>
            </a:r>
            <a:endParaRPr lang="en-US" sz="1500" dirty="0"/>
          </a:p>
        </p:txBody>
      </p:sp>
      <p:sp>
        <p:nvSpPr>
          <p:cNvPr id="25" name="Text 19"/>
          <p:cNvSpPr/>
          <p:nvPr/>
        </p:nvSpPr>
        <p:spPr>
          <a:xfrm>
            <a:off x="7178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Every update is applied by a human, once a day. Not because automation is hard, but because the criteria for safe automation should be drafted from observed operator behaviour rather than guessed before the system has ever run.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14</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DATA NUANCES</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Four things the source data does not mean literally</a:t>
            </a:r>
            <a:endParaRPr lang="en-US" sz="2900" dirty="0"/>
          </a:p>
        </p:txBody>
      </p:sp>
      <p:sp>
        <p:nvSpPr>
          <p:cNvPr id="6" name="Shape 4"/>
          <p:cNvSpPr/>
          <p:nvPr/>
        </p:nvSpPr>
        <p:spPr>
          <a:xfrm>
            <a:off x="548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04672" y="1896032"/>
            <a:ext cx="475488" cy="475488"/>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28299" y="2071299"/>
            <a:ext cx="228234" cy="228234"/>
          </a:xfrm>
          <a:prstGeom prst="rect">
            <a:avLst/>
          </a:prstGeom>
        </p:spPr>
      </p:pic>
      <p:sp>
        <p:nvSpPr>
          <p:cNvPr id="9" name="Text 6"/>
          <p:cNvSpPr/>
          <p:nvPr/>
        </p:nvSpPr>
        <p:spPr>
          <a:xfrm>
            <a:off x="1463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An episode is not a day</a:t>
            </a:r>
            <a:endParaRPr lang="en-US" sz="1500" dirty="0"/>
          </a:p>
        </p:txBody>
      </p:sp>
      <p:sp>
        <p:nvSpPr>
          <p:cNvPr id="10" name="Text 7"/>
          <p:cNvSpPr/>
          <p:nvPr/>
        </p:nvSpPr>
        <p:spPr>
          <a:xfrm>
            <a:off x="1463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The clearance window ticks down hourly and routinely crosses midnight — 36-hour windows are common. Keying episodes to the calendar date reset the countdown mid-window, fired the planner's terminal scrap value two or three times per episode, and charged carried inventory to scrap at every seam. Episodes are now maximal runs where the counter falls exactly one per elapsed hour.</a:t>
            </a:r>
            <a:endParaRPr lang="en-US" sz="1150" dirty="0"/>
          </a:p>
        </p:txBody>
      </p:sp>
      <p:sp>
        <p:nvSpPr>
          <p:cNvPr id="11" name="Shape 8"/>
          <p:cNvSpPr/>
          <p:nvPr/>
        </p:nvSpPr>
        <p:spPr>
          <a:xfrm>
            <a:off x="6263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2" name="Shape 9"/>
          <p:cNvSpPr/>
          <p:nvPr/>
        </p:nvSpPr>
        <p:spPr>
          <a:xfrm>
            <a:off x="6519672" y="1896032"/>
            <a:ext cx="475488" cy="475488"/>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643299" y="2071299"/>
            <a:ext cx="228234" cy="228234"/>
          </a:xfrm>
          <a:prstGeom prst="rect">
            <a:avLst/>
          </a:prstGeom>
        </p:spPr>
      </p:pic>
      <p:sp>
        <p:nvSpPr>
          <p:cNvPr id="14" name="Text 10"/>
          <p:cNvSpPr/>
          <p:nvPr/>
        </p:nvSpPr>
        <p:spPr>
          <a:xfrm>
            <a:off x="7178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The last hour writes off</a:t>
            </a:r>
            <a:endParaRPr lang="en-US" sz="1500" dirty="0"/>
          </a:p>
        </p:txBody>
      </p:sp>
      <p:sp>
        <p:nvSpPr>
          <p:cNvPr id="15" name="Text 11"/>
          <p:cNvSpPr/>
          <p:nvPr/>
        </p:nvSpPr>
        <p:spPr>
          <a:xfrm>
            <a:off x="7178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Ending inventory is set to zero on an episode's final row whatever remained — roughly half of all episodes. Read literally it reports zero scrap everywhere and silently deletes half of Inventory Loss. Leftover is computed as max(0, starting inventory − units sold), and the write-off is recognised by the zero itself, not by position: once a window merges across midnight, that row sits in the middle of ours.</a:t>
            </a:r>
            <a:endParaRPr lang="en-US" sz="1150" dirty="0"/>
          </a:p>
        </p:txBody>
      </p:sp>
      <p:sp>
        <p:nvSpPr>
          <p:cNvPr id="16" name="Shape 12"/>
          <p:cNvSpPr/>
          <p:nvPr/>
        </p:nvSpPr>
        <p:spPr>
          <a:xfrm>
            <a:off x="548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7" name="Shape 13"/>
          <p:cNvSpPr/>
          <p:nvPr/>
        </p:nvSpPr>
        <p:spPr>
          <a:xfrm>
            <a:off x="804672" y="4246032"/>
            <a:ext cx="475488" cy="475488"/>
          </a:xfrm>
          <a:prstGeom prst="ellipse">
            <a:avLst/>
          </a:prstGeom>
          <a:solidFill>
            <a:srgbClr val="2C5F2D"/>
          </a:solidFill>
          <a:ln/>
        </p:spPr>
      </p:sp>
      <p:pic>
        <p:nvPicPr>
          <p:cNvPr id="18" name="Image 2" descr="preencoded.png">    </p:cNvPr>
          <p:cNvPicPr>
            <a:picLocks noChangeAspect="1"/>
          </p:cNvPicPr>
          <p:nvPr/>
        </p:nvPicPr>
        <p:blipFill>
          <a:blip r:embed="rId3"/>
          <a:stretch>
            <a:fillRect/>
          </a:stretch>
        </p:blipFill>
        <p:spPr>
          <a:xfrm>
            <a:off x="928299" y="4220139"/>
            <a:ext cx="228234" cy="228234"/>
          </a:xfrm>
          <a:prstGeom prst="rect">
            <a:avLst/>
          </a:prstGeom>
        </p:spPr>
      </p:pic>
      <p:sp>
        <p:nvSpPr>
          <p:cNvPr id="19" name="Text 14"/>
          <p:cNvSpPr/>
          <p:nvPr/>
        </p:nvSpPr>
        <p:spPr>
          <a:xfrm>
            <a:off x="1463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A zero-sale row hides its own price</a:t>
            </a:r>
            <a:endParaRPr lang="en-US" sz="1500" dirty="0"/>
          </a:p>
        </p:txBody>
      </p:sp>
      <p:sp>
        <p:nvSpPr>
          <p:cNvPr id="20" name="Text 15"/>
          <p:cNvSpPr/>
          <p:nvPr/>
        </p:nvSpPr>
        <p:spPr>
          <a:xfrm>
            <a:off x="1463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The source zeroes the applied price when nothing sold, so a below-cost check tested against it is blind exactly where it matters — 299 rows across 83 episodes passed while priced under cost. The filter now tests the offered price, original price × (1 − discount), which exists whether or not anybody bought.</a:t>
            </a:r>
            <a:endParaRPr lang="en-US" sz="1150" dirty="0"/>
          </a:p>
        </p:txBody>
      </p:sp>
      <p:sp>
        <p:nvSpPr>
          <p:cNvPr id="21" name="Shape 16"/>
          <p:cNvSpPr/>
          <p:nvPr/>
        </p:nvSpPr>
        <p:spPr>
          <a:xfrm>
            <a:off x="6263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22" name="Shape 17"/>
          <p:cNvSpPr/>
          <p:nvPr/>
        </p:nvSpPr>
        <p:spPr>
          <a:xfrm>
            <a:off x="6519672" y="4246032"/>
            <a:ext cx="475488" cy="475488"/>
          </a:xfrm>
          <a:prstGeom prst="ellipse">
            <a:avLst/>
          </a:prstGeom>
          <a:solidFill>
            <a:srgbClr val="2C5F2D"/>
          </a:solidFill>
          <a:ln/>
        </p:spPr>
      </p:sp>
      <p:pic>
        <p:nvPicPr>
          <p:cNvPr id="23" name="Image 3" descr="preencoded.png">    </p:cNvPr>
          <p:cNvPicPr>
            <a:picLocks noChangeAspect="1"/>
          </p:cNvPicPr>
          <p:nvPr/>
        </p:nvPicPr>
        <p:blipFill>
          <a:blip r:embed="rId4"/>
          <a:stretch>
            <a:fillRect/>
          </a:stretch>
        </p:blipFill>
        <p:spPr>
          <a:xfrm>
            <a:off x="6643299" y="4220139"/>
            <a:ext cx="228234" cy="228234"/>
          </a:xfrm>
          <a:prstGeom prst="rect">
            <a:avLst/>
          </a:prstGeom>
        </p:spPr>
      </p:pic>
      <p:sp>
        <p:nvSpPr>
          <p:cNvPr id="24" name="Text 18"/>
          <p:cNvSpPr/>
          <p:nvPr/>
        </p:nvSpPr>
        <p:spPr>
          <a:xfrm>
            <a:off x="7178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Scrap is the leftover, nothing else</a:t>
            </a:r>
            <a:endParaRPr lang="en-US" sz="1500" dirty="0"/>
          </a:p>
        </p:txBody>
      </p:sp>
      <p:sp>
        <p:nvSpPr>
          <p:cNvPr id="25" name="Text 19"/>
          <p:cNvSpPr/>
          <p:nvPr/>
        </p:nvSpPr>
        <p:spPr>
          <a:xfrm>
            <a:off x="7178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Scrap is max(0, inventory − sold) on the last row: zero if it sold out, the leftover if it ended holding stock. Not the counter — flc_window is nominal and still positive on ~99.9% of final rows, and keying scrap to it pushed ~99% of real leftover into an unknown bucket. Not the reported ending_inventory either, which is zeroed on every final row.</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15</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DATA FOUNDATION</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Thirteen filters, one auditable waterfall</a:t>
            </a:r>
            <a:endParaRPr lang="en-US" sz="2900" dirty="0"/>
          </a:p>
        </p:txBody>
      </p:sp>
      <p:sp>
        <p:nvSpPr>
          <p:cNvPr id="6" name="Text 4"/>
          <p:cNvSpPr/>
          <p:nvPr/>
        </p:nvSpPr>
        <p:spPr>
          <a:xfrm>
            <a:off x="548640" y="1600200"/>
            <a:ext cx="5852160" cy="4206240"/>
          </a:xfrm>
          <a:prstGeom prst="rect">
            <a:avLst/>
          </a:prstGeom>
          <a:noFill/>
          <a:ln/>
        </p:spPr>
        <p:txBody>
          <a:bodyPr wrap="square" lIns="0" tIns="0" rIns="0" bIns="0" rtlCol="0" anchor="t"/>
          <a:lstStyle/>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Every filter is a named, counted stage. Rows and episodes surviving each step are written to a manifest, so any number in this deck can be traced back to the population behind it.</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Structural drops first — duplicate hour rows, out-of-range discounts, negative quantities, null categories, zero base prices, negative windows.</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Then economics — windows longer than 120 hours (a known source defect, not a long window), prices below cost on the offered basis, non-priceable rows, sales exceeding inventory.</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Contiguous episodes are built last, and any episode restocked mid-window is dropped whole: it breaks the single-inventory-pool assumption the planner's terminal value rests on.</a:t>
            </a:r>
            <a:endParaRPr lang="en-US" sz="1400" dirty="0"/>
          </a:p>
          <a:p>
            <a:pPr marL="152400" indent="-152400">
              <a:spcAft>
                <a:spcPts val="1200"/>
              </a:spcAft>
              <a:buSzPct val="100000"/>
              <a:buChar char="•"/>
            </a:pPr>
            <a:r>
              <a:rPr lang="en-US" sz="1400" dirty="0">
                <a:solidFill>
                  <a:srgbClr val="22301F"/>
                </a:solidFill>
                <a:latin typeface="Calibri" pitchFamily="34" charset="0"/>
                <a:ea typeface="Calibri" pitchFamily="34" charset="-122"/>
                <a:cs typeface="Calibri" pitchFamily="34" charset="-120"/>
              </a:rPr>
              <a:t>Nothing is silently discarded, at any stage. The waterfall is the evidence that the analysis population is the one we claim it is.</a:t>
            </a:r>
            <a:endParaRPr lang="en-US" sz="1400" dirty="0"/>
          </a:p>
        </p:txBody>
      </p:sp>
      <p:sp>
        <p:nvSpPr>
          <p:cNvPr id="7" name="Shape 5"/>
          <p:cNvSpPr/>
          <p:nvPr/>
        </p:nvSpPr>
        <p:spPr>
          <a:xfrm>
            <a:off x="6720840" y="169164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8" name="Text 6"/>
          <p:cNvSpPr/>
          <p:nvPr/>
        </p:nvSpPr>
        <p:spPr>
          <a:xfrm>
            <a:off x="6922008" y="1856232"/>
            <a:ext cx="2103120" cy="594360"/>
          </a:xfrm>
          <a:prstGeom prst="rect">
            <a:avLst/>
          </a:prstGeom>
          <a:noFill/>
          <a:ln/>
        </p:spPr>
        <p:txBody>
          <a:bodyPr wrap="square" lIns="0" tIns="0" rIns="0" bIns="0" rtlCol="0" anchor="ctr"/>
          <a:lstStyle/>
          <a:p>
            <a:pPr indent="0" marL="0">
              <a:buNone/>
            </a:pPr>
            <a:r>
              <a:rPr lang="en-US" sz="3400" b="1" dirty="0">
                <a:solidFill>
                  <a:srgbClr val="B3402A"/>
                </a:solidFill>
                <a:latin typeface="Cambria" pitchFamily="34" charset="0"/>
                <a:ea typeface="Cambria" pitchFamily="34" charset="-122"/>
                <a:cs typeface="Cambria" pitchFamily="34" charset="-120"/>
              </a:rPr>
              <a:t>13</a:t>
            </a:r>
            <a:endParaRPr lang="en-US" sz="3400" dirty="0"/>
          </a:p>
        </p:txBody>
      </p:sp>
      <p:sp>
        <p:nvSpPr>
          <p:cNvPr id="9" name="Text 7"/>
          <p:cNvSpPr/>
          <p:nvPr/>
        </p:nvSpPr>
        <p:spPr>
          <a:xfrm>
            <a:off x="6922008" y="247802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named filter stages, each counted in the split manifest</a:t>
            </a:r>
            <a:endParaRPr lang="en-US" sz="1050" dirty="0"/>
          </a:p>
        </p:txBody>
      </p:sp>
      <p:sp>
        <p:nvSpPr>
          <p:cNvPr id="10" name="Shape 8"/>
          <p:cNvSpPr/>
          <p:nvPr/>
        </p:nvSpPr>
        <p:spPr>
          <a:xfrm>
            <a:off x="9326880" y="169164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9528048" y="185623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120 h</a:t>
            </a:r>
            <a:endParaRPr lang="en-US" sz="3400" dirty="0"/>
          </a:p>
        </p:txBody>
      </p:sp>
      <p:sp>
        <p:nvSpPr>
          <p:cNvPr id="12" name="Text 10"/>
          <p:cNvSpPr/>
          <p:nvPr/>
        </p:nvSpPr>
        <p:spPr>
          <a:xfrm>
            <a:off x="9528048" y="247802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cap on the clearance window — raised from 48h, which was cutting real multi-day windows</a:t>
            </a:r>
            <a:endParaRPr lang="en-US" sz="1050" dirty="0"/>
          </a:p>
        </p:txBody>
      </p:sp>
      <p:sp>
        <p:nvSpPr>
          <p:cNvPr id="13" name="Shape 11"/>
          <p:cNvSpPr/>
          <p:nvPr/>
        </p:nvSpPr>
        <p:spPr>
          <a:xfrm>
            <a:off x="6720840" y="365760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14" name="Text 12"/>
          <p:cNvSpPr/>
          <p:nvPr/>
        </p:nvSpPr>
        <p:spPr>
          <a:xfrm>
            <a:off x="6922008" y="382219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2.07M</a:t>
            </a:r>
            <a:endParaRPr lang="en-US" sz="3400" dirty="0"/>
          </a:p>
        </p:txBody>
      </p:sp>
      <p:sp>
        <p:nvSpPr>
          <p:cNvPr id="15" name="Text 13"/>
          <p:cNvSpPr/>
          <p:nvPr/>
        </p:nvSpPr>
        <p:spPr>
          <a:xfrm>
            <a:off x="6922008" y="444398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hourly rows in the analysis population after filtering</a:t>
            </a:r>
            <a:endParaRPr lang="en-US" sz="1050" dirty="0"/>
          </a:p>
        </p:txBody>
      </p:sp>
      <p:sp>
        <p:nvSpPr>
          <p:cNvPr id="16" name="Shape 14"/>
          <p:cNvSpPr/>
          <p:nvPr/>
        </p:nvSpPr>
        <p:spPr>
          <a:xfrm>
            <a:off x="9326880" y="3657600"/>
            <a:ext cx="2468880" cy="1783080"/>
          </a:xfrm>
          <a:prstGeom prst="roundRect">
            <a:avLst>
              <a:gd name="adj" fmla="val 4615"/>
            </a:avLst>
          </a:prstGeom>
          <a:solidFill>
            <a:srgbClr val="F6F8F2"/>
          </a:solidFill>
          <a:ln/>
          <a:effectLst>
            <a:outerShdw sx="100000" sy="100000" kx="0" ky="0" algn="bl" rotWithShape="0" blurRad="76200" dist="25400" dir="5400000">
              <a:srgbClr val="3A4A36">
                <a:alpha val="18000"/>
              </a:srgbClr>
            </a:outerShdw>
          </a:effectLst>
        </p:spPr>
      </p:sp>
      <p:sp>
        <p:nvSpPr>
          <p:cNvPr id="17" name="Text 15"/>
          <p:cNvSpPr/>
          <p:nvPr/>
        </p:nvSpPr>
        <p:spPr>
          <a:xfrm>
            <a:off x="9528048" y="3822192"/>
            <a:ext cx="2103120" cy="594360"/>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334k</a:t>
            </a:r>
            <a:endParaRPr lang="en-US" sz="3400" dirty="0"/>
          </a:p>
        </p:txBody>
      </p:sp>
      <p:sp>
        <p:nvSpPr>
          <p:cNvPr id="18" name="Text 16"/>
          <p:cNvSpPr/>
          <p:nvPr/>
        </p:nvSpPr>
        <p:spPr>
          <a:xfrm>
            <a:off x="9528048" y="4443984"/>
            <a:ext cx="2103120" cy="9144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contiguous episodes available to the shadow run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16</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ACCOUNTING</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Two endings, and one state that is not an ending</a:t>
            </a:r>
            <a:endParaRPr lang="en-US" sz="2900" dirty="0"/>
          </a:p>
        </p:txBody>
      </p:sp>
      <p:sp>
        <p:nvSpPr>
          <p:cNvPr id="6" name="Shape 4"/>
          <p:cNvSpPr/>
          <p:nvPr/>
        </p:nvSpPr>
        <p:spPr>
          <a:xfrm>
            <a:off x="54864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7" name="Text 5"/>
          <p:cNvSpPr/>
          <p:nvPr/>
        </p:nvSpPr>
        <p:spPr>
          <a:xfrm>
            <a:off x="77724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Ended holding stock</a:t>
            </a:r>
            <a:endParaRPr lang="en-US" sz="1450" dirty="0"/>
          </a:p>
        </p:txBody>
      </p:sp>
      <p:sp>
        <p:nvSpPr>
          <p:cNvPr id="8" name="Text 6"/>
          <p:cNvSpPr/>
          <p:nvPr/>
        </p:nvSpPr>
        <p:spPr>
          <a:xfrm>
            <a:off x="77724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scrap = leftover</a:t>
            </a:r>
            <a:endParaRPr lang="en-US" sz="1900" dirty="0"/>
          </a:p>
        </p:txBody>
      </p:sp>
      <p:sp>
        <p:nvSpPr>
          <p:cNvPr id="9" name="Text 7"/>
          <p:cNvSpPr/>
          <p:nvPr/>
        </p:nvSpPr>
        <p:spPr>
          <a:xfrm>
            <a:off x="77724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Those units were disposed of. Leftover is computed, never read: max(0, starting inventory − units sold) on the last row. 13.55% of episodes, and this is where all scrap lives.</a:t>
            </a:r>
            <a:endParaRPr lang="en-US" sz="1050" dirty="0"/>
          </a:p>
        </p:txBody>
      </p:sp>
      <p:sp>
        <p:nvSpPr>
          <p:cNvPr id="10" name="Shape 8"/>
          <p:cNvSpPr/>
          <p:nvPr/>
        </p:nvSpPr>
        <p:spPr>
          <a:xfrm>
            <a:off x="434340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457200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Sold out</a:t>
            </a:r>
            <a:endParaRPr lang="en-US" sz="1450" dirty="0"/>
          </a:p>
        </p:txBody>
      </p:sp>
      <p:sp>
        <p:nvSpPr>
          <p:cNvPr id="12" name="Text 10"/>
          <p:cNvSpPr/>
          <p:nvPr/>
        </p:nvSpPr>
        <p:spPr>
          <a:xfrm>
            <a:off x="457200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scrap = zero</a:t>
            </a:r>
            <a:endParaRPr lang="en-US" sz="1900" dirty="0"/>
          </a:p>
        </p:txBody>
      </p:sp>
      <p:sp>
        <p:nvSpPr>
          <p:cNvPr id="13" name="Text 11"/>
          <p:cNvSpPr/>
          <p:nvPr/>
        </p:nvSpPr>
        <p:spPr>
          <a:xfrm>
            <a:off x="457200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Leftover is zero, so there is nothing to scrap — a fact, not an assumption. 86.45% of episodes. These also have fewer rows precisely because they succeeded, which is why the planner's horizon comes from the window, not the row count.</a:t>
            </a:r>
            <a:endParaRPr lang="en-US" sz="1050" dirty="0"/>
          </a:p>
        </p:txBody>
      </p:sp>
      <p:sp>
        <p:nvSpPr>
          <p:cNvPr id="14" name="Shape 12"/>
          <p:cNvSpPr/>
          <p:nvPr/>
        </p:nvSpPr>
        <p:spPr>
          <a:xfrm>
            <a:off x="813816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5" name="Text 13"/>
          <p:cNvSpPr/>
          <p:nvPr/>
        </p:nvSpPr>
        <p:spPr>
          <a:xfrm>
            <a:off x="836676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Not an ending</a:t>
            </a:r>
            <a:endParaRPr lang="en-US" sz="1450" dirty="0"/>
          </a:p>
        </p:txBody>
      </p:sp>
      <p:sp>
        <p:nvSpPr>
          <p:cNvPr id="16" name="Text 14"/>
          <p:cNvSpPr/>
          <p:nvPr/>
        </p:nvSpPr>
        <p:spPr>
          <a:xfrm>
            <a:off x="836676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not finished yet</a:t>
            </a:r>
            <a:endParaRPr lang="en-US" sz="1900" dirty="0"/>
          </a:p>
        </p:txBody>
      </p:sp>
      <p:sp>
        <p:nvSpPr>
          <p:cNvPr id="17" name="Text 15"/>
          <p:cNvSpPr/>
          <p:nvPr/>
        </p:nvSpPr>
        <p:spPr>
          <a:xfrm>
            <a:off x="836676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Empty offline — every episode in the extract has finished. Live, it is the episodes still in flight: their leftover is stock on the shelf, not scrap in the bin. Recorded as unknown, never as zero, so it is not booked twice.</a:t>
            </a:r>
            <a:endParaRPr lang="en-US" sz="1050" dirty="0"/>
          </a:p>
        </p:txBody>
      </p:sp>
      <p:sp>
        <p:nvSpPr>
          <p:cNvPr id="18" name="Shape 16"/>
          <p:cNvSpPr/>
          <p:nvPr/>
        </p:nvSpPr>
        <p:spPr>
          <a:xfrm>
            <a:off x="548640" y="5166360"/>
            <a:ext cx="11064240" cy="914400"/>
          </a:xfrm>
          <a:prstGeom prst="roundRect">
            <a:avLst>
              <a:gd name="adj" fmla="val 9000"/>
            </a:avLst>
          </a:prstGeom>
          <a:solidFill>
            <a:srgbClr val="EEF4E4"/>
          </a:solidFill>
          <a:ln/>
          <a:effectLst>
            <a:outerShdw sx="100000" sy="100000" kx="0" ky="0" algn="bl" rotWithShape="0" blurRad="76200" dist="25400" dir="5400000">
              <a:srgbClr val="3A4A36">
                <a:alpha val="18000"/>
              </a:srgbClr>
            </a:outerShdw>
          </a:effectLst>
        </p:spPr>
      </p:sp>
      <p:sp>
        <p:nvSpPr>
          <p:cNvPr id="19" name="Text 17"/>
          <p:cNvSpPr/>
          <p:nvPr/>
        </p:nvSpPr>
        <p:spPr>
          <a:xfrm>
            <a:off x="822960" y="5166360"/>
            <a:ext cx="10515600" cy="914400"/>
          </a:xfrm>
          <a:prstGeom prst="rect">
            <a:avLst/>
          </a:prstGeom>
          <a:noFill/>
          <a:ln/>
        </p:spPr>
        <p:txBody>
          <a:bodyPr wrap="square" lIns="0" tIns="0" rIns="0" bIns="0" rtlCol="0" anchor="ctr"/>
          <a:lstStyle/>
          <a:p>
            <a:pPr indent="0" marL="0">
              <a:buNone/>
            </a:pPr>
            <a:r>
              <a:rPr lang="en-US" sz="1250" b="1" dirty="0">
                <a:solidFill>
                  <a:srgbClr val="22301F"/>
                </a:solidFill>
                <a:latin typeface="Calibri" pitchFamily="34" charset="0"/>
                <a:ea typeface="Calibri" pitchFamily="34" charset="-122"/>
                <a:cs typeface="Calibri" pitchFamily="34" charset="-120"/>
              </a:rPr>
              <a:t>Two lines of logic:  </a:t>
            </a:r>
            <a:pPr indent="0" marL="0">
              <a:buNone/>
            </a:pPr>
            <a:r>
              <a:rPr lang="en-US" sz="1250" dirty="0">
                <a:solidFill>
                  <a:srgbClr val="22301F"/>
                </a:solidFill>
                <a:latin typeface="Calibri" pitchFamily="34" charset="0"/>
                <a:ea typeface="Calibri" pitchFamily="34" charset="-122"/>
                <a:cs typeface="Calibri" pitchFamily="34" charset="-120"/>
              </a:rPr>
              <a:t>scrap is the leftover on the last row, and nothing else. NOT the counter reaching zero — that fires on ~0.1% of episodes and keying scrap to it excluded ~99% of real leftover. NOT the reported ending_inventory, which is zeroed on every final row.</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17</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COMPONENT · DEMAND MODEL</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A demand model deliberately blind to price</a:t>
            </a:r>
            <a:endParaRPr lang="en-US" sz="2900" dirty="0"/>
          </a:p>
        </p:txBody>
      </p:sp>
      <p:sp>
        <p:nvSpPr>
          <p:cNvPr id="6" name="Shape 4"/>
          <p:cNvSpPr/>
          <p:nvPr/>
        </p:nvSpPr>
        <p:spPr>
          <a:xfrm>
            <a:off x="548640" y="1691640"/>
            <a:ext cx="5074920" cy="4206240"/>
          </a:xfrm>
          <a:prstGeom prst="roundRect">
            <a:avLst>
              <a:gd name="adj" fmla="val 1957"/>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38528"/>
            <a:ext cx="457200" cy="457200"/>
          </a:xfrm>
          <a:prstGeom prst="ellipse">
            <a:avLst/>
          </a:prstGeom>
          <a:solidFill>
            <a:srgbClr val="5F6B5C"/>
          </a:solidFill>
          <a:ln/>
        </p:spPr>
      </p:sp>
      <p:pic>
        <p:nvPicPr>
          <p:cNvPr id="8" name="Image 0" descr="preencoded.png">    </p:cNvPr>
          <p:cNvPicPr>
            <a:picLocks noChangeAspect="1"/>
          </p:cNvPicPr>
          <p:nvPr/>
        </p:nvPicPr>
        <p:blipFill>
          <a:blip r:embed="rId1"/>
          <a:stretch>
            <a:fillRect/>
          </a:stretch>
        </p:blipFill>
        <p:spPr>
          <a:xfrm>
            <a:off x="987552" y="2057400"/>
            <a:ext cx="219456" cy="219456"/>
          </a:xfrm>
          <a:prstGeom prst="rect">
            <a:avLst/>
          </a:prstGeom>
        </p:spPr>
      </p:pic>
      <p:sp>
        <p:nvSpPr>
          <p:cNvPr id="9" name="Text 6"/>
          <p:cNvSpPr/>
          <p:nvPr/>
        </p:nvSpPr>
        <p:spPr>
          <a:xfrm>
            <a:off x="1463040" y="1956816"/>
            <a:ext cx="4023360" cy="420624"/>
          </a:xfrm>
          <a:prstGeom prst="rect">
            <a:avLst/>
          </a:prstGeom>
          <a:noFill/>
          <a:ln/>
        </p:spPr>
        <p:txBody>
          <a:bodyPr wrap="square" lIns="0" tIns="0" rIns="0" bIns="0" rtlCol="0" anchor="ctr"/>
          <a:lstStyle/>
          <a:p>
            <a:pPr indent="0" marL="0">
              <a:buNone/>
            </a:pPr>
            <a:r>
              <a:rPr lang="en-US" sz="1300" b="1" dirty="0">
                <a:solidFill>
                  <a:srgbClr val="5F6B5C"/>
                </a:solidFill>
                <a:latin typeface="Calibri" pitchFamily="34" charset="0"/>
                <a:ea typeface="Calibri" pitchFamily="34" charset="-122"/>
                <a:cs typeface="Calibri" pitchFamily="34" charset="-120"/>
              </a:rPr>
              <a:t>WHAT IT PREDICTS</a:t>
            </a:r>
            <a:endParaRPr lang="en-US" sz="1300" dirty="0"/>
          </a:p>
        </p:txBody>
      </p:sp>
      <p:sp>
        <p:nvSpPr>
          <p:cNvPr id="10" name="Text 7"/>
          <p:cNvSpPr/>
          <p:nvPr/>
        </p:nvSpPr>
        <p:spPr>
          <a:xfrm>
            <a:off x="868680" y="2560320"/>
            <a:ext cx="4526280" cy="3108960"/>
          </a:xfrm>
          <a:prstGeom prst="rect">
            <a:avLst/>
          </a:prstGeom>
          <a:noFill/>
          <a:ln/>
        </p:spPr>
        <p:txBody>
          <a:bodyPr wrap="square" lIns="0" tIns="0" rIns="0" bIns="0" rtlCol="0" anchor="t"/>
          <a:lstStyle/>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Units sold in the next hour at the REFERENCE discount — one number, mu_ref</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LightGBM on a Tweedie objective, fit on 2.07M hourly rows and frozen at launch</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Features: SKU and FC velocity, hour, day of week, recent 1h and 3h sales, category, price level</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Every economic quantity the planner computes is denominated in this prediction</a:t>
            </a:r>
            <a:endParaRPr lang="en-US" sz="1250" dirty="0"/>
          </a:p>
        </p:txBody>
      </p:sp>
      <p:sp>
        <p:nvSpPr>
          <p:cNvPr id="11" name="Shape 8"/>
          <p:cNvSpPr/>
          <p:nvPr/>
        </p:nvSpPr>
        <p:spPr>
          <a:xfrm>
            <a:off x="6537960" y="1691640"/>
            <a:ext cx="5074920" cy="4206240"/>
          </a:xfrm>
          <a:prstGeom prst="roundRect">
            <a:avLst>
              <a:gd name="adj" fmla="val 1957"/>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858000" y="1938528"/>
            <a:ext cx="457200" cy="45720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976872" y="2057400"/>
            <a:ext cx="219456" cy="219456"/>
          </a:xfrm>
          <a:prstGeom prst="rect">
            <a:avLst/>
          </a:prstGeom>
        </p:spPr>
      </p:pic>
      <p:sp>
        <p:nvSpPr>
          <p:cNvPr id="14" name="Text 10"/>
          <p:cNvSpPr/>
          <p:nvPr/>
        </p:nvSpPr>
        <p:spPr>
          <a:xfrm>
            <a:off x="7452360" y="1956816"/>
            <a:ext cx="4023360" cy="420624"/>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WHY IT MUST NOT SEE PRICE</a:t>
            </a:r>
            <a:endParaRPr lang="en-US" sz="1300" dirty="0"/>
          </a:p>
        </p:txBody>
      </p:sp>
      <p:sp>
        <p:nvSpPr>
          <p:cNvPr id="15" name="Text 11"/>
          <p:cNvSpPr/>
          <p:nvPr/>
        </p:nvSpPr>
        <p:spPr>
          <a:xfrm>
            <a:off x="6858000" y="2651760"/>
            <a:ext cx="1188720" cy="914400"/>
          </a:xfrm>
          <a:prstGeom prst="rect">
            <a:avLst/>
          </a:prstGeom>
          <a:noFill/>
          <a:ln/>
        </p:spPr>
        <p:txBody>
          <a:bodyPr wrap="square" lIns="0" tIns="0" rIns="0" bIns="0" rtlCol="0" anchor="ctr"/>
          <a:lstStyle/>
          <a:p>
            <a:pPr indent="0" marL="0">
              <a:buNone/>
            </a:pPr>
            <a:r>
              <a:rPr lang="en-US" sz="6000" b="1" dirty="0">
                <a:solidFill>
                  <a:srgbClr val="2C5F2D"/>
                </a:solidFill>
                <a:latin typeface="Cambria" pitchFamily="34" charset="0"/>
                <a:ea typeface="Cambria" pitchFamily="34" charset="-122"/>
                <a:cs typeface="Cambria" pitchFamily="34" charset="-120"/>
              </a:rPr>
              <a:t>✕</a:t>
            </a:r>
            <a:endParaRPr lang="en-US" sz="6000" dirty="0"/>
          </a:p>
        </p:txBody>
      </p:sp>
      <p:sp>
        <p:nvSpPr>
          <p:cNvPr id="16" name="Text 12"/>
          <p:cNvSpPr/>
          <p:nvPr/>
        </p:nvSpPr>
        <p:spPr>
          <a:xfrm>
            <a:off x="7863840" y="2743200"/>
            <a:ext cx="3657600" cy="914400"/>
          </a:xfrm>
          <a:prstGeom prst="rect">
            <a:avLst/>
          </a:prstGeom>
          <a:noFill/>
          <a:ln/>
        </p:spPr>
        <p:txBody>
          <a:bodyPr wrap="square" lIns="0" tIns="0" rIns="0" bIns="0" rtlCol="0" anchor="ctr"/>
          <a:lstStyle/>
          <a:p>
            <a:pPr indent="0" marL="0">
              <a:buNone/>
            </a:pPr>
            <a:r>
              <a:rPr lang="en-US" sz="1300" dirty="0">
                <a:solidFill>
                  <a:srgbClr val="22301F"/>
                </a:solidFill>
                <a:latin typeface="Calibri" pitchFamily="34" charset="0"/>
                <a:ea typeface="Calibri" pitchFamily="34" charset="-122"/>
                <a:cs typeface="Calibri" pitchFamily="34" charset="-120"/>
              </a:rPr>
              <a:t>One price feature, overwritten to the</a:t>
            </a:r>
            <a:endParaRPr lang="en-US" sz="1300" dirty="0"/>
          </a:p>
          <a:p>
            <a:pPr indent="0" marL="0">
              <a:buNone/>
            </a:pPr>
            <a:r>
              <a:rPr lang="en-US" sz="1300" dirty="0">
                <a:solidFill>
                  <a:srgbClr val="22301F"/>
                </a:solidFill>
                <a:latin typeface="Calibri" pitchFamily="34" charset="0"/>
                <a:ea typeface="Calibri" pitchFamily="34" charset="-122"/>
                <a:cs typeface="Calibri" pitchFamily="34" charset="-120"/>
              </a:rPr>
              <a:t>reference discount at inference time</a:t>
            </a:r>
            <a:endParaRPr lang="en-US" sz="1300" dirty="0"/>
          </a:p>
        </p:txBody>
      </p:sp>
      <p:sp>
        <p:nvSpPr>
          <p:cNvPr id="17" name="Text 13"/>
          <p:cNvSpPr/>
          <p:nvPr/>
        </p:nvSpPr>
        <p:spPr>
          <a:xfrm>
            <a:off x="6858000" y="3794760"/>
            <a:ext cx="4526280" cy="1920240"/>
          </a:xfrm>
          <a:prstGeom prst="rect">
            <a:avLst/>
          </a:prstGeom>
          <a:noFill/>
          <a:ln/>
        </p:spPr>
        <p:txBody>
          <a:bodyPr wrap="square" lIns="0" tIns="0" rIns="0" bIns="0" rtlCol="0" anchor="t"/>
          <a:lstStyle/>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Legacy ties price to the clock, so a model free to use price would learn the evening peak and report it as elasticity</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Its price gradient is therefore never queried — the slope comes from ε alone, and ε is learned from randomisation</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That split IS the design: the model owns the LEVEL, the posterior owns the SLOPE, and neither is allowed the other's job</a:t>
            </a:r>
            <a:endParaRPr lang="en-US" sz="1250" dirty="0"/>
          </a:p>
        </p:txBody>
      </p:sp>
      <p:sp>
        <p:nvSpPr>
          <p:cNvPr id="18" name="Text 14"/>
          <p:cNvSpPr/>
          <p:nvPr/>
        </p:nvSpPr>
        <p:spPr>
          <a:xfrm>
            <a:off x="548640" y="6035040"/>
            <a:ext cx="11155680" cy="365760"/>
          </a:xfrm>
          <a:prstGeom prst="rect">
            <a:avLst/>
          </a:prstGeom>
          <a:noFill/>
          <a:ln/>
        </p:spPr>
        <p:txBody>
          <a:bodyPr wrap="square" lIns="0" tIns="0" rIns="0" bIns="0" rtlCol="0" anchor="ctr"/>
          <a:lstStyle/>
          <a:p>
            <a:pPr indent="0" marL="0">
              <a:buNone/>
            </a:pPr>
            <a:r>
              <a:rPr lang="en-US" sz="1300" i="1" dirty="0">
                <a:solidFill>
                  <a:srgbClr val="5F6B5C"/>
                </a:solidFill>
                <a:latin typeface="Calibri" pitchFamily="34" charset="0"/>
                <a:ea typeface="Calibri" pitchFamily="34" charset="-122"/>
                <a:cs typeface="Calibri" pitchFamily="34" charset="-120"/>
              </a:rPr>
              <a:t>Measured fidelity: 0.9940 sold ratio over 2.07M rows, hourly MAE 0.4399 — accurate at the level, and never asked about the slope.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18</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COMPONENT · CALIBRATION</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Correct the level, never the slope</a:t>
            </a:r>
            <a:endParaRPr lang="en-US" sz="2900" dirty="0"/>
          </a:p>
        </p:txBody>
      </p:sp>
      <p:sp>
        <p:nvSpPr>
          <p:cNvPr id="6" name="Shape 4"/>
          <p:cNvSpPr/>
          <p:nvPr/>
        </p:nvSpPr>
        <p:spPr>
          <a:xfrm>
            <a:off x="548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20240"/>
            <a:ext cx="502920" cy="502920"/>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99439" y="2050999"/>
            <a:ext cx="241402" cy="241402"/>
          </a:xfrm>
          <a:prstGeom prst="rect">
            <a:avLst/>
          </a:prstGeom>
        </p:spPr>
      </p:pic>
      <p:sp>
        <p:nvSpPr>
          <p:cNvPr id="9" name="Text 6"/>
          <p:cNvSpPr/>
          <p:nvPr/>
        </p:nvSpPr>
        <p:spPr>
          <a:xfrm>
            <a:off x="1554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What may be corrected</a:t>
            </a:r>
            <a:endParaRPr lang="en-US" sz="1700" dirty="0"/>
          </a:p>
        </p:txBody>
      </p:sp>
      <p:sp>
        <p:nvSpPr>
          <p:cNvPr id="10" name="Text 7"/>
          <p:cNvSpPr/>
          <p:nvPr/>
        </p:nvSpPr>
        <p:spPr>
          <a:xfrm>
            <a:off x="868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One multiplicative factor per subcategory, fit on ANCHOR rows only.</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Anchor rows are those priced at the reference discount, where the elasticity term is exactly 1.</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Fit on train+calib, gated on test — disjoint, so the gate never grades its own fit.</a:t>
            </a:r>
            <a:endParaRPr lang="en-US" sz="1250" dirty="0"/>
          </a:p>
        </p:txBody>
      </p:sp>
      <p:sp>
        <p:nvSpPr>
          <p:cNvPr id="11" name="Shape 8"/>
          <p:cNvSpPr/>
          <p:nvPr/>
        </p:nvSpPr>
        <p:spPr>
          <a:xfrm>
            <a:off x="6263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583680" y="1920240"/>
            <a:ext cx="502920" cy="50292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714439" y="2050999"/>
            <a:ext cx="241402" cy="241402"/>
          </a:xfrm>
          <a:prstGeom prst="rect">
            <a:avLst/>
          </a:prstGeom>
        </p:spPr>
      </p:pic>
      <p:sp>
        <p:nvSpPr>
          <p:cNvPr id="14" name="Text 10"/>
          <p:cNvSpPr/>
          <p:nvPr/>
        </p:nvSpPr>
        <p:spPr>
          <a:xfrm>
            <a:off x="7269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What may never be</a:t>
            </a:r>
            <a:endParaRPr lang="en-US" sz="1700" dirty="0"/>
          </a:p>
        </p:txBody>
      </p:sp>
      <p:sp>
        <p:nvSpPr>
          <p:cNvPr id="15" name="Text 11"/>
          <p:cNvSpPr/>
          <p:nvPr/>
        </p:nvSpPr>
        <p:spPr>
          <a:xfrm>
            <a:off x="6583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A sold ratio that degrades as the discount moves away from the anchor is SLOPE error.</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Scaling mu_ref cannot fix slope error. It is fixed by re-estimating the prior, or by learning.</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Five successive gate failures were each traced to a distinct cause, ending in a censoring-basis bug.</a:t>
            </a:r>
            <a:endParaRPr lang="en-US" sz="1250" dirty="0"/>
          </a:p>
        </p:txBody>
      </p:sp>
      <p:sp>
        <p:nvSpPr>
          <p:cNvPr id="16" name="Text 12"/>
          <p:cNvSpPr/>
          <p:nvPr/>
        </p:nvSpPr>
        <p:spPr>
          <a:xfrm>
            <a:off x="548640" y="5257800"/>
            <a:ext cx="11155680" cy="822960"/>
          </a:xfrm>
          <a:prstGeom prst="rect">
            <a:avLst/>
          </a:prstGeom>
          <a:noFill/>
          <a:ln/>
        </p:spPr>
        <p:txBody>
          <a:bodyPr wrap="square" lIns="0" tIns="0" rIns="0" bIns="0" rtlCol="0" anchor="ctr"/>
          <a:lstStyle/>
          <a:p>
            <a:pPr indent="0" marL="0">
              <a:buNone/>
            </a:pPr>
            <a:r>
              <a:rPr lang="en-US" sz="1500" b="1" dirty="0">
                <a:solidFill>
                  <a:srgbClr val="B3402A"/>
                </a:solidFill>
                <a:latin typeface="Calibri" pitchFamily="34" charset="0"/>
                <a:ea typeface="Calibri" pitchFamily="34" charset="-122"/>
                <a:cs typeface="Calibri" pitchFamily="34" charset="-120"/>
              </a:rPr>
              <a:t>The basis is the trap:  </a:t>
            </a:r>
            <a:pPr indent="0" marL="0">
              <a:buNone/>
            </a:pPr>
            <a:r>
              <a:rPr lang="en-US" sz="1500" dirty="0">
                <a:solidFill>
                  <a:srgbClr val="22301F"/>
                </a:solidFill>
                <a:latin typeface="Calibri" pitchFamily="34" charset="0"/>
                <a:ea typeface="Calibri" pitchFamily="34" charset="-122"/>
                <a:cs typeface="Calibri" pitchFamily="34" charset="-120"/>
              </a:rPr>
              <a:t>the factor is solved against E[min(D, q)], never raw mu. Measured, a true correction of 1.45 fits as 0.68 on the raw basis — the wrong side of 1, which is why calibration used to leave the gate unmoved or worse. Gate now PASSES at 1.0389 in a [0.90, 1.10] band.</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19</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COMPONENT · VARIANCE STRUCTURE</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Two frozen numbers behind every update</a:t>
            </a:r>
            <a:endParaRPr lang="en-US" sz="2900" dirty="0"/>
          </a:p>
        </p:txBody>
      </p:sp>
      <p:sp>
        <p:nvSpPr>
          <p:cNvPr id="6" name="Shape 4"/>
          <p:cNvSpPr/>
          <p:nvPr/>
        </p:nvSpPr>
        <p:spPr>
          <a:xfrm>
            <a:off x="548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04672" y="1896032"/>
            <a:ext cx="475488" cy="475488"/>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28299" y="2071299"/>
            <a:ext cx="228234" cy="228234"/>
          </a:xfrm>
          <a:prstGeom prst="rect">
            <a:avLst/>
          </a:prstGeom>
        </p:spPr>
      </p:pic>
      <p:sp>
        <p:nvSpPr>
          <p:cNvPr id="9" name="Text 6"/>
          <p:cNvSpPr/>
          <p:nvPr/>
        </p:nvSpPr>
        <p:spPr>
          <a:xfrm>
            <a:off x="1463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Negative binomial, not Poisson</a:t>
            </a:r>
            <a:endParaRPr lang="en-US" sz="1500" dirty="0"/>
          </a:p>
        </p:txBody>
      </p:sp>
      <p:sp>
        <p:nvSpPr>
          <p:cNvPr id="10" name="Text 7"/>
          <p:cNvSpPr/>
          <p:nvPr/>
        </p:nvSpPr>
        <p:spPr>
          <a:xfrm>
            <a:off x="1463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Hourly demand is far more variable than Poisson — bursty shoppers, basket effects. Var[D] = mu + mu²/r. A Poisson likelihood would make every learning update overconfident, and each update is bounded on the assumption that the variance is honest.</a:t>
            </a:r>
            <a:endParaRPr lang="en-US" sz="1150" dirty="0"/>
          </a:p>
        </p:txBody>
      </p:sp>
      <p:sp>
        <p:nvSpPr>
          <p:cNvPr id="11" name="Shape 8"/>
          <p:cNvSpPr/>
          <p:nvPr/>
        </p:nvSpPr>
        <p:spPr>
          <a:xfrm>
            <a:off x="6263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2" name="Shape 9"/>
          <p:cNvSpPr/>
          <p:nvPr/>
        </p:nvSpPr>
        <p:spPr>
          <a:xfrm>
            <a:off x="6519672" y="1896032"/>
            <a:ext cx="475488" cy="475488"/>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643299" y="2071299"/>
            <a:ext cx="228234" cy="228234"/>
          </a:xfrm>
          <a:prstGeom prst="rect">
            <a:avLst/>
          </a:prstGeom>
        </p:spPr>
      </p:pic>
      <p:sp>
        <p:nvSpPr>
          <p:cNvPr id="14" name="Text 10"/>
          <p:cNvSpPr/>
          <p:nvPr/>
        </p:nvSpPr>
        <p:spPr>
          <a:xfrm>
            <a:off x="7178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r by subcategory, with a fallback</a:t>
            </a:r>
            <a:endParaRPr lang="en-US" sz="1500" dirty="0"/>
          </a:p>
        </p:txBody>
      </p:sp>
      <p:sp>
        <p:nvSpPr>
          <p:cNvPr id="15" name="Text 11"/>
          <p:cNvSpPr/>
          <p:nvPr/>
        </p:nvSpPr>
        <p:spPr>
          <a:xfrm>
            <a:off x="7178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Dispersion genuinely differs by product type and the data supports estimating it there: censored MLE per subcategory on the calibration weeks, 200 rows required, falling back subcategory → category → global. High converged values are clamped at the 90th percentile and low ones preserved — high r means near-Poisson, which is the dangerous direction.</a:t>
            </a:r>
            <a:endParaRPr lang="en-US" sz="1150" dirty="0"/>
          </a:p>
        </p:txBody>
      </p:sp>
      <p:sp>
        <p:nvSpPr>
          <p:cNvPr id="16" name="Shape 12"/>
          <p:cNvSpPr/>
          <p:nvPr/>
        </p:nvSpPr>
        <p:spPr>
          <a:xfrm>
            <a:off x="548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7" name="Shape 13"/>
          <p:cNvSpPr/>
          <p:nvPr/>
        </p:nvSpPr>
        <p:spPr>
          <a:xfrm>
            <a:off x="804672" y="4246032"/>
            <a:ext cx="475488" cy="475488"/>
          </a:xfrm>
          <a:prstGeom prst="ellipse">
            <a:avLst/>
          </a:prstGeom>
          <a:solidFill>
            <a:srgbClr val="2C5F2D"/>
          </a:solidFill>
          <a:ln/>
        </p:spPr>
      </p:sp>
      <p:pic>
        <p:nvPicPr>
          <p:cNvPr id="18" name="Image 2" descr="preencoded.png">    </p:cNvPr>
          <p:cNvPicPr>
            <a:picLocks noChangeAspect="1"/>
          </p:cNvPicPr>
          <p:nvPr/>
        </p:nvPicPr>
        <p:blipFill>
          <a:blip r:embed="rId3"/>
          <a:stretch>
            <a:fillRect/>
          </a:stretch>
        </p:blipFill>
        <p:spPr>
          <a:xfrm>
            <a:off x="928299" y="4220139"/>
            <a:ext cx="228234" cy="228234"/>
          </a:xfrm>
          <a:prstGeom prst="rect">
            <a:avLst/>
          </a:prstGeom>
        </p:spPr>
      </p:pic>
      <p:sp>
        <p:nvSpPr>
          <p:cNvPr id="19" name="Text 14"/>
          <p:cNvSpPr/>
          <p:nvPr/>
        </p:nvSpPr>
        <p:spPr>
          <a:xfrm>
            <a:off x="1463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rho global, and deliberately so</a:t>
            </a:r>
            <a:endParaRPr lang="en-US" sz="1500" dirty="0"/>
          </a:p>
        </p:txBody>
      </p:sp>
      <p:sp>
        <p:nvSpPr>
          <p:cNvPr id="20" name="Text 15"/>
          <p:cNvSpPr/>
          <p:nvPr/>
        </p:nvSpPr>
        <p:spPr>
          <a:xfrm>
            <a:off x="1463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Within-episode residual correlation is ONE scalar, 0.3103. Per category it would rest on much weaker signal, and a noisy per-cell rho deflates evidence unevenly. Episode-level random effects replace the scalar in phase 2.</a:t>
            </a:r>
            <a:endParaRPr lang="en-US" sz="1150" dirty="0"/>
          </a:p>
        </p:txBody>
      </p:sp>
      <p:sp>
        <p:nvSpPr>
          <p:cNvPr id="21" name="Shape 16"/>
          <p:cNvSpPr/>
          <p:nvPr/>
        </p:nvSpPr>
        <p:spPr>
          <a:xfrm>
            <a:off x="6263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22" name="Shape 17"/>
          <p:cNvSpPr/>
          <p:nvPr/>
        </p:nvSpPr>
        <p:spPr>
          <a:xfrm>
            <a:off x="6519672" y="4246032"/>
            <a:ext cx="475488" cy="475488"/>
          </a:xfrm>
          <a:prstGeom prst="ellipse">
            <a:avLst/>
          </a:prstGeom>
          <a:solidFill>
            <a:srgbClr val="2C5F2D"/>
          </a:solidFill>
          <a:ln/>
        </p:spPr>
      </p:sp>
      <p:pic>
        <p:nvPicPr>
          <p:cNvPr id="23" name="Image 3" descr="preencoded.png">    </p:cNvPr>
          <p:cNvPicPr>
            <a:picLocks noChangeAspect="1"/>
          </p:cNvPicPr>
          <p:nvPr/>
        </p:nvPicPr>
        <p:blipFill>
          <a:blip r:embed="rId4"/>
          <a:stretch>
            <a:fillRect/>
          </a:stretch>
        </p:blipFill>
        <p:spPr>
          <a:xfrm>
            <a:off x="6643299" y="4220139"/>
            <a:ext cx="228234" cy="228234"/>
          </a:xfrm>
          <a:prstGeom prst="rect">
            <a:avLst/>
          </a:prstGeom>
        </p:spPr>
      </p:pic>
      <p:sp>
        <p:nvSpPr>
          <p:cNvPr id="24" name="Text 18"/>
          <p:cNvSpPr/>
          <p:nvPr/>
        </p:nvSpPr>
        <p:spPr>
          <a:xfrm>
            <a:off x="7178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deff = 3.347 — the honesty tax</a:t>
            </a:r>
            <a:endParaRPr lang="en-US" sz="1500" dirty="0"/>
          </a:p>
        </p:txBody>
      </p:sp>
      <p:sp>
        <p:nvSpPr>
          <p:cNvPr id="25" name="Text 19"/>
          <p:cNvSpPr/>
          <p:nvPr/>
        </p:nvSpPr>
        <p:spPr>
          <a:xfrm>
            <a:off x="7178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1 + (8.563 − 1) × 0.3103. Hours in one episode share an inventory pool and a demand shock, so ten forced hours are worth about three independent ones. Accumulated information is divided by this before any update may commit — and start-up refuses to run if config drifts from the frozen artifact.</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20</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DECISION CORE</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One hour, one exact optimisation</a:t>
            </a:r>
            <a:endParaRPr lang="en-US" sz="2900" dirty="0"/>
          </a:p>
        </p:txBody>
      </p:sp>
      <p:sp>
        <p:nvSpPr>
          <p:cNvPr id="6" name="Shape 4"/>
          <p:cNvSpPr/>
          <p:nvPr/>
        </p:nvSpPr>
        <p:spPr>
          <a:xfrm>
            <a:off x="548640" y="1645920"/>
            <a:ext cx="6035040" cy="2286000"/>
          </a:xfrm>
          <a:prstGeom prst="roundRect">
            <a:avLst>
              <a:gd name="adj" fmla="val 3600"/>
            </a:avLst>
          </a:prstGeom>
          <a:solidFill>
            <a:srgbClr val="EEF4E4"/>
          </a:solidFill>
          <a:ln/>
          <a:effectLst>
            <a:outerShdw sx="100000" sy="100000" kx="0" ky="0" algn="bl" rotWithShape="0" blurRad="76200" dist="25400" dir="5400000">
              <a:srgbClr val="3A4A36">
                <a:alpha val="18000"/>
              </a:srgbClr>
            </a:outerShdw>
          </a:effectLst>
        </p:spPr>
      </p:sp>
      <p:sp>
        <p:nvSpPr>
          <p:cNvPr id="7" name="Text 5"/>
          <p:cNvSpPr/>
          <p:nvPr/>
        </p:nvSpPr>
        <p:spPr>
          <a:xfrm>
            <a:off x="822960" y="1828800"/>
            <a:ext cx="5486400" cy="365760"/>
          </a:xfrm>
          <a:prstGeom prst="rect">
            <a:avLst/>
          </a:prstGeom>
          <a:noFill/>
          <a:ln/>
        </p:spPr>
        <p:txBody>
          <a:bodyPr wrap="square" lIns="0" tIns="0" rIns="0" bIns="0" rtlCol="0" anchor="ctr"/>
          <a:lstStyle/>
          <a:p>
            <a:pPr indent="0" marL="0">
              <a:buNone/>
            </a:pPr>
            <a:r>
              <a:rPr lang="en-US" sz="1300" b="1" dirty="0">
                <a:solidFill>
                  <a:srgbClr val="22301F"/>
                </a:solidFill>
                <a:latin typeface="Calibri" pitchFamily="34" charset="0"/>
                <a:ea typeface="Calibri" pitchFamily="34" charset="-122"/>
                <a:cs typeface="Calibri" pitchFamily="34" charset="-120"/>
              </a:rPr>
              <a:t>Backward induction over the feasible tiers:</a:t>
            </a:r>
            <a:endParaRPr lang="en-US" sz="1300" dirty="0"/>
          </a:p>
        </p:txBody>
      </p:sp>
      <p:sp>
        <p:nvSpPr>
          <p:cNvPr id="8" name="Text 6"/>
          <p:cNvSpPr/>
          <p:nvPr/>
        </p:nvSpPr>
        <p:spPr>
          <a:xfrm>
            <a:off x="822960" y="2286000"/>
            <a:ext cx="5577840" cy="1463040"/>
          </a:xfrm>
          <a:prstGeom prst="rect">
            <a:avLst/>
          </a:prstGeom>
          <a:noFill/>
          <a:ln/>
        </p:spPr>
        <p:txBody>
          <a:bodyPr wrap="square" lIns="0" tIns="0" rIns="0" bIns="0" rtlCol="0" anchor="ctr"/>
          <a:lstStyle/>
          <a:p>
            <a:pPr indent="0" marL="0">
              <a:buNone/>
            </a:pPr>
            <a:r>
              <a:rPr lang="en-US" sz="1350" dirty="0">
                <a:solidFill>
                  <a:srgbClr val="22301F"/>
                </a:solidFill>
                <a:latin typeface="Courier New" pitchFamily="34" charset="0"/>
                <a:ea typeface="Courier New" pitchFamily="34" charset="-122"/>
                <a:cs typeface="Courier New" pitchFamily="34" charset="-120"/>
              </a:rPr>
              <a:t>V(q, 0)   =  − cost × q     ← scrap the rest</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Q(q,t,p)  =  m(p)·E[min(D,q)] + V(q', t−1)</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V(q, t)   =  max over feasible p of Q(q,t,p)</a:t>
            </a:r>
            <a:endParaRPr lang="en-US" sz="1350" dirty="0"/>
          </a:p>
        </p:txBody>
      </p:sp>
      <p:sp>
        <p:nvSpPr>
          <p:cNvPr id="9" name="Text 7"/>
          <p:cNvSpPr/>
          <p:nvPr/>
        </p:nvSpPr>
        <p:spPr>
          <a:xfrm>
            <a:off x="548640" y="4160520"/>
            <a:ext cx="6126480" cy="210312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The action set is rebuilt each hour from the cost floor, so a below-cost price is never rejected — it is never constructed. Monotonicity is the transition, not a constraint: the anchor enters the state, and only equal-or-deeper tiers are reachable from it.</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Demand enters as the censored expectation E[min(D, q)], never the raw mean. At a median starting inventory of two units the two differ substantially, and every place that confused them produced a real bug.</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The horizon comes from the window, not from the rows we happen to hold. Solving over an episode's own row count leaks its realised outcome into the plan.</a:t>
            </a:r>
            <a:endParaRPr lang="en-US" sz="1200" dirty="0"/>
          </a:p>
        </p:txBody>
      </p:sp>
      <p:sp>
        <p:nvSpPr>
          <p:cNvPr id="10" name="Text 8"/>
          <p:cNvSpPr/>
          <p:nvPr/>
        </p:nvSpPr>
        <p:spPr>
          <a:xfrm>
            <a:off x="7040880" y="182880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 40</a:t>
            </a:r>
            <a:endParaRPr lang="en-US" sz="3800" dirty="0"/>
          </a:p>
        </p:txBody>
      </p:sp>
      <p:sp>
        <p:nvSpPr>
          <p:cNvPr id="11" name="Text 9"/>
          <p:cNvSpPr/>
          <p:nvPr/>
        </p:nvSpPr>
        <p:spPr>
          <a:xfrm>
            <a:off x="7040880" y="248716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feasible price tiers per decision, at 2.5pp steps up to the cost floor</a:t>
            </a:r>
            <a:endParaRPr lang="en-US" sz="1100" dirty="0"/>
          </a:p>
        </p:txBody>
      </p:sp>
      <p:sp>
        <p:nvSpPr>
          <p:cNvPr id="12" name="Text 10"/>
          <p:cNvSpPr/>
          <p:nvPr/>
        </p:nvSpPr>
        <p:spPr>
          <a:xfrm>
            <a:off x="7040880" y="324612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0.09 s</a:t>
            </a:r>
            <a:endParaRPr lang="en-US" sz="3800" dirty="0"/>
          </a:p>
        </p:txBody>
      </p:sp>
      <p:sp>
        <p:nvSpPr>
          <p:cNvPr id="13" name="Text 11"/>
          <p:cNvSpPr/>
          <p:nvPr/>
        </p:nvSpPr>
        <p:spPr>
          <a:xfrm>
            <a:off x="7040880" y="390448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p95 solver latency measured in shadow — an hourly repricing budget has room to spare</a:t>
            </a:r>
            <a:endParaRPr lang="en-US" sz="1100" dirty="0"/>
          </a:p>
        </p:txBody>
      </p:sp>
      <p:sp>
        <p:nvSpPr>
          <p:cNvPr id="14" name="Text 12"/>
          <p:cNvSpPr/>
          <p:nvPr/>
        </p:nvSpPr>
        <p:spPr>
          <a:xfrm>
            <a:off x="7040880" y="4663440"/>
            <a:ext cx="4389120" cy="658368"/>
          </a:xfrm>
          <a:prstGeom prst="rect">
            <a:avLst/>
          </a:prstGeom>
          <a:noFill/>
          <a:ln/>
        </p:spPr>
        <p:txBody>
          <a:bodyPr wrap="square" lIns="0" tIns="0" rIns="0" bIns="0"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9</a:t>
            </a:r>
            <a:endParaRPr lang="en-US" sz="3200" dirty="0"/>
          </a:p>
        </p:txBody>
      </p:sp>
      <p:sp>
        <p:nvSpPr>
          <p:cNvPr id="15" name="Text 13"/>
          <p:cNvSpPr/>
          <p:nvPr/>
        </p:nvSpPr>
        <p:spPr>
          <a:xfrm>
            <a:off x="7040880" y="532180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state invariants checked before any price is computed; on failure the system returns no price at all</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21</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SAFETY</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Unsafe prices are unrepresentable — not merely checked for</a:t>
            </a:r>
            <a:endParaRPr lang="en-US" sz="2900" dirty="0"/>
          </a:p>
        </p:txBody>
      </p:sp>
      <p:sp>
        <p:nvSpPr>
          <p:cNvPr id="6" name="Shape 4"/>
          <p:cNvSpPr/>
          <p:nvPr/>
        </p:nvSpPr>
        <p:spPr>
          <a:xfrm>
            <a:off x="548640" y="1691640"/>
            <a:ext cx="5532120" cy="196596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04672" y="1947672"/>
            <a:ext cx="475488" cy="475488"/>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28299" y="2071299"/>
            <a:ext cx="228234" cy="228234"/>
          </a:xfrm>
          <a:prstGeom prst="rect">
            <a:avLst/>
          </a:prstGeom>
        </p:spPr>
      </p:pic>
      <p:sp>
        <p:nvSpPr>
          <p:cNvPr id="9" name="Text 6"/>
          <p:cNvSpPr/>
          <p:nvPr/>
        </p:nvSpPr>
        <p:spPr>
          <a:xfrm>
            <a:off x="1463040" y="194767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Cost floor is the action set</a:t>
            </a:r>
            <a:endParaRPr lang="en-US" sz="1500" dirty="0"/>
          </a:p>
        </p:txBody>
      </p:sp>
      <p:sp>
        <p:nvSpPr>
          <p:cNvPr id="10" name="Text 7"/>
          <p:cNvSpPr/>
          <p:nvPr/>
        </p:nvSpPr>
        <p:spPr>
          <a:xfrm>
            <a:off x="1463040" y="2478024"/>
            <a:ext cx="4434840" cy="109728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Feasible discounts are constructed as every 2.5pp tier from 0 to 1 − cost/price. A below-cost price cannot be expressed — on any path, including forced exploration.</a:t>
            </a:r>
            <a:endParaRPr lang="en-US" sz="1150" dirty="0"/>
          </a:p>
        </p:txBody>
      </p:sp>
      <p:sp>
        <p:nvSpPr>
          <p:cNvPr id="11" name="Shape 8"/>
          <p:cNvSpPr/>
          <p:nvPr/>
        </p:nvSpPr>
        <p:spPr>
          <a:xfrm>
            <a:off x="6263640" y="1691640"/>
            <a:ext cx="5532120" cy="196596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2" name="Shape 9"/>
          <p:cNvSpPr/>
          <p:nvPr/>
        </p:nvSpPr>
        <p:spPr>
          <a:xfrm>
            <a:off x="6519672" y="1947672"/>
            <a:ext cx="475488" cy="475488"/>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643299" y="2071299"/>
            <a:ext cx="228234" cy="228234"/>
          </a:xfrm>
          <a:prstGeom prst="rect">
            <a:avLst/>
          </a:prstGeom>
        </p:spPr>
      </p:pic>
      <p:sp>
        <p:nvSpPr>
          <p:cNvPr id="14" name="Text 10"/>
          <p:cNvSpPr/>
          <p:nvPr/>
        </p:nvSpPr>
        <p:spPr>
          <a:xfrm>
            <a:off x="7178040" y="194767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Monotonicity is the transition</a:t>
            </a:r>
            <a:endParaRPr lang="en-US" sz="1500" dirty="0"/>
          </a:p>
        </p:txBody>
      </p:sp>
      <p:sp>
        <p:nvSpPr>
          <p:cNvPr id="15" name="Text 11"/>
          <p:cNvSpPr/>
          <p:nvPr/>
        </p:nvSpPr>
        <p:spPr>
          <a:xfrm>
            <a:off x="7178040" y="2478024"/>
            <a:ext cx="4434840" cy="109728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Hourly actions may only hold or deepen from the current anchor. “Price never rises within an episode” is encoded in the planner’s state machine, not enforced by review.</a:t>
            </a:r>
            <a:endParaRPr lang="en-US" sz="1150" dirty="0"/>
          </a:p>
        </p:txBody>
      </p:sp>
      <p:sp>
        <p:nvSpPr>
          <p:cNvPr id="16" name="Shape 12"/>
          <p:cNvSpPr/>
          <p:nvPr/>
        </p:nvSpPr>
        <p:spPr>
          <a:xfrm>
            <a:off x="548640" y="3840480"/>
            <a:ext cx="5532120" cy="196596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7" name="Shape 13"/>
          <p:cNvSpPr/>
          <p:nvPr/>
        </p:nvSpPr>
        <p:spPr>
          <a:xfrm>
            <a:off x="804672" y="4096512"/>
            <a:ext cx="475488" cy="475488"/>
          </a:xfrm>
          <a:prstGeom prst="ellipse">
            <a:avLst/>
          </a:prstGeom>
          <a:solidFill>
            <a:srgbClr val="2C5F2D"/>
          </a:solidFill>
          <a:ln/>
        </p:spPr>
      </p:sp>
      <p:pic>
        <p:nvPicPr>
          <p:cNvPr id="18" name="Image 2" descr="preencoded.png">    </p:cNvPr>
          <p:cNvPicPr>
            <a:picLocks noChangeAspect="1"/>
          </p:cNvPicPr>
          <p:nvPr/>
        </p:nvPicPr>
        <p:blipFill>
          <a:blip r:embed="rId3"/>
          <a:stretch>
            <a:fillRect/>
          </a:stretch>
        </p:blipFill>
        <p:spPr>
          <a:xfrm>
            <a:off x="928299" y="4220139"/>
            <a:ext cx="228234" cy="228234"/>
          </a:xfrm>
          <a:prstGeom prst="rect">
            <a:avLst/>
          </a:prstGeom>
        </p:spPr>
      </p:pic>
      <p:sp>
        <p:nvSpPr>
          <p:cNvPr id="19" name="Text 14"/>
          <p:cNvSpPr/>
          <p:nvPr/>
        </p:nvSpPr>
        <p:spPr>
          <a:xfrm>
            <a:off x="1463040" y="409651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Reject, never guess</a:t>
            </a:r>
            <a:endParaRPr lang="en-US" sz="1500" dirty="0"/>
          </a:p>
        </p:txBody>
      </p:sp>
      <p:sp>
        <p:nvSpPr>
          <p:cNvPr id="20" name="Text 15"/>
          <p:cNvSpPr/>
          <p:nvPr/>
        </p:nvSpPr>
        <p:spPr>
          <a:xfrm>
            <a:off x="1463040" y="4626864"/>
            <a:ext cx="4434840" cy="109728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Nine state invariants are validated per decision. On any failure the system returns no price at all — the worst pricing failure is a confidently wrong answer, not a missing one.</a:t>
            </a:r>
            <a:endParaRPr lang="en-US" sz="1150" dirty="0"/>
          </a:p>
        </p:txBody>
      </p:sp>
      <p:sp>
        <p:nvSpPr>
          <p:cNvPr id="21" name="Shape 16"/>
          <p:cNvSpPr/>
          <p:nvPr/>
        </p:nvSpPr>
        <p:spPr>
          <a:xfrm>
            <a:off x="6263640" y="3840480"/>
            <a:ext cx="5532120" cy="196596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22" name="Shape 17"/>
          <p:cNvSpPr/>
          <p:nvPr/>
        </p:nvSpPr>
        <p:spPr>
          <a:xfrm>
            <a:off x="6519672" y="4096512"/>
            <a:ext cx="475488" cy="475488"/>
          </a:xfrm>
          <a:prstGeom prst="ellipse">
            <a:avLst/>
          </a:prstGeom>
          <a:solidFill>
            <a:srgbClr val="2C5F2D"/>
          </a:solidFill>
          <a:ln/>
        </p:spPr>
      </p:sp>
      <p:pic>
        <p:nvPicPr>
          <p:cNvPr id="23" name="Image 3" descr="preencoded.png">    </p:cNvPr>
          <p:cNvPicPr>
            <a:picLocks noChangeAspect="1"/>
          </p:cNvPicPr>
          <p:nvPr/>
        </p:nvPicPr>
        <p:blipFill>
          <a:blip r:embed="rId4"/>
          <a:stretch>
            <a:fillRect/>
          </a:stretch>
        </p:blipFill>
        <p:spPr>
          <a:xfrm>
            <a:off x="6643299" y="4220139"/>
            <a:ext cx="228234" cy="228234"/>
          </a:xfrm>
          <a:prstGeom prst="rect">
            <a:avLst/>
          </a:prstGeom>
        </p:spPr>
      </p:pic>
      <p:sp>
        <p:nvSpPr>
          <p:cNvPr id="24" name="Text 18"/>
          <p:cNvSpPr/>
          <p:nvPr/>
        </p:nvSpPr>
        <p:spPr>
          <a:xfrm>
            <a:off x="7178040" y="409651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Evidence cannot be corrupted</a:t>
            </a:r>
            <a:endParaRPr lang="en-US" sz="1500" dirty="0"/>
          </a:p>
        </p:txBody>
      </p:sp>
      <p:sp>
        <p:nvSpPr>
          <p:cNvPr id="25" name="Text 19"/>
          <p:cNvSpPr/>
          <p:nvPr/>
        </p:nvSpPr>
        <p:spPr>
          <a:xfrm>
            <a:off x="7178040" y="4626864"/>
            <a:ext cx="4434840" cy="109728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Append-only events with duplicate detection; malformed events quarantined with reasons, never dropped. Posterior revisions commit atomically with the outcomes they consumed — a crash cannot double-count.</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22</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A BUG WORTH SHOWING</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The horizon comes from the window, not the row count</a:t>
            </a:r>
            <a:endParaRPr lang="en-US" sz="2900" dirty="0"/>
          </a:p>
        </p:txBody>
      </p:sp>
      <p:sp>
        <p:nvSpPr>
          <p:cNvPr id="6" name="Shape 4"/>
          <p:cNvSpPr/>
          <p:nvPr/>
        </p:nvSpPr>
        <p:spPr>
          <a:xfrm>
            <a:off x="548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20240"/>
            <a:ext cx="502920" cy="502920"/>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99439" y="2050999"/>
            <a:ext cx="241402" cy="241402"/>
          </a:xfrm>
          <a:prstGeom prst="rect">
            <a:avLst/>
          </a:prstGeom>
        </p:spPr>
      </p:pic>
      <p:sp>
        <p:nvSpPr>
          <p:cNvPr id="9" name="Text 6"/>
          <p:cNvSpPr/>
          <p:nvPr/>
        </p:nvSpPr>
        <p:spPr>
          <a:xfrm>
            <a:off x="1554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What went wrong</a:t>
            </a:r>
            <a:endParaRPr lang="en-US" sz="1700" dirty="0"/>
          </a:p>
        </p:txBody>
      </p:sp>
      <p:sp>
        <p:nvSpPr>
          <p:cNvPr id="10" name="Text 7"/>
          <p:cNvSpPr/>
          <p:nvPr/>
        </p:nvSpPr>
        <p:spPr>
          <a:xfrm>
            <a:off x="868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An episode's rows stop when inventory reaches zero.</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The planner was handed a horizon as long as the rows it received.</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So the episodes that sold out early — the successful ones — told the planner it had less time than it really did.</a:t>
            </a:r>
            <a:endParaRPr lang="en-US" sz="1250" dirty="0"/>
          </a:p>
        </p:txBody>
      </p:sp>
      <p:sp>
        <p:nvSpPr>
          <p:cNvPr id="11" name="Shape 8"/>
          <p:cNvSpPr/>
          <p:nvPr/>
        </p:nvSpPr>
        <p:spPr>
          <a:xfrm>
            <a:off x="6263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583680" y="1920240"/>
            <a:ext cx="502920" cy="50292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714439" y="2050999"/>
            <a:ext cx="241402" cy="241402"/>
          </a:xfrm>
          <a:prstGeom prst="rect">
            <a:avLst/>
          </a:prstGeom>
        </p:spPr>
      </p:pic>
      <p:sp>
        <p:nvSpPr>
          <p:cNvPr id="14" name="Text 10"/>
          <p:cNvSpPr/>
          <p:nvPr/>
        </p:nvSpPr>
        <p:spPr>
          <a:xfrm>
            <a:off x="7269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Why it is hard to catch</a:t>
            </a:r>
            <a:endParaRPr lang="en-US" sz="1700" dirty="0"/>
          </a:p>
        </p:txBody>
      </p:sp>
      <p:sp>
        <p:nvSpPr>
          <p:cNvPr id="15" name="Text 11"/>
          <p:cNvSpPr/>
          <p:nvPr/>
        </p:nvSpPr>
        <p:spPr>
          <a:xfrm>
            <a:off x="6583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Nothing crashes and no gate fires; the plan is simply solved on the wrong window.</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A shorter horizon brings the terminal scrap penalty forward, biasing the planner toward deeper discounts.</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The bias is strongest where the data looks best, so replay results improve as the error grows.</a:t>
            </a:r>
            <a:endParaRPr lang="en-US" sz="1250" dirty="0"/>
          </a:p>
        </p:txBody>
      </p:sp>
      <p:sp>
        <p:nvSpPr>
          <p:cNvPr id="16" name="Text 12"/>
          <p:cNvSpPr/>
          <p:nvPr/>
        </p:nvSpPr>
        <p:spPr>
          <a:xfrm>
            <a:off x="548640" y="5257800"/>
            <a:ext cx="11155680" cy="822960"/>
          </a:xfrm>
          <a:prstGeom prst="rect">
            <a:avLst/>
          </a:prstGeom>
          <a:noFill/>
          <a:ln/>
        </p:spPr>
        <p:txBody>
          <a:bodyPr wrap="square" lIns="0" tIns="0" rIns="0" bIns="0" rtlCol="0" anchor="ctr"/>
          <a:lstStyle/>
          <a:p>
            <a:pPr indent="0" marL="0">
              <a:buNone/>
            </a:pPr>
            <a:r>
              <a:rPr lang="en-US" sz="1500" b="1" dirty="0">
                <a:solidFill>
                  <a:srgbClr val="B3402A"/>
                </a:solidFill>
                <a:latin typeface="Calibri" pitchFamily="34" charset="0"/>
                <a:ea typeface="Calibri" pitchFamily="34" charset="-122"/>
                <a:cs typeface="Calibri" pitchFamily="34" charset="-120"/>
              </a:rPr>
              <a:t>The fix:  </a:t>
            </a:r>
            <a:pPr indent="0" marL="0">
              <a:buNone/>
            </a:pPr>
            <a:r>
              <a:rPr lang="en-US" sz="1500" dirty="0">
                <a:solidFill>
                  <a:srgbClr val="22301F"/>
                </a:solidFill>
                <a:latin typeface="Calibri" pitchFamily="34" charset="0"/>
                <a:ea typeface="Calibri" pitchFamily="34" charset="-122"/>
                <a:cs typeface="Calibri" pitchFamily="34" charset="-120"/>
              </a:rPr>
              <a:t>every episode is extended to its full window with synthetic unobserved rows before any prediction is made. 9.7% of rows were affected — enough to move the policy comparison, and invisible to every check we had at the time.</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23</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ACTION DESIGN</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Entry sets the price; the hourly loop decides whether to move it</a:t>
            </a:r>
            <a:endParaRPr lang="en-US" sz="2900" dirty="0"/>
          </a:p>
        </p:txBody>
      </p:sp>
      <p:sp>
        <p:nvSpPr>
          <p:cNvPr id="6" name="Shape 4"/>
          <p:cNvSpPr/>
          <p:nvPr/>
        </p:nvSpPr>
        <p:spPr>
          <a:xfrm>
            <a:off x="548640" y="1691640"/>
            <a:ext cx="5074920" cy="4206240"/>
          </a:xfrm>
          <a:prstGeom prst="roundRect">
            <a:avLst>
              <a:gd name="adj" fmla="val 1957"/>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38528"/>
            <a:ext cx="457200" cy="457200"/>
          </a:xfrm>
          <a:prstGeom prst="ellipse">
            <a:avLst/>
          </a:prstGeom>
          <a:solidFill>
            <a:srgbClr val="5F6B5C"/>
          </a:solidFill>
          <a:ln/>
        </p:spPr>
      </p:sp>
      <p:pic>
        <p:nvPicPr>
          <p:cNvPr id="8" name="Image 0" descr="preencoded.png">    </p:cNvPr>
          <p:cNvPicPr>
            <a:picLocks noChangeAspect="1"/>
          </p:cNvPicPr>
          <p:nvPr/>
        </p:nvPicPr>
        <p:blipFill>
          <a:blip r:embed="rId1"/>
          <a:stretch>
            <a:fillRect/>
          </a:stretch>
        </p:blipFill>
        <p:spPr>
          <a:xfrm>
            <a:off x="987552" y="2057400"/>
            <a:ext cx="219456" cy="219456"/>
          </a:xfrm>
          <a:prstGeom prst="rect">
            <a:avLst/>
          </a:prstGeom>
        </p:spPr>
      </p:pic>
      <p:sp>
        <p:nvSpPr>
          <p:cNvPr id="9" name="Text 6"/>
          <p:cNvSpPr/>
          <p:nvPr/>
        </p:nvSpPr>
        <p:spPr>
          <a:xfrm>
            <a:off x="1463040" y="1956816"/>
            <a:ext cx="4023360" cy="420624"/>
          </a:xfrm>
          <a:prstGeom prst="rect">
            <a:avLst/>
          </a:prstGeom>
          <a:noFill/>
          <a:ln/>
        </p:spPr>
        <p:txBody>
          <a:bodyPr wrap="square" lIns="0" tIns="0" rIns="0" bIns="0" rtlCol="0" anchor="ctr"/>
          <a:lstStyle/>
          <a:p>
            <a:pPr indent="0" marL="0">
              <a:buNone/>
            </a:pPr>
            <a:r>
              <a:rPr lang="en-US" sz="1300" b="1" dirty="0">
                <a:solidFill>
                  <a:srgbClr val="5F6B5C"/>
                </a:solidFill>
                <a:latin typeface="Calibri" pitchFamily="34" charset="0"/>
                <a:ea typeface="Calibri" pitchFamily="34" charset="-122"/>
                <a:cs typeface="Calibri" pitchFamily="34" charset="-120"/>
              </a:rPr>
              <a:t>ENTRY — coarse, and deliberately so</a:t>
            </a:r>
            <a:endParaRPr lang="en-US" sz="1300" dirty="0"/>
          </a:p>
        </p:txBody>
      </p:sp>
      <p:sp>
        <p:nvSpPr>
          <p:cNvPr id="10" name="Text 7"/>
          <p:cNvSpPr/>
          <p:nvPr/>
        </p:nvSpPr>
        <p:spPr>
          <a:xfrm>
            <a:off x="868680" y="2560320"/>
            <a:ext cx="4526280" cy="3108960"/>
          </a:xfrm>
          <a:prstGeom prst="rect">
            <a:avLst/>
          </a:prstGeom>
          <a:noFill/>
          <a:ln/>
        </p:spPr>
        <p:txBody>
          <a:bodyPr wrap="square" lIns="0" tIns="0" rIns="0" bIns="0" rtlCol="0" anchor="t"/>
          <a:lstStyle/>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Five arms relative to the legacy reference discount: −15, −10, −5, 0 and +5 percentage points</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Snapped to the tier grid and filtered by the cost floor, with a guaranteed fallback if the floor forbids every arm</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Coarse on purpose — the entry price is the one decision with the whole window ahead of it, so the arms must be far enough apart to be distinguishable in the evidence</a:t>
            </a:r>
            <a:endParaRPr lang="en-US" sz="1250" dirty="0"/>
          </a:p>
          <a:p>
            <a:pPr marL="152400" indent="-152400">
              <a:spcAft>
                <a:spcPts val="1000"/>
              </a:spcAft>
              <a:buSzPct val="100000"/>
              <a:buChar char="•"/>
            </a:pPr>
            <a:r>
              <a:rPr lang="en-US" sz="1250" dirty="0">
                <a:solidFill>
                  <a:srgbClr val="22301F"/>
                </a:solidFill>
                <a:latin typeface="Calibri" pitchFamily="34" charset="0"/>
                <a:ea typeface="Calibri" pitchFamily="34" charset="-122"/>
                <a:cs typeface="Calibri" pitchFamily="34" charset="-120"/>
              </a:rPr>
              <a:t>This is where identification concentrates: hour-one prices are not yet contaminated by survivorship</a:t>
            </a:r>
            <a:endParaRPr lang="en-US" sz="1250" dirty="0"/>
          </a:p>
        </p:txBody>
      </p:sp>
      <p:sp>
        <p:nvSpPr>
          <p:cNvPr id="11" name="Shape 8"/>
          <p:cNvSpPr/>
          <p:nvPr/>
        </p:nvSpPr>
        <p:spPr>
          <a:xfrm>
            <a:off x="6537960" y="1691640"/>
            <a:ext cx="5074920" cy="4206240"/>
          </a:xfrm>
          <a:prstGeom prst="roundRect">
            <a:avLst>
              <a:gd name="adj" fmla="val 1957"/>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858000" y="1938528"/>
            <a:ext cx="457200" cy="45720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976872" y="2057400"/>
            <a:ext cx="219456" cy="219456"/>
          </a:xfrm>
          <a:prstGeom prst="rect">
            <a:avLst/>
          </a:prstGeom>
        </p:spPr>
      </p:pic>
      <p:sp>
        <p:nvSpPr>
          <p:cNvPr id="14" name="Text 10"/>
          <p:cNvSpPr/>
          <p:nvPr/>
        </p:nvSpPr>
        <p:spPr>
          <a:xfrm>
            <a:off x="7452360" y="1956816"/>
            <a:ext cx="4023360" cy="420624"/>
          </a:xfrm>
          <a:prstGeom prst="rect">
            <a:avLst/>
          </a:prstGeom>
          <a:noFill/>
          <a:ln/>
        </p:spPr>
        <p:txBody>
          <a:bodyPr wrap="square" lIns="0" tIns="0" rIns="0" bIns="0"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HOURLY — fine, and monotone</a:t>
            </a:r>
            <a:endParaRPr lang="en-US" sz="1300" dirty="0"/>
          </a:p>
        </p:txBody>
      </p:sp>
      <p:sp>
        <p:nvSpPr>
          <p:cNvPr id="15" name="Text 11"/>
          <p:cNvSpPr/>
          <p:nvPr/>
        </p:nvSpPr>
        <p:spPr>
          <a:xfrm>
            <a:off x="6858000" y="2651760"/>
            <a:ext cx="1188720" cy="914400"/>
          </a:xfrm>
          <a:prstGeom prst="rect">
            <a:avLst/>
          </a:prstGeom>
          <a:noFill/>
          <a:ln/>
        </p:spPr>
        <p:txBody>
          <a:bodyPr wrap="square" lIns="0" tIns="0" rIns="0" bIns="0" rtlCol="0" anchor="ctr"/>
          <a:lstStyle/>
          <a:p>
            <a:pPr indent="0" marL="0">
              <a:buNone/>
            </a:pPr>
            <a:r>
              <a:rPr lang="en-US" sz="6000" b="1" dirty="0">
                <a:solidFill>
                  <a:srgbClr val="2C5F2D"/>
                </a:solidFill>
                <a:latin typeface="Cambria" pitchFamily="34" charset="0"/>
                <a:ea typeface="Cambria" pitchFamily="34" charset="-122"/>
                <a:cs typeface="Cambria" pitchFamily="34" charset="-120"/>
              </a:rPr>
              <a:t>↓</a:t>
            </a:r>
            <a:endParaRPr lang="en-US" sz="6000" dirty="0"/>
          </a:p>
        </p:txBody>
      </p:sp>
      <p:sp>
        <p:nvSpPr>
          <p:cNvPr id="16" name="Text 12"/>
          <p:cNvSpPr/>
          <p:nvPr/>
        </p:nvSpPr>
        <p:spPr>
          <a:xfrm>
            <a:off x="7863840" y="2743200"/>
            <a:ext cx="3657600" cy="914400"/>
          </a:xfrm>
          <a:prstGeom prst="rect">
            <a:avLst/>
          </a:prstGeom>
          <a:noFill/>
          <a:ln/>
        </p:spPr>
        <p:txBody>
          <a:bodyPr wrap="square" lIns="0" tIns="0" rIns="0" bIns="0" rtlCol="0" anchor="ctr"/>
          <a:lstStyle/>
          <a:p>
            <a:pPr indent="0" marL="0">
              <a:buNone/>
            </a:pPr>
            <a:r>
              <a:rPr lang="en-US" sz="1300" dirty="0">
                <a:solidFill>
                  <a:srgbClr val="22301F"/>
                </a:solidFill>
                <a:latin typeface="Calibri" pitchFamily="34" charset="0"/>
                <a:ea typeface="Calibri" pitchFamily="34" charset="-122"/>
                <a:cs typeface="Calibri" pitchFamily="34" charset="-120"/>
              </a:rPr>
              <a:t>Hold or deepen only — 2.5pp steps,</a:t>
            </a:r>
            <a:endParaRPr lang="en-US" sz="1300" dirty="0"/>
          </a:p>
          <a:p>
            <a:pPr indent="0" marL="0">
              <a:buNone/>
            </a:pPr>
            <a:r>
              <a:rPr lang="en-US" sz="1300" dirty="0">
                <a:solidFill>
                  <a:srgbClr val="22301F"/>
                </a:solidFill>
                <a:latin typeface="Calibri" pitchFamily="34" charset="0"/>
                <a:ea typeface="Calibri" pitchFamily="34" charset="-122"/>
                <a:cs typeface="Calibri" pitchFamily="34" charset="-120"/>
              </a:rPr>
              <a:t>every tier below the anchor, every hour</a:t>
            </a:r>
            <a:endParaRPr lang="en-US" sz="1300" dirty="0"/>
          </a:p>
        </p:txBody>
      </p:sp>
      <p:sp>
        <p:nvSpPr>
          <p:cNvPr id="17" name="Text 13"/>
          <p:cNvSpPr/>
          <p:nvPr/>
        </p:nvSpPr>
        <p:spPr>
          <a:xfrm>
            <a:off x="6858000" y="3794760"/>
            <a:ext cx="4526280" cy="1920240"/>
          </a:xfrm>
          <a:prstGeom prst="rect">
            <a:avLst/>
          </a:prstGeom>
          <a:noFill/>
          <a:ln/>
        </p:spPr>
        <p:txBody>
          <a:bodyPr wrap="square" lIns="0" tIns="0" rIns="0" bIns="0" rtlCol="0" anchor="t"/>
          <a:lstStyle/>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Actions may hold or deepen, never raise — encoded in the planner's state machine</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The deeper tiers are offered to the planner at every hour; it evaluates them and declines</a:t>
            </a:r>
            <a:endParaRPr lang="en-US" sz="1250" dirty="0"/>
          </a:p>
          <a:p>
            <a:pPr marL="152400" indent="-152400">
              <a:spcAft>
                <a:spcPts val="900"/>
              </a:spcAft>
              <a:buSzPct val="100000"/>
              <a:buChar char="•"/>
            </a:pPr>
            <a:r>
              <a:rPr lang="en-US" sz="1250" dirty="0">
                <a:solidFill>
                  <a:srgbClr val="22301F"/>
                </a:solidFill>
                <a:latin typeface="Calibri" pitchFamily="34" charset="0"/>
                <a:ea typeface="Calibri" pitchFamily="34" charset="-122"/>
                <a:cs typeface="Calibri" pitchFamily="34" charset="-120"/>
              </a:rPr>
              <a:t>Widening the grid changes nothing. The constraint is economic, not combinatorial — see the next slide</a:t>
            </a:r>
            <a:endParaRPr lang="en-US" sz="1250" dirty="0"/>
          </a:p>
        </p:txBody>
      </p:sp>
      <p:sp>
        <p:nvSpPr>
          <p:cNvPr id="18" name="Text 14"/>
          <p:cNvSpPr/>
          <p:nvPr/>
        </p:nvSpPr>
        <p:spPr>
          <a:xfrm>
            <a:off x="548640" y="6035040"/>
            <a:ext cx="11155680" cy="365760"/>
          </a:xfrm>
          <a:prstGeom prst="rect">
            <a:avLst/>
          </a:prstGeom>
          <a:noFill/>
          <a:ln/>
        </p:spPr>
        <p:txBody>
          <a:bodyPr wrap="square" lIns="0" tIns="0" rIns="0" bIns="0" rtlCol="0" anchor="ctr"/>
          <a:lstStyle/>
          <a:p>
            <a:pPr indent="0" marL="0">
              <a:buNone/>
            </a:pPr>
            <a:r>
              <a:rPr lang="en-US" sz="1300" i="1" dirty="0">
                <a:solidFill>
                  <a:srgbClr val="5F6B5C"/>
                </a:solidFill>
                <a:latin typeface="Calibri" pitchFamily="34" charset="0"/>
                <a:ea typeface="Calibri" pitchFamily="34" charset="-122"/>
                <a:cs typeface="Calibri" pitchFamily="34" charset="-120"/>
              </a:rPr>
              <a:t>Two decision points, two action sets, one solver — and the same exploration mechanism at both.</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24</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A CLOSED-FORM RESULT</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The system holds its entry price — and we can say exactly why</a:t>
            </a:r>
            <a:endParaRPr lang="en-US" sz="2900" dirty="0"/>
          </a:p>
        </p:txBody>
      </p:sp>
      <p:sp>
        <p:nvSpPr>
          <p:cNvPr id="6" name="Shape 4"/>
          <p:cNvSpPr/>
          <p:nvPr/>
        </p:nvSpPr>
        <p:spPr>
          <a:xfrm>
            <a:off x="548640" y="1645920"/>
            <a:ext cx="6035040" cy="2286000"/>
          </a:xfrm>
          <a:prstGeom prst="roundRect">
            <a:avLst>
              <a:gd name="adj" fmla="val 3600"/>
            </a:avLst>
          </a:prstGeom>
          <a:solidFill>
            <a:srgbClr val="EEF4E4"/>
          </a:solidFill>
          <a:ln/>
          <a:effectLst>
            <a:outerShdw sx="100000" sy="100000" kx="0" ky="0" algn="bl" rotWithShape="0" blurRad="76200" dist="25400" dir="5400000">
              <a:srgbClr val="3A4A36">
                <a:alpha val="18000"/>
              </a:srgbClr>
            </a:outerShdw>
          </a:effectLst>
        </p:spPr>
      </p:sp>
      <p:sp>
        <p:nvSpPr>
          <p:cNvPr id="7" name="Text 5"/>
          <p:cNvSpPr/>
          <p:nvPr/>
        </p:nvSpPr>
        <p:spPr>
          <a:xfrm>
            <a:off x="822960" y="1828800"/>
            <a:ext cx="5486400" cy="365760"/>
          </a:xfrm>
          <a:prstGeom prst="rect">
            <a:avLst/>
          </a:prstGeom>
          <a:noFill/>
          <a:ln/>
        </p:spPr>
        <p:txBody>
          <a:bodyPr wrap="square" lIns="0" tIns="0" rIns="0" bIns="0" rtlCol="0" anchor="ctr"/>
          <a:lstStyle/>
          <a:p>
            <a:pPr indent="0" marL="0">
              <a:buNone/>
            </a:pPr>
            <a:r>
              <a:rPr lang="en-US" sz="1300" b="1" dirty="0">
                <a:solidFill>
                  <a:srgbClr val="22301F"/>
                </a:solidFill>
                <a:latin typeface="Calibri" pitchFamily="34" charset="0"/>
                <a:ea typeface="Calibri" pitchFamily="34" charset="-122"/>
                <a:cs typeface="Calibri" pitchFamily="34" charset="-120"/>
              </a:rPr>
              <a:t>Deepening from discount d reduces Inventory Loss only when:</a:t>
            </a:r>
            <a:endParaRPr lang="en-US" sz="1300" dirty="0"/>
          </a:p>
        </p:txBody>
      </p:sp>
      <p:sp>
        <p:nvSpPr>
          <p:cNvPr id="8" name="Text 6"/>
          <p:cNvSpPr/>
          <p:nvPr/>
        </p:nvSpPr>
        <p:spPr>
          <a:xfrm>
            <a:off x="822960" y="2286000"/>
            <a:ext cx="5577840" cy="1463040"/>
          </a:xfrm>
          <a:prstGeom prst="rect">
            <a:avLst/>
          </a:prstGeom>
          <a:noFill/>
          <a:ln/>
        </p:spPr>
        <p:txBody>
          <a:bodyPr wrap="square" lIns="0" tIns="0" rIns="0" bIns="0" rtlCol="0" anchor="ctr"/>
          <a:lstStyle/>
          <a:p>
            <a:pPr indent="0" marL="0">
              <a:buNone/>
            </a:pPr>
            <a:r>
              <a:rPr lang="en-US" sz="1350" dirty="0">
                <a:solidFill>
                  <a:srgbClr val="22301F"/>
                </a:solidFill>
                <a:latin typeface="Courier New" pitchFamily="34" charset="0"/>
                <a:ea typeface="Courier New" pitchFamily="34" charset="-122"/>
                <a:cs typeface="Courier New" pitchFamily="34" charset="-120"/>
              </a:rPr>
              <a:t>|ε|  &gt;  (1 − d) / (γ − d)     γ = cost / price</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measured median bar   =   2.429</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elasticity in use     =   1.000</a:t>
            </a:r>
            <a:endParaRPr lang="en-US" sz="1350" dirty="0"/>
          </a:p>
        </p:txBody>
      </p:sp>
      <p:sp>
        <p:nvSpPr>
          <p:cNvPr id="9" name="Text 7"/>
          <p:cNvSpPr/>
          <p:nvPr/>
        </p:nvSpPr>
        <p:spPr>
          <a:xfrm>
            <a:off x="548640" y="4160520"/>
            <a:ext cx="6126480" cy="210312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Below that bar, the extra units a deeper price sells are worth less than the margin given away on the units that would have sold anyway. The planner evaluates every deeper tier each hour and declines all of them.</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This is not a missing feature and not a bug — it is the correct answer at the launch prior. Widening the action set cannot change it, and neither can a different prior: we re-ran the whole bootstrap at ε = −1.5 and the DP chose IDENTICAL prices (mean discount 0.1285 both, 0% deepened). Only the posterior crossing the bar can.</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The bar ignores censoring, which makes it optimistic — the true threshold is higher still. Expect enter-and-hold on day one, and brief the pilot on lower clearance and higher scrap. The −1.5 run also cost 26% on the learning rate (deff 3.347 → 4.204), so guessing a bigger ε buys nothing and slows the loop that would find the real one.</a:t>
            </a:r>
            <a:endParaRPr lang="en-US" sz="1200" dirty="0"/>
          </a:p>
        </p:txBody>
      </p:sp>
      <p:sp>
        <p:nvSpPr>
          <p:cNvPr id="10" name="Text 8"/>
          <p:cNvSpPr/>
          <p:nvPr/>
        </p:nvSpPr>
        <p:spPr>
          <a:xfrm>
            <a:off x="7040880" y="182880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0%</a:t>
            </a:r>
            <a:endParaRPr lang="en-US" sz="3800" dirty="0"/>
          </a:p>
        </p:txBody>
      </p:sp>
      <p:sp>
        <p:nvSpPr>
          <p:cNvPr id="11" name="Text 9"/>
          <p:cNvSpPr/>
          <p:nvPr/>
        </p:nvSpPr>
        <p:spPr>
          <a:xfrm>
            <a:off x="7040880" y="248716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of replayed episodes clear the deepening bar at the launch prior</a:t>
            </a:r>
            <a:endParaRPr lang="en-US" sz="1100" dirty="0"/>
          </a:p>
        </p:txBody>
      </p:sp>
      <p:sp>
        <p:nvSpPr>
          <p:cNvPr id="12" name="Text 10"/>
          <p:cNvSpPr/>
          <p:nvPr/>
        </p:nvSpPr>
        <p:spPr>
          <a:xfrm>
            <a:off x="7040880" y="324612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2.429</a:t>
            </a:r>
            <a:endParaRPr lang="en-US" sz="3800" dirty="0"/>
          </a:p>
        </p:txBody>
      </p:sp>
      <p:sp>
        <p:nvSpPr>
          <p:cNvPr id="13" name="Text 11"/>
          <p:cNvSpPr/>
          <p:nvPr/>
        </p:nvSpPr>
        <p:spPr>
          <a:xfrm>
            <a:off x="7040880" y="390448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median |ε| required before a deeper price pays for itself</a:t>
            </a:r>
            <a:endParaRPr lang="en-US" sz="1100" dirty="0"/>
          </a:p>
        </p:txBody>
      </p:sp>
      <p:sp>
        <p:nvSpPr>
          <p:cNvPr id="14" name="Text 12"/>
          <p:cNvSpPr/>
          <p:nvPr/>
        </p:nvSpPr>
        <p:spPr>
          <a:xfrm>
            <a:off x="7040880" y="4663440"/>
            <a:ext cx="4389120" cy="658368"/>
          </a:xfrm>
          <a:prstGeom prst="rect">
            <a:avLst/>
          </a:prstGeom>
          <a:noFill/>
          <a:ln/>
        </p:spPr>
        <p:txBody>
          <a:bodyPr wrap="square" lIns="0" tIns="0" rIns="0" bIns="0"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−38.0%</a:t>
            </a:r>
            <a:endParaRPr lang="en-US" sz="3200" dirty="0"/>
          </a:p>
        </p:txBody>
      </p:sp>
      <p:sp>
        <p:nvSpPr>
          <p:cNvPr id="15" name="Text 13"/>
          <p:cNvSpPr/>
          <p:nvPr/>
        </p:nvSpPr>
        <p:spPr>
          <a:xfrm>
            <a:off x="7040880" y="532180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Inventory Loss versus legacy regardless — the win comes from not over-discounting, not from clearing more</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25</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EXPLORATION</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A P&amp;L line item, uniformly randomized</a:t>
            </a:r>
            <a:endParaRPr lang="en-US" sz="2900" dirty="0"/>
          </a:p>
        </p:txBody>
      </p:sp>
      <p:sp>
        <p:nvSpPr>
          <p:cNvPr id="6" name="Shape 4"/>
          <p:cNvSpPr/>
          <p:nvPr/>
        </p:nvSpPr>
        <p:spPr>
          <a:xfrm>
            <a:off x="548640" y="1645920"/>
            <a:ext cx="6035040" cy="2286000"/>
          </a:xfrm>
          <a:prstGeom prst="roundRect">
            <a:avLst>
              <a:gd name="adj" fmla="val 3600"/>
            </a:avLst>
          </a:prstGeom>
          <a:solidFill>
            <a:srgbClr val="EEF4E4"/>
          </a:solidFill>
          <a:ln/>
          <a:effectLst>
            <a:outerShdw sx="100000" sy="100000" kx="0" ky="0" algn="bl" rotWithShape="0" blurRad="76200" dist="25400" dir="5400000">
              <a:srgbClr val="3A4A36">
                <a:alpha val="18000"/>
              </a:srgbClr>
            </a:outerShdw>
          </a:effectLst>
        </p:spPr>
      </p:sp>
      <p:sp>
        <p:nvSpPr>
          <p:cNvPr id="7" name="Text 5"/>
          <p:cNvSpPr/>
          <p:nvPr/>
        </p:nvSpPr>
        <p:spPr>
          <a:xfrm>
            <a:off x="822960" y="1828800"/>
            <a:ext cx="5486400" cy="365760"/>
          </a:xfrm>
          <a:prstGeom prst="rect">
            <a:avLst/>
          </a:prstGeom>
          <a:noFill/>
          <a:ln/>
        </p:spPr>
        <p:txBody>
          <a:bodyPr wrap="square" lIns="0" tIns="0" rIns="0" bIns="0" rtlCol="0" anchor="ctr"/>
          <a:lstStyle/>
          <a:p>
            <a:pPr indent="0" marL="0">
              <a:buNone/>
            </a:pPr>
            <a:r>
              <a:rPr lang="en-US" sz="1300" b="1" dirty="0">
                <a:solidFill>
                  <a:srgbClr val="22301F"/>
                </a:solidFill>
                <a:latin typeface="Calibri" pitchFamily="34" charset="0"/>
                <a:ea typeface="Calibri" pitchFamily="34" charset="-122"/>
                <a:cs typeface="Calibri" pitchFamily="34" charset="-120"/>
              </a:rPr>
              <a:t>The planner already prices every tier — exploration is a costed selection:</a:t>
            </a:r>
            <a:endParaRPr lang="en-US" sz="1300" dirty="0"/>
          </a:p>
        </p:txBody>
      </p:sp>
      <p:sp>
        <p:nvSpPr>
          <p:cNvPr id="8" name="Text 6"/>
          <p:cNvSpPr/>
          <p:nvPr/>
        </p:nvSpPr>
        <p:spPr>
          <a:xfrm>
            <a:off x="822960" y="2286000"/>
            <a:ext cx="5577840" cy="1463040"/>
          </a:xfrm>
          <a:prstGeom prst="rect">
            <a:avLst/>
          </a:prstGeom>
          <a:noFill/>
          <a:ln/>
        </p:spPr>
        <p:txBody>
          <a:bodyPr wrap="square" lIns="0" tIns="0" rIns="0" bIns="0" rtlCol="0" anchor="ctr"/>
          <a:lstStyle/>
          <a:p>
            <a:pPr indent="0" marL="0">
              <a:buNone/>
            </a:pPr>
            <a:r>
              <a:rPr lang="en-US" sz="1350" dirty="0">
                <a:solidFill>
                  <a:srgbClr val="22301F"/>
                </a:solidFill>
                <a:latin typeface="Courier New" pitchFamily="34" charset="0"/>
                <a:ea typeface="Courier New" pitchFamily="34" charset="-122"/>
                <a:cs typeface="Courier New" pitchFamily="34" charset="-120"/>
              </a:rPr>
              <a:t>cost(p)     =  Q(p*) − Q(p)     ← ₩ given up</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affordable  =  { p ≠ p* :  cost(p) ≤ τ }</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applied     =  UNIFORM draw from affordable</a:t>
            </a:r>
            <a:endParaRPr lang="en-US" sz="1350" dirty="0"/>
          </a:p>
        </p:txBody>
      </p:sp>
      <p:sp>
        <p:nvSpPr>
          <p:cNvPr id="9" name="Text 7"/>
          <p:cNvSpPr/>
          <p:nvPr/>
        </p:nvSpPr>
        <p:spPr>
          <a:xfrm>
            <a:off x="548640" y="4160520"/>
            <a:ext cx="6126480" cy="210312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Uniformity is the point — it is the randomization that makes outcomes causal evidence. Any “smarter” state-dependent choice reintroduces the bias that poisoned our history.</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No exploration probabilities anywhere. The budget is a business-approved line: 1% of markdown IL/day, shrinking (never below 25%) as beliefs converge — so drift stays detectable forever.</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Information about ε and the IL cost of a perturbation both scale as mu × (log price ratio)² — information per won is constant. There is no clever targeting to do, only a budget to respect.</a:t>
            </a:r>
            <a:endParaRPr lang="en-US" sz="1200" dirty="0"/>
          </a:p>
        </p:txBody>
      </p:sp>
      <p:sp>
        <p:nvSpPr>
          <p:cNvPr id="10" name="Text 8"/>
          <p:cNvSpPr/>
          <p:nvPr/>
        </p:nvSpPr>
        <p:spPr>
          <a:xfrm>
            <a:off x="7040880" y="182880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1% of IL</a:t>
            </a:r>
            <a:endParaRPr lang="en-US" sz="3800" dirty="0"/>
          </a:p>
        </p:txBody>
      </p:sp>
      <p:sp>
        <p:nvSpPr>
          <p:cNvPr id="11" name="Text 9"/>
          <p:cNvSpPr/>
          <p:nvPr/>
        </p:nvSpPr>
        <p:spPr>
          <a:xfrm>
            <a:off x="7040880" y="248716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daily exploration budget — the price of learning, approved as a line item</a:t>
            </a:r>
            <a:endParaRPr lang="en-US" sz="1100" dirty="0"/>
          </a:p>
        </p:txBody>
      </p:sp>
      <p:sp>
        <p:nvSpPr>
          <p:cNvPr id="12" name="Text 10"/>
          <p:cNvSpPr/>
          <p:nvPr/>
        </p:nvSpPr>
        <p:spPr>
          <a:xfrm>
            <a:off x="7040880" y="324612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₩447.78</a:t>
            </a:r>
            <a:endParaRPr lang="en-US" sz="3800" dirty="0"/>
          </a:p>
        </p:txBody>
      </p:sp>
      <p:sp>
        <p:nvSpPr>
          <p:cNvPr id="13" name="Text 11"/>
          <p:cNvSpPr/>
          <p:nvPr/>
        </p:nvSpPr>
        <p:spPr>
          <a:xfrm>
            <a:off x="7040880" y="390448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starting threshold τ, derived from the gate-passing backtest and self-calibrating daily</a:t>
            </a:r>
            <a:endParaRPr lang="en-US" sz="1100" dirty="0"/>
          </a:p>
        </p:txBody>
      </p:sp>
      <p:sp>
        <p:nvSpPr>
          <p:cNvPr id="14" name="Text 12"/>
          <p:cNvSpPr/>
          <p:nvPr/>
        </p:nvSpPr>
        <p:spPr>
          <a:xfrm>
            <a:off x="7040880" y="4663440"/>
            <a:ext cx="4389120" cy="658368"/>
          </a:xfrm>
          <a:prstGeom prst="rect">
            <a:avLst/>
          </a:prstGeom>
          <a:noFill/>
          <a:ln/>
        </p:spPr>
        <p:txBody>
          <a:bodyPr wrap="square" lIns="0" tIns="0" rIns="0" bIns="0"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₩1,476 / day</a:t>
            </a:r>
            <a:endParaRPr lang="en-US" sz="3200" dirty="0"/>
          </a:p>
        </p:txBody>
      </p:sp>
      <p:sp>
        <p:nvSpPr>
          <p:cNvPr id="15" name="Text 13"/>
          <p:cNvSpPr/>
          <p:nvPr/>
        </p:nvSpPr>
        <p:spPr>
          <a:xfrm>
            <a:off x="7040880" y="532180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implied spend against a ₩1,475/day budget — the derivation lands on target by construction</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26</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EXPLORATION MECHANICS</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τ — one number, denominated in won, that tunes itself</a:t>
            </a:r>
            <a:endParaRPr lang="en-US" sz="2900" dirty="0"/>
          </a:p>
        </p:txBody>
      </p:sp>
      <p:sp>
        <p:nvSpPr>
          <p:cNvPr id="6" name="Shape 4"/>
          <p:cNvSpPr/>
          <p:nvPr/>
        </p:nvSpPr>
        <p:spPr>
          <a:xfrm>
            <a:off x="548640" y="1645920"/>
            <a:ext cx="6035040" cy="2286000"/>
          </a:xfrm>
          <a:prstGeom prst="roundRect">
            <a:avLst>
              <a:gd name="adj" fmla="val 3600"/>
            </a:avLst>
          </a:prstGeom>
          <a:solidFill>
            <a:srgbClr val="EEF4E4"/>
          </a:solidFill>
          <a:ln/>
          <a:effectLst>
            <a:outerShdw sx="100000" sy="100000" kx="0" ky="0" algn="bl" rotWithShape="0" blurRad="76200" dist="25400" dir="5400000">
              <a:srgbClr val="3A4A36">
                <a:alpha val="18000"/>
              </a:srgbClr>
            </a:outerShdw>
          </a:effectLst>
        </p:spPr>
      </p:sp>
      <p:sp>
        <p:nvSpPr>
          <p:cNvPr id="7" name="Text 5"/>
          <p:cNvSpPr/>
          <p:nvPr/>
        </p:nvSpPr>
        <p:spPr>
          <a:xfrm>
            <a:off x="822960" y="1828800"/>
            <a:ext cx="5486400" cy="365760"/>
          </a:xfrm>
          <a:prstGeom prst="rect">
            <a:avLst/>
          </a:prstGeom>
          <a:noFill/>
          <a:ln/>
        </p:spPr>
        <p:txBody>
          <a:bodyPr wrap="square" lIns="0" tIns="0" rIns="0" bIns="0" rtlCol="0" anchor="ctr"/>
          <a:lstStyle/>
          <a:p>
            <a:pPr indent="0" marL="0">
              <a:buNone/>
            </a:pPr>
            <a:r>
              <a:rPr lang="en-US" sz="1300" b="1" dirty="0">
                <a:solidFill>
                  <a:srgbClr val="22301F"/>
                </a:solidFill>
                <a:latin typeface="Calibri" pitchFamily="34" charset="0"/>
                <a:ea typeface="Calibri" pitchFamily="34" charset="-122"/>
                <a:cs typeface="Calibri" pitchFamily="34" charset="-120"/>
              </a:rPr>
              <a:t>τ is derived, not chosen — then corrects itself daily:</a:t>
            </a:r>
            <a:endParaRPr lang="en-US" sz="1300" dirty="0"/>
          </a:p>
        </p:txBody>
      </p:sp>
      <p:sp>
        <p:nvSpPr>
          <p:cNvPr id="8" name="Text 6"/>
          <p:cNvSpPr/>
          <p:nvPr/>
        </p:nvSpPr>
        <p:spPr>
          <a:xfrm>
            <a:off x="822960" y="2286000"/>
            <a:ext cx="5577840" cy="1463040"/>
          </a:xfrm>
          <a:prstGeom prst="rect">
            <a:avLst/>
          </a:prstGeom>
          <a:noFill/>
          <a:ln/>
        </p:spPr>
        <p:txBody>
          <a:bodyPr wrap="square" lIns="0" tIns="0" rIns="0" bIns="0" rtlCol="0" anchor="ctr"/>
          <a:lstStyle/>
          <a:p>
            <a:pPr indent="0" marL="0">
              <a:buNone/>
            </a:pPr>
            <a:r>
              <a:rPr lang="en-US" sz="1350" dirty="0">
                <a:solidFill>
                  <a:srgbClr val="22301F"/>
                </a:solidFill>
                <a:latin typeface="Courier New" pitchFamily="34" charset="0"/>
                <a:ea typeface="Courier New" pitchFamily="34" charset="-122"/>
                <a:cs typeface="Courier New" pitchFamily="34" charset="-120"/>
              </a:rPr>
              <a:t>τ₀     :  bisect until spend = 1% of daily IL</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afford :  { p : Q(p*) − Q(p) ≤ τ } → uniform</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τ_next =  τ × clip(budget ÷ spend, 0.5, 2.0)</a:t>
            </a:r>
            <a:endParaRPr lang="en-US" sz="1350" dirty="0"/>
          </a:p>
        </p:txBody>
      </p:sp>
      <p:sp>
        <p:nvSpPr>
          <p:cNvPr id="9" name="Text 7"/>
          <p:cNvSpPr/>
          <p:nvPr/>
        </p:nvSpPr>
        <p:spPr>
          <a:xfrm>
            <a:off x="548640" y="4160520"/>
            <a:ext cx="6126480" cy="210312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The cost of every experiment comes free from the planner. It has already computed Q for every tier, so the price of deviating is a subtraction — not an estimate, not an assumption.</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Where the planner is confident the Q-curve is steep, nothing is affordable and no perturbation happens. Where it is nearly indifferent, experiments are cheap and frequent. Exploration self-targets the informative region with no state-dependent logic at all.</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The daily budget shrinks as the posterior tightens, but never below a quarter — so a converged system keeps watching for drift instead of going quietly stale.</a:t>
            </a:r>
            <a:endParaRPr lang="en-US" sz="1200" dirty="0"/>
          </a:p>
        </p:txBody>
      </p:sp>
      <p:sp>
        <p:nvSpPr>
          <p:cNvPr id="10" name="Text 8"/>
          <p:cNvSpPr/>
          <p:nvPr/>
        </p:nvSpPr>
        <p:spPr>
          <a:xfrm>
            <a:off x="7040880" y="182880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₩447.78</a:t>
            </a:r>
            <a:endParaRPr lang="en-US" sz="3800" dirty="0"/>
          </a:p>
        </p:txBody>
      </p:sp>
      <p:sp>
        <p:nvSpPr>
          <p:cNvPr id="11" name="Text 9"/>
          <p:cNvSpPr/>
          <p:nvPr/>
        </p:nvSpPr>
        <p:spPr>
          <a:xfrm>
            <a:off x="7040880" y="248716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the derived starting threshold — the Q-spread quantile whose implied daily spend matches the 1%-of-IL budget</a:t>
            </a:r>
            <a:endParaRPr lang="en-US" sz="1100" dirty="0"/>
          </a:p>
        </p:txBody>
      </p:sp>
      <p:sp>
        <p:nvSpPr>
          <p:cNvPr id="12" name="Text 10"/>
          <p:cNvSpPr/>
          <p:nvPr/>
        </p:nvSpPr>
        <p:spPr>
          <a:xfrm>
            <a:off x="7040880" y="324612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43.4%</a:t>
            </a:r>
            <a:endParaRPr lang="en-US" sz="3800" dirty="0"/>
          </a:p>
        </p:txBody>
      </p:sp>
      <p:sp>
        <p:nvSpPr>
          <p:cNvPr id="13" name="Text 11"/>
          <p:cNvSpPr/>
          <p:nvPr/>
        </p:nvSpPr>
        <p:spPr>
          <a:xfrm>
            <a:off x="7040880" y="390448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of shadow decisions would have been forced, measured before any price was applied</a:t>
            </a:r>
            <a:endParaRPr lang="en-US" sz="1100" dirty="0"/>
          </a:p>
        </p:txBody>
      </p:sp>
      <p:sp>
        <p:nvSpPr>
          <p:cNvPr id="14" name="Text 12"/>
          <p:cNvSpPr/>
          <p:nvPr/>
        </p:nvSpPr>
        <p:spPr>
          <a:xfrm>
            <a:off x="7040880" y="4663440"/>
            <a:ext cx="4389120" cy="658368"/>
          </a:xfrm>
          <a:prstGeom prst="rect">
            <a:avLst/>
          </a:prstGeom>
          <a:noFill/>
          <a:ln/>
        </p:spPr>
        <p:txBody>
          <a:bodyPr wrap="square" lIns="0" tIns="0" rIns="0" bIns="0"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0.5 – 2.0×</a:t>
            </a:r>
            <a:endParaRPr lang="en-US" sz="3200" dirty="0"/>
          </a:p>
        </p:txBody>
      </p:sp>
      <p:sp>
        <p:nvSpPr>
          <p:cNvPr id="15" name="Text 13"/>
          <p:cNvSpPr/>
          <p:nvPr/>
        </p:nvSpPr>
        <p:spPr>
          <a:xfrm>
            <a:off x="7040880" y="532180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the most τ can move in a day, so one anomalous day cannot run away with the budget</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27</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LEARNING</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Censored, deflated, bounded, human-gated</a:t>
            </a:r>
            <a:endParaRPr lang="en-US" sz="2900" dirty="0"/>
          </a:p>
        </p:txBody>
      </p:sp>
      <p:sp>
        <p:nvSpPr>
          <p:cNvPr id="6" name="Shape 4"/>
          <p:cNvSpPr/>
          <p:nvPr/>
        </p:nvSpPr>
        <p:spPr>
          <a:xfrm>
            <a:off x="594360" y="1965960"/>
            <a:ext cx="457200" cy="457200"/>
          </a:xfrm>
          <a:prstGeom prst="ellipse">
            <a:avLst/>
          </a:prstGeom>
          <a:solidFill>
            <a:srgbClr val="2C5F2D"/>
          </a:solidFill>
          <a:ln/>
        </p:spPr>
      </p:sp>
      <p:pic>
        <p:nvPicPr>
          <p:cNvPr id="7" name="Image 0" descr="preencoded.png">    </p:cNvPr>
          <p:cNvPicPr>
            <a:picLocks noChangeAspect="1"/>
          </p:cNvPicPr>
          <p:nvPr/>
        </p:nvPicPr>
        <p:blipFill>
          <a:blip r:embed="rId1"/>
          <a:stretch>
            <a:fillRect/>
          </a:stretch>
        </p:blipFill>
        <p:spPr>
          <a:xfrm>
            <a:off x="713232" y="2084832"/>
            <a:ext cx="219456" cy="219456"/>
          </a:xfrm>
          <a:prstGeom prst="rect">
            <a:avLst/>
          </a:prstGeom>
        </p:spPr>
      </p:pic>
      <p:sp>
        <p:nvSpPr>
          <p:cNvPr id="8" name="Text 5"/>
          <p:cNvSpPr/>
          <p:nvPr/>
        </p:nvSpPr>
        <p:spPr>
          <a:xfrm>
            <a:off x="1280160" y="1645920"/>
            <a:ext cx="3931920" cy="109728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Only randomized outcomes teach</a:t>
            </a:r>
            <a:endParaRPr lang="en-US" sz="1350" dirty="0"/>
          </a:p>
        </p:txBody>
      </p:sp>
      <p:sp>
        <p:nvSpPr>
          <p:cNvPr id="9" name="Text 6"/>
          <p:cNvSpPr/>
          <p:nvPr/>
        </p:nvSpPr>
        <p:spPr>
          <a:xfrm>
            <a:off x="5349240" y="1645920"/>
            <a:ext cx="6309360" cy="10972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Exploitation prices are chosen by the posterior — learning from them feeds the model its own beliefs. Shadow-phase outcomes are likewise structurally ineligible.</a:t>
            </a:r>
            <a:endParaRPr lang="en-US" sz="1100" dirty="0"/>
          </a:p>
        </p:txBody>
      </p:sp>
      <p:sp>
        <p:nvSpPr>
          <p:cNvPr id="10" name="Shape 7"/>
          <p:cNvSpPr/>
          <p:nvPr/>
        </p:nvSpPr>
        <p:spPr>
          <a:xfrm>
            <a:off x="594360" y="3136392"/>
            <a:ext cx="457200" cy="457200"/>
          </a:xfrm>
          <a:prstGeom prst="ellipse">
            <a:avLst/>
          </a:prstGeom>
          <a:solidFill>
            <a:srgbClr val="2C5F2D"/>
          </a:solidFill>
          <a:ln/>
        </p:spPr>
      </p:sp>
      <p:pic>
        <p:nvPicPr>
          <p:cNvPr id="11" name="Image 1" descr="preencoded.png">    </p:cNvPr>
          <p:cNvPicPr>
            <a:picLocks noChangeAspect="1"/>
          </p:cNvPicPr>
          <p:nvPr/>
        </p:nvPicPr>
        <p:blipFill>
          <a:blip r:embed="rId2"/>
          <a:stretch>
            <a:fillRect/>
          </a:stretch>
        </p:blipFill>
        <p:spPr>
          <a:xfrm>
            <a:off x="713232" y="3255264"/>
            <a:ext cx="219456" cy="219456"/>
          </a:xfrm>
          <a:prstGeom prst="rect">
            <a:avLst/>
          </a:prstGeom>
        </p:spPr>
      </p:pic>
      <p:sp>
        <p:nvSpPr>
          <p:cNvPr id="12" name="Text 8"/>
          <p:cNvSpPr/>
          <p:nvPr/>
        </p:nvSpPr>
        <p:spPr>
          <a:xfrm>
            <a:off x="1280160" y="2816352"/>
            <a:ext cx="3931920" cy="109728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Stockouts are lower bounds, not counts</a:t>
            </a:r>
            <a:endParaRPr lang="en-US" sz="1350" dirty="0"/>
          </a:p>
        </p:txBody>
      </p:sp>
      <p:sp>
        <p:nvSpPr>
          <p:cNvPr id="13" name="Text 9"/>
          <p:cNvSpPr/>
          <p:nvPr/>
        </p:nvSpPr>
        <p:spPr>
          <a:xfrm>
            <a:off x="5349240" y="2816352"/>
            <a:ext cx="6309360" cy="10972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“Sold 2 of 2” means demand ≥ 2. It enters as a survival probability; treating it as exact would understate elasticity exactly where stockouts concentrate — at deep discounts. Zero-sale hours are kept: they carry the shallow-discount signal.</a:t>
            </a:r>
            <a:endParaRPr lang="en-US" sz="1100" dirty="0"/>
          </a:p>
        </p:txBody>
      </p:sp>
      <p:sp>
        <p:nvSpPr>
          <p:cNvPr id="14" name="Shape 10"/>
          <p:cNvSpPr/>
          <p:nvPr/>
        </p:nvSpPr>
        <p:spPr>
          <a:xfrm>
            <a:off x="594360" y="4306824"/>
            <a:ext cx="457200" cy="457200"/>
          </a:xfrm>
          <a:prstGeom prst="ellipse">
            <a:avLst/>
          </a:prstGeom>
          <a:solidFill>
            <a:srgbClr val="2C5F2D"/>
          </a:solidFill>
          <a:ln/>
        </p:spPr>
      </p:sp>
      <p:pic>
        <p:nvPicPr>
          <p:cNvPr id="15" name="Image 2" descr="preencoded.png">    </p:cNvPr>
          <p:cNvPicPr>
            <a:picLocks noChangeAspect="1"/>
          </p:cNvPicPr>
          <p:nvPr/>
        </p:nvPicPr>
        <p:blipFill>
          <a:blip r:embed="rId3"/>
          <a:stretch>
            <a:fillRect/>
          </a:stretch>
        </p:blipFill>
        <p:spPr>
          <a:xfrm>
            <a:off x="713232" y="4425696"/>
            <a:ext cx="219456" cy="219456"/>
          </a:xfrm>
          <a:prstGeom prst="rect">
            <a:avLst/>
          </a:prstGeom>
        </p:spPr>
      </p:pic>
      <p:sp>
        <p:nvSpPr>
          <p:cNvPr id="16" name="Text 11"/>
          <p:cNvSpPr/>
          <p:nvPr/>
        </p:nvSpPr>
        <p:spPr>
          <a:xfrm>
            <a:off x="1280160" y="3986784"/>
            <a:ext cx="3931920" cy="109728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Correlated hours are deflated ÷ 3.347</a:t>
            </a:r>
            <a:endParaRPr lang="en-US" sz="1350" dirty="0"/>
          </a:p>
        </p:txBody>
      </p:sp>
      <p:sp>
        <p:nvSpPr>
          <p:cNvPr id="17" name="Text 12"/>
          <p:cNvSpPr/>
          <p:nvPr/>
        </p:nvSpPr>
        <p:spPr>
          <a:xfrm>
            <a:off x="5349240" y="3986784"/>
            <a:ext cx="6309360" cy="10972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Hours in an episode share one inventory pool and one demand shock. Counted as independent, the system would declare convergence three-and-a-half times too early. deff = 1 + (forced hours − 1) × ρ — every input fitted against the model's own residuals, and start-up refuses to run if config drifts from the frozen artifact.</a:t>
            </a:r>
            <a:endParaRPr lang="en-US" sz="1100" dirty="0"/>
          </a:p>
        </p:txBody>
      </p:sp>
      <p:sp>
        <p:nvSpPr>
          <p:cNvPr id="18" name="Shape 13"/>
          <p:cNvSpPr/>
          <p:nvPr/>
        </p:nvSpPr>
        <p:spPr>
          <a:xfrm>
            <a:off x="594360" y="5477256"/>
            <a:ext cx="457200" cy="457200"/>
          </a:xfrm>
          <a:prstGeom prst="ellipse">
            <a:avLst/>
          </a:prstGeom>
          <a:solidFill>
            <a:srgbClr val="C8901A"/>
          </a:solidFill>
          <a:ln/>
        </p:spPr>
      </p:sp>
      <p:pic>
        <p:nvPicPr>
          <p:cNvPr id="19" name="Image 3" descr="preencoded.png">    </p:cNvPr>
          <p:cNvPicPr>
            <a:picLocks noChangeAspect="1"/>
          </p:cNvPicPr>
          <p:nvPr/>
        </p:nvPicPr>
        <p:blipFill>
          <a:blip r:embed="rId4"/>
          <a:stretch>
            <a:fillRect/>
          </a:stretch>
        </p:blipFill>
        <p:spPr>
          <a:xfrm>
            <a:off x="713232" y="5596128"/>
            <a:ext cx="219456" cy="219456"/>
          </a:xfrm>
          <a:prstGeom prst="rect">
            <a:avLst/>
          </a:prstGeom>
        </p:spPr>
      </p:pic>
      <p:sp>
        <p:nvSpPr>
          <p:cNvPr id="20" name="Text 14"/>
          <p:cNvSpPr/>
          <p:nvPr/>
        </p:nvSpPr>
        <p:spPr>
          <a:xfrm>
            <a:off x="1280160" y="5157216"/>
            <a:ext cx="3931920" cy="109728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Bounded steps behind a daily human gate</a:t>
            </a:r>
            <a:endParaRPr lang="en-US" sz="1350" dirty="0"/>
          </a:p>
        </p:txBody>
      </p:sp>
      <p:sp>
        <p:nvSpPr>
          <p:cNvPr id="21" name="Text 15"/>
          <p:cNvSpPr/>
          <p:nvPr/>
        </p:nvSpPr>
        <p:spPr>
          <a:xfrm>
            <a:off x="5349240" y="5157216"/>
            <a:ext cx="6309360" cy="10972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Each update moves the mean ≤ 0.15 and shrinks uncertainty ≤ 25% — no single batch can destroy beliefs. A human approves each day’s step, and the apply command refuses while event-quality gates fail. Automation criteria come later, from observed behaviour.</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28</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LEARNING MECHANICS</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Two kinds of hour a naive likelihood gets wrong</a:t>
            </a:r>
            <a:endParaRPr lang="en-US" sz="2900" dirty="0"/>
          </a:p>
        </p:txBody>
      </p:sp>
      <p:sp>
        <p:nvSpPr>
          <p:cNvPr id="6" name="Shape 4"/>
          <p:cNvSpPr/>
          <p:nvPr/>
        </p:nvSpPr>
        <p:spPr>
          <a:xfrm>
            <a:off x="548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7" name="Shape 5"/>
          <p:cNvSpPr/>
          <p:nvPr/>
        </p:nvSpPr>
        <p:spPr>
          <a:xfrm>
            <a:off x="868680" y="1920240"/>
            <a:ext cx="502920" cy="502920"/>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99439" y="2050999"/>
            <a:ext cx="241402" cy="241402"/>
          </a:xfrm>
          <a:prstGeom prst="rect">
            <a:avLst/>
          </a:prstGeom>
        </p:spPr>
      </p:pic>
      <p:sp>
        <p:nvSpPr>
          <p:cNvPr id="9" name="Text 6"/>
          <p:cNvSpPr/>
          <p:nvPr/>
        </p:nvSpPr>
        <p:spPr>
          <a:xfrm>
            <a:off x="1554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Zero sales are data, not gaps</a:t>
            </a:r>
            <a:endParaRPr lang="en-US" sz="1700" dirty="0"/>
          </a:p>
        </p:txBody>
      </p:sp>
      <p:sp>
        <p:nvSpPr>
          <p:cNvPr id="10" name="Text 7"/>
          <p:cNvSpPr/>
          <p:nvPr/>
        </p:nvSpPr>
        <p:spPr>
          <a:xfrm>
            <a:off x="868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About three quarters of selling hours record no sale at all.</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The negative binomial carries an exact P(D = 0) term, so a zero at a deep discount is strong evidence about ε.</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Dropping or special-casing zeros would discard most of the dataset and bias the estimate toward the busiest hours.</a:t>
            </a:r>
            <a:endParaRPr lang="en-US" sz="1250" dirty="0"/>
          </a:p>
        </p:txBody>
      </p:sp>
      <p:sp>
        <p:nvSpPr>
          <p:cNvPr id="11" name="Shape 8"/>
          <p:cNvSpPr/>
          <p:nvPr/>
        </p:nvSpPr>
        <p:spPr>
          <a:xfrm>
            <a:off x="6263640" y="1645920"/>
            <a:ext cx="5486400" cy="3291840"/>
          </a:xfrm>
          <a:prstGeom prst="roundRect">
            <a:avLst>
              <a:gd name="adj" fmla="val 2500"/>
            </a:avLst>
          </a:prstGeom>
          <a:solidFill>
            <a:srgbClr val="EEF4E4"/>
          </a:solidFill>
          <a:ln/>
          <a:effectLst>
            <a:outerShdw sx="100000" sy="100000" kx="0" ky="0" algn="bl" rotWithShape="0" blurRad="76200" dist="25400" dir="5400000">
              <a:srgbClr val="3A4A36">
                <a:alpha val="18000"/>
              </a:srgbClr>
            </a:outerShdw>
          </a:effectLst>
        </p:spPr>
      </p:sp>
      <p:sp>
        <p:nvSpPr>
          <p:cNvPr id="12" name="Shape 9"/>
          <p:cNvSpPr/>
          <p:nvPr/>
        </p:nvSpPr>
        <p:spPr>
          <a:xfrm>
            <a:off x="6583680" y="1920240"/>
            <a:ext cx="502920" cy="502920"/>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714439" y="2050999"/>
            <a:ext cx="241402" cy="241402"/>
          </a:xfrm>
          <a:prstGeom prst="rect">
            <a:avLst/>
          </a:prstGeom>
        </p:spPr>
      </p:pic>
      <p:sp>
        <p:nvSpPr>
          <p:cNvPr id="14" name="Text 10"/>
          <p:cNvSpPr/>
          <p:nvPr/>
        </p:nvSpPr>
        <p:spPr>
          <a:xfrm>
            <a:off x="7269480" y="1938528"/>
            <a:ext cx="4206240" cy="457200"/>
          </a:xfrm>
          <a:prstGeom prst="rect">
            <a:avLst/>
          </a:prstGeom>
          <a:noFill/>
          <a:ln/>
        </p:spPr>
        <p:txBody>
          <a:bodyPr wrap="square" lIns="0" tIns="0" rIns="0" bIns="0" rtlCol="0" anchor="ctr"/>
          <a:lstStyle/>
          <a:p>
            <a:pPr indent="0" marL="0">
              <a:buNone/>
            </a:pPr>
            <a:r>
              <a:rPr lang="en-US" sz="1700" b="1" dirty="0">
                <a:solidFill>
                  <a:srgbClr val="22301F"/>
                </a:solidFill>
                <a:latin typeface="Cambria" pitchFamily="34" charset="0"/>
                <a:ea typeface="Cambria" pitchFamily="34" charset="-122"/>
                <a:cs typeface="Cambria" pitchFamily="34" charset="-120"/>
              </a:rPr>
              <a:t>Stockouts are bounds, not counts</a:t>
            </a:r>
            <a:endParaRPr lang="en-US" sz="1700" dirty="0"/>
          </a:p>
        </p:txBody>
      </p:sp>
      <p:sp>
        <p:nvSpPr>
          <p:cNvPr id="15" name="Text 11"/>
          <p:cNvSpPr/>
          <p:nvPr/>
        </p:nvSpPr>
        <p:spPr>
          <a:xfrm>
            <a:off x="6583680" y="2606040"/>
            <a:ext cx="4937760" cy="21945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“Sold 2 of 2” means demand was at least two — the hour is censored, not observed.</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It enters the likelihood as a survival probability, never as an exact count.</a:t>
            </a:r>
            <a:endParaRPr lang="en-US" sz="1250" dirty="0"/>
          </a:p>
          <a:p>
            <a:pPr marL="152400" indent="-152400">
              <a:spcAft>
                <a:spcPts val="800"/>
              </a:spcAft>
              <a:buSzPct val="100000"/>
              <a:buChar char="•"/>
            </a:pPr>
            <a:r>
              <a:rPr lang="en-US" sz="1250" dirty="0">
                <a:solidFill>
                  <a:srgbClr val="22301F"/>
                </a:solidFill>
                <a:latin typeface="Calibri" pitchFamily="34" charset="0"/>
                <a:ea typeface="Calibri" pitchFamily="34" charset="-122"/>
                <a:cs typeface="Calibri" pitchFamily="34" charset="-120"/>
              </a:rPr>
              <a:t>Treating it as exact understates |ε| precisely where stockouts concentrate: at the deep discounts exploration pushes us toward.</a:t>
            </a:r>
            <a:endParaRPr lang="en-US" sz="1250" dirty="0"/>
          </a:p>
        </p:txBody>
      </p:sp>
      <p:sp>
        <p:nvSpPr>
          <p:cNvPr id="16" name="Text 12"/>
          <p:cNvSpPr/>
          <p:nvPr/>
        </p:nvSpPr>
        <p:spPr>
          <a:xfrm>
            <a:off x="548640" y="5257800"/>
            <a:ext cx="11155680" cy="822960"/>
          </a:xfrm>
          <a:prstGeom prst="rect">
            <a:avLst/>
          </a:prstGeom>
          <a:noFill/>
          <a:ln/>
        </p:spPr>
        <p:txBody>
          <a:bodyPr wrap="square" lIns="0" tIns="0" rIns="0" bIns="0" rtlCol="0" anchor="ctr"/>
          <a:lstStyle/>
          <a:p>
            <a:pPr indent="0" marL="0">
              <a:buNone/>
            </a:pPr>
            <a:r>
              <a:rPr lang="en-US" sz="1500" b="1" dirty="0">
                <a:solidFill>
                  <a:srgbClr val="B3402A"/>
                </a:solidFill>
                <a:latin typeface="Calibri" pitchFamily="34" charset="0"/>
                <a:ea typeface="Calibri" pitchFamily="34" charset="-122"/>
                <a:cs typeface="Calibri" pitchFamily="34" charset="-120"/>
              </a:rPr>
              <a:t>One distinction, four places:  </a:t>
            </a:r>
            <a:pPr indent="0" marL="0">
              <a:buNone/>
            </a:pPr>
            <a:r>
              <a:rPr lang="en-US" sz="1500" dirty="0">
                <a:solidFill>
                  <a:srgbClr val="22301F"/>
                </a:solidFill>
                <a:latin typeface="Calibri" pitchFamily="34" charset="0"/>
                <a:ea typeface="Calibri" pitchFamily="34" charset="-122"/>
                <a:cs typeface="Calibri" pitchFamily="34" charset="-120"/>
              </a:rPr>
              <a:t>the censored expectation E[min(D, q)] rather than the raw mean governs the planner, the replay, the drift check and the likelihood. Getting it wrong in any one of them produces a plausible number and a wrong system.</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29</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THE LEDGER</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Every outcome is spent exactly once — or not at all</a:t>
            </a:r>
            <a:endParaRPr lang="en-US" sz="2900" dirty="0"/>
          </a:p>
        </p:txBody>
      </p:sp>
      <p:sp>
        <p:nvSpPr>
          <p:cNvPr id="6" name="Shape 4"/>
          <p:cNvSpPr/>
          <p:nvPr/>
        </p:nvSpPr>
        <p:spPr>
          <a:xfrm>
            <a:off x="548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04672" y="1896032"/>
            <a:ext cx="475488" cy="475488"/>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28299" y="2071299"/>
            <a:ext cx="228234" cy="228234"/>
          </a:xfrm>
          <a:prstGeom prst="rect">
            <a:avLst/>
          </a:prstGeom>
        </p:spPr>
      </p:pic>
      <p:sp>
        <p:nvSpPr>
          <p:cNvPr id="9" name="Text 6"/>
          <p:cNvSpPr/>
          <p:nvPr/>
        </p:nvSpPr>
        <p:spPr>
          <a:xfrm>
            <a:off x="1463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Only randomized outcomes teach</a:t>
            </a:r>
            <a:endParaRPr lang="en-US" sz="1500" dirty="0"/>
          </a:p>
        </p:txBody>
      </p:sp>
      <p:sp>
        <p:nvSpPr>
          <p:cNvPr id="10" name="Text 7"/>
          <p:cNvSpPr/>
          <p:nvPr/>
        </p:nvSpPr>
        <p:spPr>
          <a:xfrm>
            <a:off x="1463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Exploitation prices are chosen by the current posterior, so learning from them feeds the model its own beliefs and tightens it around wherever it happened to start. Shadow-phase outcomes carry an execution status that makes them structurally ineligible — enforced by the data itself, not by remembering to point at a different directory.</a:t>
            </a:r>
            <a:endParaRPr lang="en-US" sz="1150" dirty="0"/>
          </a:p>
        </p:txBody>
      </p:sp>
      <p:sp>
        <p:nvSpPr>
          <p:cNvPr id="11" name="Shape 8"/>
          <p:cNvSpPr/>
          <p:nvPr/>
        </p:nvSpPr>
        <p:spPr>
          <a:xfrm>
            <a:off x="6263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2" name="Shape 9"/>
          <p:cNvSpPr/>
          <p:nvPr/>
        </p:nvSpPr>
        <p:spPr>
          <a:xfrm>
            <a:off x="6519672" y="1896032"/>
            <a:ext cx="475488" cy="475488"/>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643299" y="2071299"/>
            <a:ext cx="228234" cy="228234"/>
          </a:xfrm>
          <a:prstGeom prst="rect">
            <a:avLst/>
          </a:prstGeom>
        </p:spPr>
      </p:pic>
      <p:sp>
        <p:nvSpPr>
          <p:cNvPr id="14" name="Text 10"/>
          <p:cNvSpPr/>
          <p:nvPr/>
        </p:nvSpPr>
        <p:spPr>
          <a:xfrm>
            <a:off x="7178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A short batch is not consumed</a:t>
            </a:r>
            <a:endParaRPr lang="en-US" sz="1500" dirty="0"/>
          </a:p>
        </p:txBody>
      </p:sp>
      <p:sp>
        <p:nvSpPr>
          <p:cNvPr id="15" name="Text 11"/>
          <p:cNvSpPr/>
          <p:nvPr/>
        </p:nvSpPr>
        <p:spPr>
          <a:xfrm>
            <a:off x="7178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An update commits only once accumulated information clears the bar. Earlier the outcomes were marked processed either way, banking a scalar and destroying the observations behind it. On a pilot where no single day clears the bar, that discards every outcome forever while the posterior never moves. The unconsumed batch is now the accumulator.</a:t>
            </a:r>
            <a:endParaRPr lang="en-US" sz="1150" dirty="0"/>
          </a:p>
        </p:txBody>
      </p:sp>
      <p:sp>
        <p:nvSpPr>
          <p:cNvPr id="16" name="Shape 12"/>
          <p:cNvSpPr/>
          <p:nvPr/>
        </p:nvSpPr>
        <p:spPr>
          <a:xfrm>
            <a:off x="548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7" name="Shape 13"/>
          <p:cNvSpPr/>
          <p:nvPr/>
        </p:nvSpPr>
        <p:spPr>
          <a:xfrm>
            <a:off x="804672" y="4246032"/>
            <a:ext cx="475488" cy="475488"/>
          </a:xfrm>
          <a:prstGeom prst="ellipse">
            <a:avLst/>
          </a:prstGeom>
          <a:solidFill>
            <a:srgbClr val="2C5F2D"/>
          </a:solidFill>
          <a:ln/>
        </p:spPr>
      </p:sp>
      <p:pic>
        <p:nvPicPr>
          <p:cNvPr id="18" name="Image 2" descr="preencoded.png">    </p:cNvPr>
          <p:cNvPicPr>
            <a:picLocks noChangeAspect="1"/>
          </p:cNvPicPr>
          <p:nvPr/>
        </p:nvPicPr>
        <p:blipFill>
          <a:blip r:embed="rId3"/>
          <a:stretch>
            <a:fillRect/>
          </a:stretch>
        </p:blipFill>
        <p:spPr>
          <a:xfrm>
            <a:off x="928299" y="4220139"/>
            <a:ext cx="228234" cy="228234"/>
          </a:xfrm>
          <a:prstGeom prst="rect">
            <a:avLst/>
          </a:prstGeom>
        </p:spPr>
      </p:pic>
      <p:sp>
        <p:nvSpPr>
          <p:cNvPr id="19" name="Text 14"/>
          <p:cNvSpPr/>
          <p:nvPr/>
        </p:nvSpPr>
        <p:spPr>
          <a:xfrm>
            <a:off x="1463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One atomic commit</a:t>
            </a:r>
            <a:endParaRPr lang="en-US" sz="1500" dirty="0"/>
          </a:p>
        </p:txBody>
      </p:sp>
      <p:sp>
        <p:nvSpPr>
          <p:cNvPr id="20" name="Text 15"/>
          <p:cNvSpPr/>
          <p:nvPr/>
        </p:nvSpPr>
        <p:spPr>
          <a:xfrm>
            <a:off x="1463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The posterior revision and the list of outcome IDs it consumed are written in a single atomic rename. There is no window in which the belief has moved but the evidence is still unspent, or the evidence is spent but the belief has not moved. A crash cannot double-count.</a:t>
            </a:r>
            <a:endParaRPr lang="en-US" sz="1150" dirty="0"/>
          </a:p>
        </p:txBody>
      </p:sp>
      <p:sp>
        <p:nvSpPr>
          <p:cNvPr id="21" name="Shape 16"/>
          <p:cNvSpPr/>
          <p:nvPr/>
        </p:nvSpPr>
        <p:spPr>
          <a:xfrm>
            <a:off x="6263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22" name="Shape 17"/>
          <p:cNvSpPr/>
          <p:nvPr/>
        </p:nvSpPr>
        <p:spPr>
          <a:xfrm>
            <a:off x="6519672" y="4246032"/>
            <a:ext cx="475488" cy="475488"/>
          </a:xfrm>
          <a:prstGeom prst="ellipse">
            <a:avLst/>
          </a:prstGeom>
          <a:solidFill>
            <a:srgbClr val="2C5F2D"/>
          </a:solidFill>
          <a:ln/>
        </p:spPr>
      </p:sp>
      <p:pic>
        <p:nvPicPr>
          <p:cNvPr id="23" name="Image 3" descr="preencoded.png">    </p:cNvPr>
          <p:cNvPicPr>
            <a:picLocks noChangeAspect="1"/>
          </p:cNvPicPr>
          <p:nvPr/>
        </p:nvPicPr>
        <p:blipFill>
          <a:blip r:embed="rId4"/>
          <a:stretch>
            <a:fillRect/>
          </a:stretch>
        </p:blipFill>
        <p:spPr>
          <a:xfrm>
            <a:off x="6643299" y="4220139"/>
            <a:ext cx="228234" cy="228234"/>
          </a:xfrm>
          <a:prstGeom prst="rect">
            <a:avLst/>
          </a:prstGeom>
        </p:spPr>
      </p:pic>
      <p:sp>
        <p:nvSpPr>
          <p:cNvPr id="24" name="Text 18"/>
          <p:cNvSpPr/>
          <p:nvPr/>
        </p:nvSpPr>
        <p:spPr>
          <a:xfrm>
            <a:off x="7178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A stalled loop is visible, not silent</a:t>
            </a:r>
            <a:endParaRPr lang="en-US" sz="1500" dirty="0"/>
          </a:p>
        </p:txBody>
      </p:sp>
      <p:sp>
        <p:nvSpPr>
          <p:cNvPr id="25" name="Text 19"/>
          <p:cNvSpPr/>
          <p:nvPr/>
        </p:nvSpPr>
        <p:spPr>
          <a:xfrm>
            <a:off x="7178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Posterior width changes only when an update commits, so “width unchanged for 21 days” is exactly “no learning for 21 days” — one cheap alert that catches every cause at once. The age of the oldest unconsumed outcome is reported daily, so a batch that grows without ever triggering surfaces early.</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30</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HOW FAST CAN IT LEARN</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Two floors bind separately — the tighter one is ours, not the data's</a:t>
            </a:r>
            <a:endParaRPr lang="en-US" sz="2900" dirty="0"/>
          </a:p>
        </p:txBody>
      </p:sp>
      <p:sp>
        <p:nvSpPr>
          <p:cNvPr id="6" name="Shape 4"/>
          <p:cNvSpPr/>
          <p:nvPr/>
        </p:nvSpPr>
        <p:spPr>
          <a:xfrm>
            <a:off x="54864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7" name="Text 5"/>
          <p:cNvSpPr/>
          <p:nvPr/>
        </p:nvSpPr>
        <p:spPr>
          <a:xfrm>
            <a:off x="77724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Evidence floor</a:t>
            </a:r>
            <a:endParaRPr lang="en-US" sz="1450" dirty="0"/>
          </a:p>
        </p:txBody>
      </p:sp>
      <p:sp>
        <p:nvSpPr>
          <p:cNvPr id="8" name="Text 6"/>
          <p:cNvSpPr/>
          <p:nvPr/>
        </p:nvSpPr>
        <p:spPr>
          <a:xfrm>
            <a:off x="77724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1,381 episodes per step</a:t>
            </a:r>
            <a:endParaRPr lang="en-US" sz="1900" dirty="0"/>
          </a:p>
        </p:txBody>
      </p:sp>
      <p:sp>
        <p:nvSpPr>
          <p:cNvPr id="9" name="Text 7"/>
          <p:cNvSpPr/>
          <p:nvPr/>
        </p:nvSpPr>
        <p:spPr>
          <a:xfrm>
            <a:off x="77724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Measured in shadow before any price was applied: 0.0087 units of effective information per episode, after deflating correlated within-episode hours by a measured design effect of 3.347. Divide by the pilot's daily episode count for the calendar cost.</a:t>
            </a:r>
            <a:endParaRPr lang="en-US" sz="1050" dirty="0"/>
          </a:p>
        </p:txBody>
      </p:sp>
      <p:sp>
        <p:nvSpPr>
          <p:cNvPr id="10" name="Shape 8"/>
          <p:cNvSpPr/>
          <p:nvPr/>
        </p:nvSpPr>
        <p:spPr>
          <a:xfrm>
            <a:off x="434340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457200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Calendar floor</a:t>
            </a:r>
            <a:endParaRPr lang="en-US" sz="1450" dirty="0"/>
          </a:p>
        </p:txBody>
      </p:sp>
      <p:sp>
        <p:nvSpPr>
          <p:cNvPr id="12" name="Text 10"/>
          <p:cNvSpPr/>
          <p:nvPr/>
        </p:nvSpPr>
        <p:spPr>
          <a:xfrm>
            <a:off x="457200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one bounded step a day</a:t>
            </a:r>
            <a:endParaRPr lang="en-US" sz="1900" dirty="0"/>
          </a:p>
        </p:txBody>
      </p:sp>
      <p:sp>
        <p:nvSpPr>
          <p:cNvPr id="13" name="Text 11"/>
          <p:cNvSpPr/>
          <p:nvPr/>
        </p:nvSpPr>
        <p:spPr>
          <a:xfrm>
            <a:off x="457200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Each update moves the posterior mean by at most 0.15 and one update commits per day behind a human gate. However much evidence arrives, shifting the belief takes at least that many days. This is a governance choice, not a statistical limit.</a:t>
            </a:r>
            <a:endParaRPr lang="en-US" sz="1050" dirty="0"/>
          </a:p>
        </p:txBody>
      </p:sp>
      <p:sp>
        <p:nvSpPr>
          <p:cNvPr id="14" name="Shape 12"/>
          <p:cNvSpPr/>
          <p:nvPr/>
        </p:nvSpPr>
        <p:spPr>
          <a:xfrm>
            <a:off x="813816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5" name="Text 13"/>
          <p:cNvSpPr/>
          <p:nvPr/>
        </p:nvSpPr>
        <p:spPr>
          <a:xfrm>
            <a:off x="836676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What binds</a:t>
            </a:r>
            <a:endParaRPr lang="en-US" sz="1450" dirty="0"/>
          </a:p>
        </p:txBody>
      </p:sp>
      <p:sp>
        <p:nvSpPr>
          <p:cNvPr id="16" name="Text 14"/>
          <p:cNvSpPr/>
          <p:nvPr/>
        </p:nvSpPr>
        <p:spPr>
          <a:xfrm>
            <a:off x="836676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whichever is larger</a:t>
            </a:r>
            <a:endParaRPr lang="en-US" sz="1900" dirty="0"/>
          </a:p>
        </p:txBody>
      </p:sp>
      <p:sp>
        <p:nvSpPr>
          <p:cNvPr id="17" name="Text 15"/>
          <p:cNvSpPr/>
          <p:nvPr/>
        </p:nvSpPr>
        <p:spPr>
          <a:xfrm>
            <a:off x="836676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Stating both is the honest answer to “how fast does it learn”. It also names the lever: the step cap and the daily gate are the MVP posture, and automation criteria should come from observed operator behaviour rather than a guess made now.</a:t>
            </a:r>
            <a:endParaRPr lang="en-US" sz="1050" dirty="0"/>
          </a:p>
        </p:txBody>
      </p:sp>
      <p:sp>
        <p:nvSpPr>
          <p:cNvPr id="18" name="Shape 16"/>
          <p:cNvSpPr/>
          <p:nvPr/>
        </p:nvSpPr>
        <p:spPr>
          <a:xfrm>
            <a:off x="548640" y="5166360"/>
            <a:ext cx="11064240" cy="914400"/>
          </a:xfrm>
          <a:prstGeom prst="roundRect">
            <a:avLst>
              <a:gd name="adj" fmla="val 9000"/>
            </a:avLst>
          </a:prstGeom>
          <a:solidFill>
            <a:srgbClr val="EEF4E4"/>
          </a:solidFill>
          <a:ln/>
          <a:effectLst>
            <a:outerShdw sx="100000" sy="100000" kx="0" ky="0" algn="bl" rotWithShape="0" blurRad="76200" dist="25400" dir="5400000">
              <a:srgbClr val="3A4A36">
                <a:alpha val="18000"/>
              </a:srgbClr>
            </a:outerShdw>
          </a:effectLst>
        </p:spPr>
      </p:sp>
      <p:sp>
        <p:nvSpPr>
          <p:cNvPr id="19" name="Text 17"/>
          <p:cNvSpPr/>
          <p:nvPr/>
        </p:nvSpPr>
        <p:spPr>
          <a:xfrm>
            <a:off x="822960" y="5166360"/>
            <a:ext cx="10515600" cy="914400"/>
          </a:xfrm>
          <a:prstGeom prst="rect">
            <a:avLst/>
          </a:prstGeom>
          <a:noFill/>
          <a:ln/>
        </p:spPr>
        <p:txBody>
          <a:bodyPr wrap="square" lIns="0" tIns="0" rIns="0" bIns="0" rtlCol="0" anchor="ctr"/>
          <a:lstStyle/>
          <a:p>
            <a:pPr indent="0" marL="0">
              <a:buNone/>
            </a:pPr>
            <a:r>
              <a:rPr lang="en-US" sz="1250" b="1" dirty="0">
                <a:solidFill>
                  <a:srgbClr val="22301F"/>
                </a:solidFill>
                <a:latin typeface="Calibri" pitchFamily="34" charset="0"/>
                <a:ea typeface="Calibri" pitchFamily="34" charset="-122"/>
                <a:cs typeface="Calibri" pitchFamily="34" charset="-120"/>
              </a:rPr>
              <a:t>Distance matters as much as speed:  </a:t>
            </a:r>
            <a:pPr indent="0" marL="0">
              <a:buNone/>
            </a:pPr>
            <a:r>
              <a:rPr lang="en-US" sz="1250" dirty="0">
                <a:solidFill>
                  <a:srgbClr val="22301F"/>
                </a:solidFill>
                <a:latin typeface="Calibri" pitchFamily="34" charset="0"/>
                <a:ea typeface="Calibri" pitchFamily="34" charset="-122"/>
                <a:cs typeface="Calibri" pitchFamily="34" charset="-120"/>
              </a:rPr>
              <a:t>the deepening bar sets how far the posterior must travel, not just how fast. Moving |ε| from 1.0 to 2.4 is at least ten bounded steps. This is the project's central risk — stated on the register, not discovered in week nine.</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31</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THRESHOLD DISCIPLINE</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A guardrail is only as good as its yardstick</a:t>
            </a:r>
            <a:endParaRPr lang="en-US" sz="2900" dirty="0"/>
          </a:p>
        </p:txBody>
      </p:sp>
      <p:sp>
        <p:nvSpPr>
          <p:cNvPr id="6" name="Shape 4"/>
          <p:cNvSpPr/>
          <p:nvPr/>
        </p:nvSpPr>
        <p:spPr>
          <a:xfrm>
            <a:off x="548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04672" y="1896032"/>
            <a:ext cx="475488" cy="475488"/>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28299" y="2071299"/>
            <a:ext cx="228234" cy="228234"/>
          </a:xfrm>
          <a:prstGeom prst="rect">
            <a:avLst/>
          </a:prstGeom>
        </p:spPr>
      </p:pic>
      <p:sp>
        <p:nvSpPr>
          <p:cNvPr id="9" name="Text 6"/>
          <p:cNvSpPr/>
          <p:nvPr/>
        </p:nvSpPr>
        <p:spPr>
          <a:xfrm>
            <a:off x="1463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Same definition on both sides</a:t>
            </a:r>
            <a:endParaRPr lang="en-US" sz="1500" dirty="0"/>
          </a:p>
        </p:txBody>
      </p:sp>
      <p:sp>
        <p:nvSpPr>
          <p:cNvPr id="10" name="Text 7"/>
          <p:cNvSpPr/>
          <p:nvPr/>
        </p:nvSpPr>
        <p:spPr>
          <a:xfrm>
            <a:off x="1463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The noise floor an owner sets a threshold from and the series the monitor triggers on are computed the same way — episode grain first, the same scrap definition, truncated episodes excluded. A monitor computing anything else would be grading against a number nobody measured.</a:t>
            </a:r>
            <a:endParaRPr lang="en-US" sz="1150" dirty="0"/>
          </a:p>
        </p:txBody>
      </p:sp>
      <p:sp>
        <p:nvSpPr>
          <p:cNvPr id="11" name="Shape 8"/>
          <p:cNvSpPr/>
          <p:nvPr/>
        </p:nvSpPr>
        <p:spPr>
          <a:xfrm>
            <a:off x="6263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2" name="Shape 9"/>
          <p:cNvSpPr/>
          <p:nvPr/>
        </p:nvSpPr>
        <p:spPr>
          <a:xfrm>
            <a:off x="6519672" y="1896032"/>
            <a:ext cx="475488" cy="475488"/>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643299" y="2071299"/>
            <a:ext cx="228234" cy="228234"/>
          </a:xfrm>
          <a:prstGeom prst="rect">
            <a:avLst/>
          </a:prstGeom>
        </p:spPr>
      </p:pic>
      <p:sp>
        <p:nvSpPr>
          <p:cNvPr id="14" name="Text 10"/>
          <p:cNvSpPr/>
          <p:nvPr/>
        </p:nvSpPr>
        <p:spPr>
          <a:xfrm>
            <a:off x="7178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Same smoothing on both sides</a:t>
            </a:r>
            <a:endParaRPr lang="en-US" sz="1500" dirty="0"/>
          </a:p>
        </p:txBody>
      </p:sp>
      <p:sp>
        <p:nvSpPr>
          <p:cNvPr id="15" name="Text 11"/>
          <p:cNvSpPr/>
          <p:nvPr/>
        </p:nvSpPr>
        <p:spPr>
          <a:xfrm>
            <a:off x="7178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Daily scrap sits on a 1.76% base and swings by multiples of its own level: on a raw daily basis the 3σ floor is 480% and no useful threshold exists above it. Averaging seven days before comparing is what makes a real threshold possible — and the floor has to be measured on the smoothed series too, or it comes out several times too wide.</a:t>
            </a:r>
            <a:endParaRPr lang="en-US" sz="1150" dirty="0"/>
          </a:p>
        </p:txBody>
      </p:sp>
      <p:sp>
        <p:nvSpPr>
          <p:cNvPr id="16" name="Shape 12"/>
          <p:cNvSpPr/>
          <p:nvPr/>
        </p:nvSpPr>
        <p:spPr>
          <a:xfrm>
            <a:off x="548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7" name="Shape 13"/>
          <p:cNvSpPr/>
          <p:nvPr/>
        </p:nvSpPr>
        <p:spPr>
          <a:xfrm>
            <a:off x="804672" y="4246032"/>
            <a:ext cx="475488" cy="475488"/>
          </a:xfrm>
          <a:prstGeom prst="ellipse">
            <a:avLst/>
          </a:prstGeom>
          <a:solidFill>
            <a:srgbClr val="2C5F2D"/>
          </a:solidFill>
          <a:ln/>
        </p:spPr>
      </p:sp>
      <p:pic>
        <p:nvPicPr>
          <p:cNvPr id="18" name="Image 2" descr="preencoded.png">    </p:cNvPr>
          <p:cNvPicPr>
            <a:picLocks noChangeAspect="1"/>
          </p:cNvPicPr>
          <p:nvPr/>
        </p:nvPicPr>
        <p:blipFill>
          <a:blip r:embed="rId3"/>
          <a:stretch>
            <a:fillRect/>
          </a:stretch>
        </p:blipFill>
        <p:spPr>
          <a:xfrm>
            <a:off x="928299" y="4220139"/>
            <a:ext cx="228234" cy="228234"/>
          </a:xfrm>
          <a:prstGeom prst="rect">
            <a:avLst/>
          </a:prstGeom>
        </p:spPr>
      </p:pic>
      <p:sp>
        <p:nvSpPr>
          <p:cNvPr id="19" name="Text 14"/>
          <p:cNvSpPr/>
          <p:nvPr/>
        </p:nvSpPr>
        <p:spPr>
          <a:xfrm>
            <a:off x="1463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Same basis on both sides</a:t>
            </a:r>
            <a:endParaRPr lang="en-US" sz="1500" dirty="0"/>
          </a:p>
        </p:txBody>
      </p:sp>
      <p:sp>
        <p:nvSpPr>
          <p:cNvPr id="20" name="Text 15"/>
          <p:cNvSpPr/>
          <p:nvPr/>
        </p:nvSpPr>
        <p:spPr>
          <a:xfrm>
            <a:off x="1463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Before the experiment the monitor compares each day against a trailing mean; during it, treatment against control on the same day, which cancels the common day effect. One config value is graded against both, so it must clear the larger of the two floors. The tool reports both and names the binding one.</a:t>
            </a:r>
            <a:endParaRPr lang="en-US" sz="1150" dirty="0"/>
          </a:p>
        </p:txBody>
      </p:sp>
      <p:sp>
        <p:nvSpPr>
          <p:cNvPr id="21" name="Shape 16"/>
          <p:cNvSpPr/>
          <p:nvPr/>
        </p:nvSpPr>
        <p:spPr>
          <a:xfrm>
            <a:off x="6263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22" name="Shape 17"/>
          <p:cNvSpPr/>
          <p:nvPr/>
        </p:nvSpPr>
        <p:spPr>
          <a:xfrm>
            <a:off x="6519672" y="4246032"/>
            <a:ext cx="475488" cy="475488"/>
          </a:xfrm>
          <a:prstGeom prst="ellipse">
            <a:avLst/>
          </a:prstGeom>
          <a:solidFill>
            <a:srgbClr val="2C5F2D"/>
          </a:solidFill>
          <a:ln/>
        </p:spPr>
      </p:sp>
      <p:pic>
        <p:nvPicPr>
          <p:cNvPr id="23" name="Image 3" descr="preencoded.png">    </p:cNvPr>
          <p:cNvPicPr>
            <a:picLocks noChangeAspect="1"/>
          </p:cNvPicPr>
          <p:nvPr/>
        </p:nvPicPr>
        <p:blipFill>
          <a:blip r:embed="rId4"/>
          <a:stretch>
            <a:fillRect/>
          </a:stretch>
        </p:blipFill>
        <p:spPr>
          <a:xfrm>
            <a:off x="6643299" y="4220139"/>
            <a:ext cx="228234" cy="228234"/>
          </a:xfrm>
          <a:prstGeom prst="rect">
            <a:avLst/>
          </a:prstGeom>
        </p:spPr>
      </p:pic>
      <p:sp>
        <p:nvSpPr>
          <p:cNvPr id="24" name="Text 18"/>
          <p:cNvSpPr/>
          <p:nvPr/>
        </p:nvSpPr>
        <p:spPr>
          <a:xfrm>
            <a:off x="7178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Too loose is a failure too</a:t>
            </a:r>
            <a:endParaRPr lang="en-US" sz="1500" dirty="0"/>
          </a:p>
        </p:txBody>
      </p:sp>
      <p:sp>
        <p:nvSpPr>
          <p:cNvPr id="25" name="Text 19"/>
          <p:cNvSpPr/>
          <p:nvPr/>
        </p:nvSpPr>
        <p:spPr>
          <a:xfrm>
            <a:off x="7178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A threshold below the floor false-fires and silently suspends learning. A threshold far above it passes every check and can never fire — with a two-day persistence rule on top, an absent guardrail that looks present. Both verdicts are blocking, and anything beyond three times the binding floor is called out rather than blessed.</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32</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VALIDATION ON PRODUCTION DATA</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Every gate that fired caught a real problem</a:t>
            </a:r>
            <a:endParaRPr lang="en-US" sz="2900" dirty="0"/>
          </a:p>
        </p:txBody>
      </p:sp>
      <p:graphicFrame>
        <p:nvGraphicFramePr>
          <p:cNvPr id="6" name="Chart 0" descr=""/>
          <p:cNvGraphicFramePr/>
          <p:nvPr/>
        </p:nvGraphicFramePr>
        <p:xfrm>
          <a:off x="548640" y="1828800"/>
          <a:ext cx="5394960" cy="37490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548640" y="5623560"/>
            <a:ext cx="5394960" cy="502920"/>
          </a:xfrm>
          <a:prstGeom prst="rect">
            <a:avLst/>
          </a:prstGeom>
          <a:noFill/>
          <a:ln/>
        </p:spPr>
        <p:txBody>
          <a:bodyPr wrap="square" lIns="0" tIns="0" rIns="0" bIns="0" rtlCol="0" anchor="ctr"/>
          <a:lstStyle/>
          <a:p>
            <a:pPr indent="0" marL="0">
              <a:buNone/>
            </a:pPr>
            <a:r>
              <a:rPr lang="en-US" sz="1050" i="1" dirty="0">
                <a:solidFill>
                  <a:srgbClr val="5F6B5C"/>
                </a:solidFill>
                <a:latin typeface="Calibri" pitchFamily="34" charset="0"/>
                <a:ea typeface="Calibri" pitchFamily="34" charset="-122"/>
                <a:cs typeface="Calibri" pitchFamily="34" charset="-120"/>
              </a:rPr>
              <a:t>Fidelity by window, current (v2) model, uncalibrated · weekly series: every week 1.06–1.54, σ ±8% · gate band [0.90, 1.10] (owner, ≈2σ) · calibrated re-gate PASSED at 1.0389</a:t>
            </a:r>
            <a:endParaRPr lang="en-US" sz="1050" dirty="0"/>
          </a:p>
        </p:txBody>
      </p:sp>
      <p:sp>
        <p:nvSpPr>
          <p:cNvPr id="8" name="Shape 5"/>
          <p:cNvSpPr/>
          <p:nvPr/>
        </p:nvSpPr>
        <p:spPr>
          <a:xfrm>
            <a:off x="6263640" y="1783080"/>
            <a:ext cx="384048" cy="384048"/>
          </a:xfrm>
          <a:prstGeom prst="ellipse">
            <a:avLst/>
          </a:prstGeom>
          <a:solidFill>
            <a:srgbClr val="2C5F2D"/>
          </a:solidFill>
          <a:ln/>
        </p:spPr>
      </p:sp>
      <p:pic>
        <p:nvPicPr>
          <p:cNvPr id="9" name="Image 0" descr="preencoded.png">    </p:cNvPr>
          <p:cNvPicPr>
            <a:picLocks noChangeAspect="1"/>
          </p:cNvPicPr>
          <p:nvPr/>
        </p:nvPicPr>
        <p:blipFill>
          <a:blip r:embed="rId2"/>
          <a:stretch>
            <a:fillRect/>
          </a:stretch>
        </p:blipFill>
        <p:spPr>
          <a:xfrm>
            <a:off x="6363492" y="1882932"/>
            <a:ext cx="184343" cy="184343"/>
          </a:xfrm>
          <a:prstGeom prst="rect">
            <a:avLst/>
          </a:prstGeom>
        </p:spPr>
      </p:pic>
      <p:sp>
        <p:nvSpPr>
          <p:cNvPr id="10" name="Text 6"/>
          <p:cNvSpPr/>
          <p:nvPr/>
        </p:nvSpPr>
        <p:spPr>
          <a:xfrm>
            <a:off x="6812280" y="1737360"/>
            <a:ext cx="4846320" cy="36576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Weekly volatility is a measured fact</a:t>
            </a:r>
            <a:endParaRPr lang="en-US" sz="1350" dirty="0"/>
          </a:p>
        </p:txBody>
      </p:sp>
      <p:sp>
        <p:nvSpPr>
          <p:cNvPr id="11" name="Text 7"/>
          <p:cNvSpPr/>
          <p:nvPr/>
        </p:nvSpPr>
        <p:spPr>
          <a:xfrm>
            <a:off x="6812280" y="2103120"/>
            <a:ext cx="4892040" cy="100584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The model under-predicts in every week of five months (mean ≈1.30, σ ±8%) — a persistent level deficit the calibration factor absorbs, plus week noise no frozen model can track. The gate band was reset by the owner to ≈2σ; the daily drift ratio is the continuous guard.</a:t>
            </a:r>
            <a:endParaRPr lang="en-US" sz="1050" dirty="0"/>
          </a:p>
        </p:txBody>
      </p:sp>
      <p:sp>
        <p:nvSpPr>
          <p:cNvPr id="12" name="Shape 8"/>
          <p:cNvSpPr/>
          <p:nvPr/>
        </p:nvSpPr>
        <p:spPr>
          <a:xfrm>
            <a:off x="6263640" y="3200400"/>
            <a:ext cx="384048" cy="384048"/>
          </a:xfrm>
          <a:prstGeom prst="ellipse">
            <a:avLst/>
          </a:prstGeom>
          <a:solidFill>
            <a:srgbClr val="2C5F2D"/>
          </a:solidFill>
          <a:ln/>
        </p:spPr>
      </p:sp>
      <p:pic>
        <p:nvPicPr>
          <p:cNvPr id="13" name="Image 1" descr="preencoded.png">    </p:cNvPr>
          <p:cNvPicPr>
            <a:picLocks noChangeAspect="1"/>
          </p:cNvPicPr>
          <p:nvPr/>
        </p:nvPicPr>
        <p:blipFill>
          <a:blip r:embed="rId3"/>
          <a:stretch>
            <a:fillRect/>
          </a:stretch>
        </p:blipFill>
        <p:spPr>
          <a:xfrm>
            <a:off x="6363492" y="3300252"/>
            <a:ext cx="184343" cy="184343"/>
          </a:xfrm>
          <a:prstGeom prst="rect">
            <a:avLst/>
          </a:prstGeom>
        </p:spPr>
      </p:pic>
      <p:sp>
        <p:nvSpPr>
          <p:cNvPr id="14" name="Text 9"/>
          <p:cNvSpPr/>
          <p:nvPr/>
        </p:nvSpPr>
        <p:spPr>
          <a:xfrm>
            <a:off x="6812280" y="3154680"/>
            <a:ext cx="4846320" cy="36576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Survivorship confound found &amp; fixed</a:t>
            </a:r>
            <a:endParaRPr lang="en-US" sz="1350" dirty="0"/>
          </a:p>
        </p:txBody>
      </p:sp>
      <p:sp>
        <p:nvSpPr>
          <p:cNvPr id="15" name="Text 10"/>
          <p:cNvSpPr/>
          <p:nvPr/>
        </p:nvSpPr>
        <p:spPr>
          <a:xfrm>
            <a:off x="6812280" y="3520440"/>
            <a:ext cx="4892040" cy="100584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All 16 categories pinned at the zero elasticity boundary until identification was restricted to entry hours; the pinning stopped. None of the 16 clears the acceptance checks on the corrected extract, so every cell launches on the honest wide prior — the gate refusing to certify what the data cannot support.</a:t>
            </a:r>
            <a:endParaRPr lang="en-US" sz="1050" dirty="0"/>
          </a:p>
        </p:txBody>
      </p:sp>
      <p:sp>
        <p:nvSpPr>
          <p:cNvPr id="16" name="Shape 11"/>
          <p:cNvSpPr/>
          <p:nvPr/>
        </p:nvSpPr>
        <p:spPr>
          <a:xfrm>
            <a:off x="6263640" y="4617720"/>
            <a:ext cx="384048" cy="384048"/>
          </a:xfrm>
          <a:prstGeom prst="ellipse">
            <a:avLst/>
          </a:prstGeom>
          <a:solidFill>
            <a:srgbClr val="2C5F2D"/>
          </a:solidFill>
          <a:ln/>
        </p:spPr>
      </p:sp>
      <p:pic>
        <p:nvPicPr>
          <p:cNvPr id="17" name="Image 2" descr="preencoded.png">    </p:cNvPr>
          <p:cNvPicPr>
            <a:picLocks noChangeAspect="1"/>
          </p:cNvPicPr>
          <p:nvPr/>
        </p:nvPicPr>
        <p:blipFill>
          <a:blip r:embed="rId4"/>
          <a:stretch>
            <a:fillRect/>
          </a:stretch>
        </p:blipFill>
        <p:spPr>
          <a:xfrm>
            <a:off x="6363492" y="4717572"/>
            <a:ext cx="184343" cy="184343"/>
          </a:xfrm>
          <a:prstGeom prst="rect">
            <a:avLst/>
          </a:prstGeom>
        </p:spPr>
      </p:pic>
      <p:sp>
        <p:nvSpPr>
          <p:cNvPr id="18" name="Text 12"/>
          <p:cNvSpPr/>
          <p:nvPr/>
        </p:nvSpPr>
        <p:spPr>
          <a:xfrm>
            <a:off x="6812280" y="4572000"/>
            <a:ext cx="4846320" cy="36576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Per-SKU velocity features pay twice</a:t>
            </a:r>
            <a:endParaRPr lang="en-US" sz="1350" dirty="0"/>
          </a:p>
        </p:txBody>
      </p:sp>
      <p:sp>
        <p:nvSpPr>
          <p:cNvPr id="19" name="Text 13"/>
          <p:cNvSpPr/>
          <p:nvPr/>
        </p:nvSpPr>
        <p:spPr>
          <a:xfrm>
            <a:off x="6812280" y="4937760"/>
            <a:ext cx="4892040" cy="100584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Hourly MAE 0.405 → 0.373, and residual intra-episode correlation fell (deff 4.07 → 3.347) — every exploration outcome now carries ~18% more learning information.</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33</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WHERE THE NUMBERS STAND</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Measured on production data · model baseline-20260811043259</a:t>
            </a:r>
            <a:endParaRPr lang="en-US" sz="2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108960"/>
                <a:gridCol w="3566160"/>
                <a:gridCol w="4389120"/>
              </a:tblGrid>
              <a:tr h="51206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Quantity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Meaning</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solidFill>
                      <a:srgbClr val="2C5F2D"/>
                    </a:solidFill>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Calibration gate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PASS · 1.0389 in band [0.90, 1.10]</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Gates the frozen artifact on its own job — the level at reference price; slope belongs to production learning (owner, 2026-08-09)</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Actual IL% · replay sample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36.68%  (₩17.11M / 2,000 episodes)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The baseline the system must beat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ρ / forced hours / deff</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0.3103 / 8.563 / 3.347</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Evidence deflation — down from 4.07 with the velocity features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Exploration τ (initial)</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₩447.78 from the passing run · spend ≈ budget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Pasted into config only from a gate-passing report</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IL% clustered SE (SKU × FC, 71,559 units)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0.002915</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3× the pre-scrap-fix figure — a real scrap term makes IL lumpier, not smoother</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Elasticity prior</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fallback −1.0 ± 0.6 for ALL 16 · no category brackets cleanly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Honest rejection; production exploration carries the burden</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r h="512064">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Offline replay</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like-for-like DP vs legacy: −38.0% IL, −0.97pp clearance</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c>
                  <a:txBody>
                    <a:bodyPr/>
                    <a:lstStyle/>
                    <a:p>
                      <a:pPr indent="0" marL="0">
                        <a:buNone/>
                      </a:pPr>
                      <a:r>
                        <a:rPr lang="en-US" sz="1150" dirty="0">
                          <a:solidFill>
                            <a:srgbClr val="22301F"/>
                          </a:solidFill>
                          <a:latin typeface="Calibri" pitchFamily="34" charset="0"/>
                          <a:ea typeface="Calibri" pitchFamily="34" charset="-122"/>
                          <a:cs typeface="Calibri" pitchFamily="34" charset="-120"/>
                        </a:rPr>
                        <a:t>Both arms run through the same demand model, so model bias cancels. The IL win is partly bought with scrap — the pilot reports clearance beside IL from day one. Replay is sanity, never launch evidence; the A/B decides</a:t>
                      </a:r>
                      <a:endParaRPr lang="en-US" sz="1150" dirty="0">
                        <a:latin typeface="Calibri" charset="0"/>
                        <a:ea typeface="Calibri" charset="0"/>
                        <a:cs typeface="Calibri" charset="0"/>
                      </a:endParaRPr>
                    </a:p>
                  </a:txBody>
                  <a:tcPr marL="54864" marR="54864" marT="54864" marB="54864" anchor="ctr">
                    <a:lnL w="9525" cap="flat" cmpd="sng" algn="ctr">
                      <a:solidFill>
                        <a:srgbClr val="D9E2CF"/>
                      </a:solidFill>
                      <a:prstDash val="solid"/>
                      <a:round/>
                      <a:headEnd type="none" w="med" len="med"/>
                      <a:tailEnd type="none" w="med" len="med"/>
                    </a:lnL>
                    <a:lnR w="9525" cap="flat" cmpd="sng" algn="ctr">
                      <a:solidFill>
                        <a:srgbClr val="D9E2CF"/>
                      </a:solidFill>
                      <a:prstDash val="solid"/>
                      <a:round/>
                      <a:headEnd type="none" w="med" len="med"/>
                      <a:tailEnd type="none" w="med" len="med"/>
                    </a:lnR>
                    <a:lnT w="9525" cap="flat" cmpd="sng" algn="ctr">
                      <a:solidFill>
                        <a:srgbClr val="D9E2CF"/>
                      </a:solidFill>
                      <a:prstDash val="solid"/>
                      <a:round/>
                      <a:headEnd type="none" w="med" len="med"/>
                      <a:tailEnd type="none" w="med" len="med"/>
                    </a:lnT>
                    <a:lnB w="9525" cap="flat" cmpd="sng" algn="ctr">
                      <a:solidFill>
                        <a:srgbClr val="D9E2CF"/>
                      </a:solidFill>
                      <a:prstDash val="solid"/>
                      <a:round/>
                      <a:headEnd type="none" w="med" len="med"/>
                      <a:tailEnd type="none" w="med" len="med"/>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34</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READING THE RESULT</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What the −38% is, and what it costs</a:t>
            </a:r>
            <a:endParaRPr lang="en-US" sz="2900" dirty="0"/>
          </a:p>
        </p:txBody>
      </p:sp>
      <p:sp>
        <p:nvSpPr>
          <p:cNvPr id="6" name="Shape 4"/>
          <p:cNvSpPr/>
          <p:nvPr/>
        </p:nvSpPr>
        <p:spPr>
          <a:xfrm>
            <a:off x="548640" y="1645920"/>
            <a:ext cx="6035040" cy="2286000"/>
          </a:xfrm>
          <a:prstGeom prst="roundRect">
            <a:avLst>
              <a:gd name="adj" fmla="val 3600"/>
            </a:avLst>
          </a:prstGeom>
          <a:solidFill>
            <a:srgbClr val="EEF4E4"/>
          </a:solidFill>
          <a:ln/>
          <a:effectLst>
            <a:outerShdw sx="100000" sy="100000" kx="0" ky="0" algn="bl" rotWithShape="0" blurRad="76200" dist="25400" dir="5400000">
              <a:srgbClr val="3A4A36">
                <a:alpha val="18000"/>
              </a:srgbClr>
            </a:outerShdw>
          </a:effectLst>
        </p:spPr>
      </p:sp>
      <p:sp>
        <p:nvSpPr>
          <p:cNvPr id="7" name="Text 5"/>
          <p:cNvSpPr/>
          <p:nvPr/>
        </p:nvSpPr>
        <p:spPr>
          <a:xfrm>
            <a:off x="822960" y="1828800"/>
            <a:ext cx="5486400" cy="365760"/>
          </a:xfrm>
          <a:prstGeom prst="rect">
            <a:avLst/>
          </a:prstGeom>
          <a:noFill/>
          <a:ln/>
        </p:spPr>
        <p:txBody>
          <a:bodyPr wrap="square" lIns="0" tIns="0" rIns="0" bIns="0" rtlCol="0" anchor="ctr"/>
          <a:lstStyle/>
          <a:p>
            <a:pPr indent="0" marL="0">
              <a:buNone/>
            </a:pPr>
            <a:r>
              <a:rPr lang="en-US" sz="1300" b="1" dirty="0">
                <a:solidFill>
                  <a:srgbClr val="22301F"/>
                </a:solidFill>
                <a:latin typeface="Calibri" pitchFamily="34" charset="0"/>
                <a:ea typeface="Calibri" pitchFamily="34" charset="-122"/>
                <a:cs typeface="Calibri" pitchFamily="34" charset="-120"/>
              </a:rPr>
              <a:t>Both arms simulated under the SAME demand model:</a:t>
            </a:r>
            <a:endParaRPr lang="en-US" sz="1300" dirty="0"/>
          </a:p>
        </p:txBody>
      </p:sp>
      <p:sp>
        <p:nvSpPr>
          <p:cNvPr id="8" name="Text 6"/>
          <p:cNvSpPr/>
          <p:nvPr/>
        </p:nvSpPr>
        <p:spPr>
          <a:xfrm>
            <a:off x="822960" y="2286000"/>
            <a:ext cx="5577840" cy="1463040"/>
          </a:xfrm>
          <a:prstGeom prst="rect">
            <a:avLst/>
          </a:prstGeom>
          <a:noFill/>
          <a:ln/>
        </p:spPr>
        <p:txBody>
          <a:bodyPr wrap="square" lIns="0" tIns="0" rIns="0" bIns="0" rtlCol="0" anchor="ctr"/>
          <a:lstStyle/>
          <a:p>
            <a:pPr indent="0" marL="0">
              <a:buNone/>
            </a:pPr>
            <a:r>
              <a:rPr lang="en-US" sz="1350" dirty="0">
                <a:solidFill>
                  <a:srgbClr val="22301F"/>
                </a:solidFill>
                <a:latin typeface="Courier New" pitchFamily="34" charset="0"/>
                <a:ea typeface="Courier New" pitchFamily="34" charset="-122"/>
                <a:cs typeface="Courier New" pitchFamily="34" charset="-120"/>
              </a:rPr>
              <a:t>legacy-under-model IL   vs   DP-under-model IL</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same mu_ref, same r, same ε  → model bias cancels</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actual_* figures are FIDELITY, never policy</a:t>
            </a:r>
            <a:endParaRPr lang="en-US" sz="1350" dirty="0"/>
          </a:p>
        </p:txBody>
      </p:sp>
      <p:sp>
        <p:nvSpPr>
          <p:cNvPr id="9" name="Text 7"/>
          <p:cNvSpPr/>
          <p:nvPr/>
        </p:nvSpPr>
        <p:spPr>
          <a:xfrm>
            <a:off x="548640" y="4160520"/>
            <a:ext cx="6126480" cy="210312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The DP does not clear more — it clears slightly LESS, 76.61% against legacy's 77.58%, and scraps more: ₩6.84M against ₩6.24M.</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The entire gain comes from not over-discounting: mean discount 0.1285 against legacy's 0.2935. The legacy ramp buys clearance at a price well above what the units are worth.</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Say this before someone finds it. A markdown system that cuts loss by discounting LESS is the right answer here, and it is not the answer most people expect.</a:t>
            </a:r>
            <a:endParaRPr lang="en-US" sz="1200" dirty="0"/>
          </a:p>
        </p:txBody>
      </p:sp>
      <p:sp>
        <p:nvSpPr>
          <p:cNvPr id="10" name="Text 8"/>
          <p:cNvSpPr/>
          <p:nvPr/>
        </p:nvSpPr>
        <p:spPr>
          <a:xfrm>
            <a:off x="7040880" y="182880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−38.0%</a:t>
            </a:r>
            <a:endParaRPr lang="en-US" sz="3800" dirty="0"/>
          </a:p>
        </p:txBody>
      </p:sp>
      <p:sp>
        <p:nvSpPr>
          <p:cNvPr id="11" name="Text 9"/>
          <p:cNvSpPr/>
          <p:nvPr/>
        </p:nvSpPr>
        <p:spPr>
          <a:xfrm>
            <a:off x="7040880" y="248716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Inventory Loss, like-for-like against legacy under the same demand model</a:t>
            </a:r>
            <a:endParaRPr lang="en-US" sz="1100" dirty="0"/>
          </a:p>
        </p:txBody>
      </p:sp>
      <p:sp>
        <p:nvSpPr>
          <p:cNvPr id="12" name="Text 10"/>
          <p:cNvSpPr/>
          <p:nvPr/>
        </p:nvSpPr>
        <p:spPr>
          <a:xfrm>
            <a:off x="7040880" y="324612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−0.97pp</a:t>
            </a:r>
            <a:endParaRPr lang="en-US" sz="3800" dirty="0"/>
          </a:p>
        </p:txBody>
      </p:sp>
      <p:sp>
        <p:nvSpPr>
          <p:cNvPr id="13" name="Text 11"/>
          <p:cNvSpPr/>
          <p:nvPr/>
        </p:nvSpPr>
        <p:spPr>
          <a:xfrm>
            <a:off x="7040880" y="390448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clearance, 77.58% → 76.61%, with scrap cost up ₩0.59M — the price of the win</a:t>
            </a:r>
            <a:endParaRPr lang="en-US" sz="1100" dirty="0"/>
          </a:p>
        </p:txBody>
      </p:sp>
      <p:sp>
        <p:nvSpPr>
          <p:cNvPr id="14" name="Text 12"/>
          <p:cNvSpPr/>
          <p:nvPr/>
        </p:nvSpPr>
        <p:spPr>
          <a:xfrm>
            <a:off x="7040880" y="4663440"/>
            <a:ext cx="4389120" cy="658368"/>
          </a:xfrm>
          <a:prstGeom prst="rect">
            <a:avLst/>
          </a:prstGeom>
          <a:noFill/>
          <a:ln/>
        </p:spPr>
        <p:txBody>
          <a:bodyPr wrap="square" lIns="0" tIns="0" rIns="0" bIns="0"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0.1285</a:t>
            </a:r>
            <a:endParaRPr lang="en-US" sz="3200" dirty="0"/>
          </a:p>
        </p:txBody>
      </p:sp>
      <p:sp>
        <p:nvSpPr>
          <p:cNvPr id="15" name="Text 13"/>
          <p:cNvSpPr/>
          <p:nvPr/>
        </p:nvSpPr>
        <p:spPr>
          <a:xfrm>
            <a:off x="7040880" y="532180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DP mean discount against legacy's 0.2935 — the mechanism, in one number</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35</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DRESS REHEARSAL</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The full production path, applying nothing</a:t>
            </a:r>
            <a:endParaRPr lang="en-US" sz="2900" dirty="0"/>
          </a:p>
        </p:txBody>
      </p:sp>
      <p:sp>
        <p:nvSpPr>
          <p:cNvPr id="6" name="Shape 4"/>
          <p:cNvSpPr/>
          <p:nvPr/>
        </p:nvSpPr>
        <p:spPr>
          <a:xfrm>
            <a:off x="54864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7" name="Text 5"/>
          <p:cNvSpPr/>
          <p:nvPr/>
        </p:nvSpPr>
        <p:spPr>
          <a:xfrm>
            <a:off x="77724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What it proves</a:t>
            </a:r>
            <a:endParaRPr lang="en-US" sz="1450" dirty="0"/>
          </a:p>
        </p:txBody>
      </p:sp>
      <p:sp>
        <p:nvSpPr>
          <p:cNvPr id="8" name="Text 6"/>
          <p:cNvSpPr/>
          <p:nvPr/>
        </p:nvSpPr>
        <p:spPr>
          <a:xfrm>
            <a:off x="77724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the plumbing</a:t>
            </a:r>
            <a:endParaRPr lang="en-US" sz="1900" dirty="0"/>
          </a:p>
        </p:txBody>
      </p:sp>
      <p:sp>
        <p:nvSpPr>
          <p:cNvPr id="9" name="Text 7"/>
          <p:cNvSpPr/>
          <p:nvPr/>
        </p:nvSpPr>
        <p:spPr>
          <a:xfrm>
            <a:off x="77724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The real decision path end to end: state validation, the dynamic program, the exploration draw, the event contract, the ledger. The replay calls the solver directly — everything between the two is exercised only here.</a:t>
            </a:r>
            <a:endParaRPr lang="en-US" sz="1050" dirty="0"/>
          </a:p>
        </p:txBody>
      </p:sp>
      <p:sp>
        <p:nvSpPr>
          <p:cNvPr id="10" name="Shape 8"/>
          <p:cNvSpPr/>
          <p:nvPr/>
        </p:nvSpPr>
        <p:spPr>
          <a:xfrm>
            <a:off x="434340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457200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What it cannot do</a:t>
            </a:r>
            <a:endParaRPr lang="en-US" sz="1450" dirty="0"/>
          </a:p>
        </p:txBody>
      </p:sp>
      <p:sp>
        <p:nvSpPr>
          <p:cNvPr id="12" name="Text 10"/>
          <p:cNvSpPr/>
          <p:nvPr/>
        </p:nvSpPr>
        <p:spPr>
          <a:xfrm>
            <a:off x="457200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teach the model</a:t>
            </a:r>
            <a:endParaRPr lang="en-US" sz="1900" dirty="0"/>
          </a:p>
        </p:txBody>
      </p:sp>
      <p:sp>
        <p:nvSpPr>
          <p:cNvPr id="13" name="Text 11"/>
          <p:cNvSpPr/>
          <p:nvPr/>
        </p:nvSpPr>
        <p:spPr>
          <a:xfrm>
            <a:off x="457200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Outcomes are stamped shadow-not-applied, which makes them structurally ineligible for the learning update. The recommended price was never in force, so the sales observed are evidence about the legacy price, not about ours.</a:t>
            </a:r>
            <a:endParaRPr lang="en-US" sz="1050" dirty="0"/>
          </a:p>
        </p:txBody>
      </p:sp>
      <p:sp>
        <p:nvSpPr>
          <p:cNvPr id="14" name="Shape 12"/>
          <p:cNvSpPr/>
          <p:nvPr/>
        </p:nvSpPr>
        <p:spPr>
          <a:xfrm>
            <a:off x="813816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5" name="Text 13"/>
          <p:cNvSpPr/>
          <p:nvPr/>
        </p:nvSpPr>
        <p:spPr>
          <a:xfrm>
            <a:off x="836676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What it measured</a:t>
            </a:r>
            <a:endParaRPr lang="en-US" sz="1450" dirty="0"/>
          </a:p>
        </p:txBody>
      </p:sp>
      <p:sp>
        <p:nvSpPr>
          <p:cNvPr id="16" name="Text 14"/>
          <p:cNvSpPr/>
          <p:nvPr/>
        </p:nvSpPr>
        <p:spPr>
          <a:xfrm>
            <a:off x="836676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100% · 100% · zero</a:t>
            </a:r>
            <a:endParaRPr lang="en-US" sz="1900" dirty="0"/>
          </a:p>
        </p:txBody>
      </p:sp>
      <p:sp>
        <p:nvSpPr>
          <p:cNvPr id="17" name="Text 15"/>
          <p:cNvSpPr/>
          <p:nvPr/>
        </p:nvSpPr>
        <p:spPr>
          <a:xfrm>
            <a:off x="836676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Event completeness, matched decision rate, and cost-floor violations on a 3,000-episode sample. It also produced the would-be exploration rate and the learning yield — the weeks-to-convergence answer, obtained at zero pricing risk.</a:t>
            </a:r>
            <a:endParaRPr lang="en-US" sz="1050" dirty="0"/>
          </a:p>
        </p:txBody>
      </p:sp>
      <p:sp>
        <p:nvSpPr>
          <p:cNvPr id="18" name="Shape 16"/>
          <p:cNvSpPr/>
          <p:nvPr/>
        </p:nvSpPr>
        <p:spPr>
          <a:xfrm>
            <a:off x="548640" y="5166360"/>
            <a:ext cx="11064240" cy="914400"/>
          </a:xfrm>
          <a:prstGeom prst="roundRect">
            <a:avLst>
              <a:gd name="adj" fmla="val 9000"/>
            </a:avLst>
          </a:prstGeom>
          <a:solidFill>
            <a:srgbClr val="EEF4E4"/>
          </a:solidFill>
          <a:ln/>
          <a:effectLst>
            <a:outerShdw sx="100000" sy="100000" kx="0" ky="0" algn="bl" rotWithShape="0" blurRad="76200" dist="25400" dir="5400000">
              <a:srgbClr val="3A4A36">
                <a:alpha val="18000"/>
              </a:srgbClr>
            </a:outerShdw>
          </a:effectLst>
        </p:spPr>
      </p:sp>
      <p:sp>
        <p:nvSpPr>
          <p:cNvPr id="19" name="Text 17"/>
          <p:cNvSpPr/>
          <p:nvPr/>
        </p:nvSpPr>
        <p:spPr>
          <a:xfrm>
            <a:off x="822960" y="5166360"/>
            <a:ext cx="10515600" cy="914400"/>
          </a:xfrm>
          <a:prstGeom prst="rect">
            <a:avLst/>
          </a:prstGeom>
          <a:noFill/>
          <a:ln/>
        </p:spPr>
        <p:txBody>
          <a:bodyPr wrap="square" lIns="0" tIns="0" rIns="0" bIns="0" rtlCol="0" anchor="ctr"/>
          <a:lstStyle/>
          <a:p>
            <a:pPr indent="0" marL="0">
              <a:buNone/>
            </a:pPr>
            <a:r>
              <a:rPr lang="en-US" sz="1250" b="1" dirty="0">
                <a:solidFill>
                  <a:srgbClr val="22301F"/>
                </a:solidFill>
                <a:latin typeface="Calibri" pitchFamily="34" charset="0"/>
                <a:ea typeface="Calibri" pitchFamily="34" charset="-122"/>
                <a:cs typeface="Calibri" pitchFamily="34" charset="-120"/>
              </a:rPr>
              <a:t>State comes from reality:  </a:t>
            </a:r>
            <a:pPr indent="0" marL="0">
              <a:buNone/>
            </a:pPr>
            <a:r>
              <a:rPr lang="en-US" sz="1250" dirty="0">
                <a:solidFill>
                  <a:srgbClr val="22301F"/>
                </a:solidFill>
                <a:latin typeface="Calibri" pitchFamily="34" charset="0"/>
                <a:ea typeface="Calibri" pitchFamily="34" charset="-122"/>
                <a:cs typeface="Calibri" pitchFamily="34" charset="-120"/>
              </a:rPr>
              <a:t>the anchor entering each hour is the discount legacy actually applied. Shadow answers “what would we have done from the real state”, which is the safety question — not “what would our price path have been”, which belongs to the replay.</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36</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HOW WE WILL KNOW</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The experiment that decides it</a:t>
            </a:r>
            <a:endParaRPr lang="en-US" sz="2900" dirty="0"/>
          </a:p>
        </p:txBody>
      </p:sp>
      <p:sp>
        <p:nvSpPr>
          <p:cNvPr id="6" name="Shape 4"/>
          <p:cNvSpPr/>
          <p:nvPr/>
        </p:nvSpPr>
        <p:spPr>
          <a:xfrm>
            <a:off x="548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7" name="Shape 5"/>
          <p:cNvSpPr/>
          <p:nvPr/>
        </p:nvSpPr>
        <p:spPr>
          <a:xfrm>
            <a:off x="804672" y="1896032"/>
            <a:ext cx="475488" cy="475488"/>
          </a:xfrm>
          <a:prstGeom prst="ellipse">
            <a:avLst/>
          </a:prstGeom>
          <a:solidFill>
            <a:srgbClr val="2C5F2D"/>
          </a:solidFill>
          <a:ln/>
        </p:spPr>
      </p:sp>
      <p:pic>
        <p:nvPicPr>
          <p:cNvPr id="8" name="Image 0" descr="preencoded.png">    </p:cNvPr>
          <p:cNvPicPr>
            <a:picLocks noChangeAspect="1"/>
          </p:cNvPicPr>
          <p:nvPr/>
        </p:nvPicPr>
        <p:blipFill>
          <a:blip r:embed="rId1"/>
          <a:stretch>
            <a:fillRect/>
          </a:stretch>
        </p:blipFill>
        <p:spPr>
          <a:xfrm>
            <a:off x="928299" y="2071299"/>
            <a:ext cx="228234" cy="228234"/>
          </a:xfrm>
          <a:prstGeom prst="rect">
            <a:avLst/>
          </a:prstGeom>
        </p:spPr>
      </p:pic>
      <p:sp>
        <p:nvSpPr>
          <p:cNvPr id="9" name="Text 6"/>
          <p:cNvSpPr/>
          <p:nvPr/>
        </p:nvSpPr>
        <p:spPr>
          <a:xfrm>
            <a:off x="1463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Randomise on SKU × FC, not episode</a:t>
            </a:r>
            <a:endParaRPr lang="en-US" sz="1500" dirty="0"/>
          </a:p>
        </p:txBody>
      </p:sp>
      <p:sp>
        <p:nvSpPr>
          <p:cNvPr id="10" name="Text 7"/>
          <p:cNvSpPr/>
          <p:nvPr/>
        </p:nvSpPr>
        <p:spPr>
          <a:xfrm>
            <a:off x="1463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Consecutive episodes of the same unit share inventory carryover, so episode-level assignment would leak treatment into control. 71,559 units, split 50/50 by a stable hash — the same hash the monitor uses, so the split measured in the derivation is the split that runs.</a:t>
            </a:r>
            <a:endParaRPr lang="en-US" sz="1150" dirty="0"/>
          </a:p>
        </p:txBody>
      </p:sp>
      <p:sp>
        <p:nvSpPr>
          <p:cNvPr id="11" name="Shape 8"/>
          <p:cNvSpPr/>
          <p:nvPr/>
        </p:nvSpPr>
        <p:spPr>
          <a:xfrm>
            <a:off x="6263640" y="164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2" name="Shape 9"/>
          <p:cNvSpPr/>
          <p:nvPr/>
        </p:nvSpPr>
        <p:spPr>
          <a:xfrm>
            <a:off x="6519672" y="1896032"/>
            <a:ext cx="475488" cy="475488"/>
          </a:xfrm>
          <a:prstGeom prst="ellipse">
            <a:avLst/>
          </a:prstGeom>
          <a:solidFill>
            <a:srgbClr val="2C5F2D"/>
          </a:solidFill>
          <a:ln/>
        </p:spPr>
      </p:sp>
      <p:pic>
        <p:nvPicPr>
          <p:cNvPr id="13" name="Image 1" descr="preencoded.png">    </p:cNvPr>
          <p:cNvPicPr>
            <a:picLocks noChangeAspect="1"/>
          </p:cNvPicPr>
          <p:nvPr/>
        </p:nvPicPr>
        <p:blipFill>
          <a:blip r:embed="rId2"/>
          <a:stretch>
            <a:fillRect/>
          </a:stretch>
        </p:blipFill>
        <p:spPr>
          <a:xfrm>
            <a:off x="6643299" y="2071299"/>
            <a:ext cx="228234" cy="228234"/>
          </a:xfrm>
          <a:prstGeom prst="rect">
            <a:avLst/>
          </a:prstGeom>
        </p:spPr>
      </p:pic>
      <p:sp>
        <p:nvSpPr>
          <p:cNvPr id="14" name="Text 10"/>
          <p:cNvSpPr/>
          <p:nvPr/>
        </p:nvSpPr>
        <p:spPr>
          <a:xfrm>
            <a:off x="7178040" y="189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A ratio of sums, clustered</a:t>
            </a:r>
            <a:endParaRPr lang="en-US" sz="1500" dirty="0"/>
          </a:p>
        </p:txBody>
      </p:sp>
      <p:sp>
        <p:nvSpPr>
          <p:cNvPr id="15" name="Text 11"/>
          <p:cNvSpPr/>
          <p:nvPr/>
        </p:nvSpPr>
        <p:spPr>
          <a:xfrm>
            <a:off x="7178040" y="242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IL% is a ratio of sums, never a mean of per-episode ratios — a zero-sale episode has no defined ratio. Analysed by delta-method linearisation with standard errors clustered on the assignment unit, and absolute IL reported beside every IL%.</a:t>
            </a:r>
            <a:endParaRPr lang="en-US" sz="1150" dirty="0"/>
          </a:p>
        </p:txBody>
      </p:sp>
      <p:sp>
        <p:nvSpPr>
          <p:cNvPr id="16" name="Shape 12"/>
          <p:cNvSpPr/>
          <p:nvPr/>
        </p:nvSpPr>
        <p:spPr>
          <a:xfrm>
            <a:off x="548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17" name="Shape 13"/>
          <p:cNvSpPr/>
          <p:nvPr/>
        </p:nvSpPr>
        <p:spPr>
          <a:xfrm>
            <a:off x="804672" y="4246032"/>
            <a:ext cx="475488" cy="475488"/>
          </a:xfrm>
          <a:prstGeom prst="ellipse">
            <a:avLst/>
          </a:prstGeom>
          <a:solidFill>
            <a:srgbClr val="2C5F2D"/>
          </a:solidFill>
          <a:ln/>
        </p:spPr>
      </p:sp>
      <p:pic>
        <p:nvPicPr>
          <p:cNvPr id="18" name="Image 2" descr="preencoded.png">    </p:cNvPr>
          <p:cNvPicPr>
            <a:picLocks noChangeAspect="1"/>
          </p:cNvPicPr>
          <p:nvPr/>
        </p:nvPicPr>
        <p:blipFill>
          <a:blip r:embed="rId3"/>
          <a:stretch>
            <a:fillRect/>
          </a:stretch>
        </p:blipFill>
        <p:spPr>
          <a:xfrm>
            <a:off x="928299" y="4220139"/>
            <a:ext cx="228234" cy="228234"/>
          </a:xfrm>
          <a:prstGeom prst="rect">
            <a:avLst/>
          </a:prstGeom>
        </p:spPr>
      </p:pic>
      <p:sp>
        <p:nvSpPr>
          <p:cNvPr id="19" name="Text 14"/>
          <p:cNvSpPr/>
          <p:nvPr/>
        </p:nvSpPr>
        <p:spPr>
          <a:xfrm>
            <a:off x="1463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It cannot measure elasticity</a:t>
            </a:r>
            <a:endParaRPr lang="en-US" sz="1500" dirty="0"/>
          </a:p>
        </p:txBody>
      </p:sp>
      <p:sp>
        <p:nvSpPr>
          <p:cNvPr id="20" name="Text 15"/>
          <p:cNvSpPr/>
          <p:nvPr/>
        </p:nvSpPr>
        <p:spPr>
          <a:xfrm>
            <a:off x="1463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Both arms are POLICIES, not price randomisations, so the A/B answers “does the policy beat legacy” and nothing else. Elasticity learning happens inside the treatment arm from forced exploration — two separate mechanisms answering two separate questions.</a:t>
            </a:r>
            <a:endParaRPr lang="en-US" sz="1150" dirty="0"/>
          </a:p>
        </p:txBody>
      </p:sp>
      <p:sp>
        <p:nvSpPr>
          <p:cNvPr id="21" name="Shape 16"/>
          <p:cNvSpPr/>
          <p:nvPr/>
        </p:nvSpPr>
        <p:spPr>
          <a:xfrm>
            <a:off x="6263640" y="3990000"/>
            <a:ext cx="5532120" cy="2210000"/>
          </a:xfrm>
          <a:prstGeom prst="roundRect">
            <a:avLst>
              <a:gd name="adj" fmla="val 4186"/>
            </a:avLst>
          </a:prstGeom>
          <a:solidFill>
            <a:srgbClr val="F6F8F2"/>
          </a:solidFill>
          <a:ln/>
          <a:effectLst>
            <a:outerShdw sx="100000" sy="100000" kx="0" ky="0" algn="bl" rotWithShape="0" blurRad="76200" dist="25400" dir="5400000">
              <a:srgbClr val="3A4A36">
                <a:alpha val="18000"/>
              </a:srgbClr>
            </a:outerShdw>
          </a:effectLst>
        </p:spPr>
      </p:sp>
      <p:sp>
        <p:nvSpPr>
          <p:cNvPr id="22" name="Shape 17"/>
          <p:cNvSpPr/>
          <p:nvPr/>
        </p:nvSpPr>
        <p:spPr>
          <a:xfrm>
            <a:off x="6519672" y="4246032"/>
            <a:ext cx="475488" cy="475488"/>
          </a:xfrm>
          <a:prstGeom prst="ellipse">
            <a:avLst/>
          </a:prstGeom>
          <a:solidFill>
            <a:srgbClr val="2C5F2D"/>
          </a:solidFill>
          <a:ln/>
        </p:spPr>
      </p:sp>
      <p:pic>
        <p:nvPicPr>
          <p:cNvPr id="23" name="Image 3" descr="preencoded.png">    </p:cNvPr>
          <p:cNvPicPr>
            <a:picLocks noChangeAspect="1"/>
          </p:cNvPicPr>
          <p:nvPr/>
        </p:nvPicPr>
        <p:blipFill>
          <a:blip r:embed="rId4"/>
          <a:stretch>
            <a:fillRect/>
          </a:stretch>
        </p:blipFill>
        <p:spPr>
          <a:xfrm>
            <a:off x="6643299" y="4220139"/>
            <a:ext cx="228234" cy="228234"/>
          </a:xfrm>
          <a:prstGeom prst="rect">
            <a:avLst/>
          </a:prstGeom>
        </p:spPr>
      </p:pic>
      <p:sp>
        <p:nvSpPr>
          <p:cNvPr id="24" name="Text 18"/>
          <p:cNvSpPr/>
          <p:nvPr/>
        </p:nvSpPr>
        <p:spPr>
          <a:xfrm>
            <a:off x="7178040" y="4246032"/>
            <a:ext cx="4480560" cy="475488"/>
          </a:xfrm>
          <a:prstGeom prst="rect">
            <a:avLst/>
          </a:prstGeom>
          <a:noFill/>
          <a:ln/>
        </p:spPr>
        <p:txBody>
          <a:bodyPr wrap="square" lIns="0" tIns="0" rIns="0" bIns="0" rtlCol="0" anchor="ctr"/>
          <a:lstStyle/>
          <a:p>
            <a:pPr indent="0" marL="0">
              <a:buNone/>
            </a:pPr>
            <a:r>
              <a:rPr lang="en-US" sz="1500" b="1" dirty="0">
                <a:solidFill>
                  <a:srgbClr val="22301F"/>
                </a:solidFill>
                <a:latin typeface="Cambria" pitchFamily="34" charset="0"/>
                <a:ea typeface="Cambria" pitchFamily="34" charset="-122"/>
                <a:cs typeface="Cambria" pitchFamily="34" charset="-120"/>
              </a:rPr>
              <a:t>Decided before it starts</a:t>
            </a:r>
            <a:endParaRPr lang="en-US" sz="1500" dirty="0"/>
          </a:p>
        </p:txBody>
      </p:sp>
      <p:sp>
        <p:nvSpPr>
          <p:cNvPr id="25" name="Text 19"/>
          <p:cNvSpPr/>
          <p:nvPr/>
        </p:nvSpPr>
        <p:spPr>
          <a:xfrm>
            <a:off x="7178040" y="4776384"/>
            <a:ext cx="4434840" cy="1341320"/>
          </a:xfrm>
          <a:prstGeom prst="rect">
            <a:avLst/>
          </a:prstGeom>
          <a:noFill/>
          <a:ln/>
        </p:spPr>
        <p:txBody>
          <a:bodyPr wrap="square" lIns="0" tIns="0" rIns="0" bIns="0" rtlCol="0" anchor="ctr"/>
          <a:lstStyle/>
          <a:p>
            <a:pPr indent="0" marL="0">
              <a:buNone/>
            </a:pPr>
            <a:r>
              <a:rPr lang="en-US" sz="1150" dirty="0">
                <a:solidFill>
                  <a:srgbClr val="5F6B5C"/>
                </a:solidFill>
                <a:latin typeface="Calibri" pitchFamily="34" charset="0"/>
                <a:ea typeface="Calibri" pitchFamily="34" charset="-122"/>
                <a:cs typeface="Calibri" pitchFamily="34" charset="-120"/>
              </a:rPr>
              <a:t>Duration fixed in advance and honoured — no early reads. The four-cell decision table is pre-committed. Guardrails on scrap, margin, sell-through and stockout rate; a breach halts the treatment arm, and it stops LEARNING, never pricing.</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37</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EXPERIMENT DESIGN</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We measured the standard error, not √T</a:t>
            </a:r>
            <a:endParaRPr lang="en-US" sz="2900" dirty="0"/>
          </a:p>
        </p:txBody>
      </p:sp>
      <p:sp>
        <p:nvSpPr>
          <p:cNvPr id="6" name="Shape 4"/>
          <p:cNvSpPr/>
          <p:nvPr/>
        </p:nvSpPr>
        <p:spPr>
          <a:xfrm>
            <a:off x="548640" y="1645920"/>
            <a:ext cx="6035040" cy="2286000"/>
          </a:xfrm>
          <a:prstGeom prst="roundRect">
            <a:avLst>
              <a:gd name="adj" fmla="val 3600"/>
            </a:avLst>
          </a:prstGeom>
          <a:solidFill>
            <a:srgbClr val="EEF4E4"/>
          </a:solidFill>
          <a:ln/>
          <a:effectLst>
            <a:outerShdw sx="100000" sy="100000" kx="0" ky="0" algn="bl" rotWithShape="0" blurRad="76200" dist="25400" dir="5400000">
              <a:srgbClr val="3A4A36">
                <a:alpha val="18000"/>
              </a:srgbClr>
            </a:outerShdw>
          </a:effectLst>
        </p:spPr>
      </p:sp>
      <p:sp>
        <p:nvSpPr>
          <p:cNvPr id="7" name="Text 5"/>
          <p:cNvSpPr/>
          <p:nvPr/>
        </p:nvSpPr>
        <p:spPr>
          <a:xfrm>
            <a:off x="822960" y="1828800"/>
            <a:ext cx="5486400" cy="365760"/>
          </a:xfrm>
          <a:prstGeom prst="rect">
            <a:avLst/>
          </a:prstGeom>
          <a:noFill/>
          <a:ln/>
        </p:spPr>
        <p:txBody>
          <a:bodyPr wrap="square" lIns="0" tIns="0" rIns="0" bIns="0" rtlCol="0" anchor="ctr"/>
          <a:lstStyle/>
          <a:p>
            <a:pPr indent="0" marL="0">
              <a:buNone/>
            </a:pPr>
            <a:r>
              <a:rPr lang="en-US" sz="1300" b="1" dirty="0">
                <a:solidFill>
                  <a:srgbClr val="22301F"/>
                </a:solidFill>
                <a:latin typeface="Calibri" pitchFamily="34" charset="0"/>
                <a:ea typeface="Calibri" pitchFamily="34" charset="-122"/>
                <a:cs typeface="Calibri" pitchFamily="34" charset="-120"/>
              </a:rPr>
              <a:t>Duration comes from real blocks of history:</a:t>
            </a:r>
            <a:endParaRPr lang="en-US" sz="1300" dirty="0"/>
          </a:p>
        </p:txBody>
      </p:sp>
      <p:sp>
        <p:nvSpPr>
          <p:cNvPr id="8" name="Text 6"/>
          <p:cNvSpPr/>
          <p:nvPr/>
        </p:nvSpPr>
        <p:spPr>
          <a:xfrm>
            <a:off x="822960" y="2286000"/>
            <a:ext cx="5577840" cy="1463040"/>
          </a:xfrm>
          <a:prstGeom prst="rect">
            <a:avLst/>
          </a:prstGeom>
          <a:noFill/>
          <a:ln/>
        </p:spPr>
        <p:txBody>
          <a:bodyPr wrap="square" lIns="0" tIns="0" rIns="0" bIns="0" rtlCol="0" anchor="ctr"/>
          <a:lstStyle/>
          <a:p>
            <a:pPr indent="0" marL="0">
              <a:buNone/>
            </a:pPr>
            <a:r>
              <a:rPr lang="en-US" sz="1350" dirty="0">
                <a:solidFill>
                  <a:srgbClr val="22301F"/>
                </a:solidFill>
                <a:latin typeface="Courier New" pitchFamily="34" charset="0"/>
                <a:ea typeface="Courier New" pitchFamily="34" charset="-122"/>
                <a:cs typeface="Courier New" pitchFamily="34" charset="-120"/>
              </a:rPr>
              <a:t>MDE(T)   =  (z_α/2 + z_power) × SE_diff(T)</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SE_diff  =  2 × SE_pooled     at 50/50 split</a:t>
            </a:r>
            <a:endParaRPr lang="en-US" sz="1350" dirty="0"/>
          </a:p>
          <a:p>
            <a:pPr indent="0" marL="0">
              <a:buNone/>
            </a:pPr>
            <a:r>
              <a:rPr lang="en-US" sz="1350" dirty="0">
                <a:solidFill>
                  <a:srgbClr val="22301F"/>
                </a:solidFill>
                <a:latin typeface="Courier New" pitchFamily="34" charset="0"/>
                <a:ea typeface="Courier New" pitchFamily="34" charset="-122"/>
                <a:cs typeface="Courier New" pitchFamily="34" charset="-120"/>
              </a:rPr>
              <a:t>SE_pooled measured on real T-week blocks</a:t>
            </a:r>
            <a:endParaRPr lang="en-US" sz="1350" dirty="0"/>
          </a:p>
        </p:txBody>
      </p:sp>
      <p:sp>
        <p:nvSpPr>
          <p:cNvPr id="9" name="Text 7"/>
          <p:cNvSpPr/>
          <p:nvPr/>
        </p:nvSpPr>
        <p:spPr>
          <a:xfrm>
            <a:off x="548640" y="4160520"/>
            <a:ext cx="6126480" cy="210312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IL% is a ratio of sums, analysed by delta-method linearisation with standard errors clustered on the randomisation unit — SKU × fulfilment centre, not episode, because consecutive episodes of the same unit share inventory carryover and would contaminate the arms.</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Duration buys almost nothing. √T says six weeks should reach 3.90% against two weeks' 6.75%; measured it reaches 5.74% — 15% better for three times the calendar. Variance is dominated by spread between the 71,559 SKU × FC units, and extra weeks add correlated observations of the same units, not new ones.</a:t>
            </a:r>
            <a:endParaRPr lang="en-US" sz="1200" dirty="0"/>
          </a:p>
          <a:p>
            <a:pPr marL="152400" indent="-152400">
              <a:spcAft>
                <a:spcPts val="800"/>
              </a:spcAft>
              <a:buSzPct val="100000"/>
              <a:buChar char="•"/>
            </a:pPr>
            <a:r>
              <a:rPr lang="en-US" sz="1200" dirty="0">
                <a:solidFill>
                  <a:srgbClr val="22301F"/>
                </a:solidFill>
                <a:latin typeface="Calibri" pitchFamily="34" charset="0"/>
                <a:ea typeface="Calibri" pitchFamily="34" charset="-122"/>
                <a:cs typeface="Calibri" pitchFamily="34" charset="-120"/>
              </a:rPr>
              <a:t>Past six weeks the block count falls to 1–3 and those rows are noise — eight weeks measures WORSE than two. Two weeks it is: 6.75% against a measured 38% effect, a 5.6× margin.</a:t>
            </a:r>
            <a:endParaRPr lang="en-US" sz="1200" dirty="0"/>
          </a:p>
        </p:txBody>
      </p:sp>
      <p:sp>
        <p:nvSpPr>
          <p:cNvPr id="10" name="Text 8"/>
          <p:cNvSpPr/>
          <p:nvPr/>
        </p:nvSpPr>
        <p:spPr>
          <a:xfrm>
            <a:off x="7040880" y="182880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0.002915</a:t>
            </a:r>
            <a:endParaRPr lang="en-US" sz="3800" dirty="0"/>
          </a:p>
        </p:txBody>
      </p:sp>
      <p:sp>
        <p:nvSpPr>
          <p:cNvPr id="11" name="Text 9"/>
          <p:cNvSpPr/>
          <p:nvPr/>
        </p:nvSpPr>
        <p:spPr>
          <a:xfrm>
            <a:off x="7040880" y="248716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clustered standard error of the IL% ratio estimator over the full window, on SKU × FC</a:t>
            </a:r>
            <a:endParaRPr lang="en-US" sz="1100" dirty="0"/>
          </a:p>
        </p:txBody>
      </p:sp>
      <p:sp>
        <p:nvSpPr>
          <p:cNvPr id="12" name="Text 10"/>
          <p:cNvSpPr/>
          <p:nvPr/>
        </p:nvSpPr>
        <p:spPr>
          <a:xfrm>
            <a:off x="7040880" y="3246120"/>
            <a:ext cx="4389120" cy="658368"/>
          </a:xfrm>
          <a:prstGeom prst="rect">
            <a:avLst/>
          </a:prstGeom>
          <a:noFill/>
          <a:ln/>
        </p:spPr>
        <p:txBody>
          <a:bodyPr wrap="square" lIns="0" tIns="0" rIns="0" bIns="0"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6.75%</a:t>
            </a:r>
            <a:endParaRPr lang="en-US" sz="3800" dirty="0"/>
          </a:p>
        </p:txBody>
      </p:sp>
      <p:sp>
        <p:nvSpPr>
          <p:cNvPr id="13" name="Text 11"/>
          <p:cNvSpPr/>
          <p:nvPr/>
        </p:nvSpPr>
        <p:spPr>
          <a:xfrm>
            <a:off x="7040880" y="390448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detectable in two weeks, on nine measured blocks — the only well-sampled row</a:t>
            </a:r>
            <a:endParaRPr lang="en-US" sz="1100" dirty="0"/>
          </a:p>
        </p:txBody>
      </p:sp>
      <p:sp>
        <p:nvSpPr>
          <p:cNvPr id="14" name="Text 12"/>
          <p:cNvSpPr/>
          <p:nvPr/>
        </p:nvSpPr>
        <p:spPr>
          <a:xfrm>
            <a:off x="7040880" y="4663440"/>
            <a:ext cx="4389120" cy="658368"/>
          </a:xfrm>
          <a:prstGeom prst="rect">
            <a:avLst/>
          </a:prstGeom>
          <a:noFill/>
          <a:ln/>
        </p:spPr>
        <p:txBody>
          <a:bodyPr wrap="square" lIns="0" tIns="0" rIns="0" bIns="0" rtlCol="0" anchor="ctr"/>
          <a:lstStyle/>
          <a:p>
            <a:pPr indent="0" marL="0">
              <a:buNone/>
            </a:pPr>
            <a:r>
              <a:rPr lang="en-US" sz="3200" b="1" dirty="0">
                <a:solidFill>
                  <a:srgbClr val="2C5F2D"/>
                </a:solidFill>
                <a:latin typeface="Cambria" pitchFamily="34" charset="0"/>
                <a:ea typeface="Cambria" pitchFamily="34" charset="-122"/>
                <a:cs typeface="Cambria" pitchFamily="34" charset="-120"/>
              </a:rPr>
              <a:t>5.74%</a:t>
            </a:r>
            <a:endParaRPr lang="en-US" sz="3200" dirty="0"/>
          </a:p>
        </p:txBody>
      </p:sp>
      <p:sp>
        <p:nvSpPr>
          <p:cNvPr id="15" name="Text 13"/>
          <p:cNvSpPr/>
          <p:nvPr/>
        </p:nvSpPr>
        <p:spPr>
          <a:xfrm>
            <a:off x="7040880" y="5321808"/>
            <a:ext cx="4389120" cy="566928"/>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the best any duration reaches (six weeks, three blocks) — √T promised 3.90%</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38</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LAUNCH PLAN</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Five phases, each behind a blocking gate</a:t>
            </a:r>
            <a:endParaRPr lang="en-US" sz="2900" dirty="0"/>
          </a:p>
        </p:txBody>
      </p:sp>
      <p:sp>
        <p:nvSpPr>
          <p:cNvPr id="6" name="Shape 4"/>
          <p:cNvSpPr/>
          <p:nvPr/>
        </p:nvSpPr>
        <p:spPr>
          <a:xfrm>
            <a:off x="548640" y="1828800"/>
            <a:ext cx="3611880" cy="1920240"/>
          </a:xfrm>
          <a:prstGeom prst="roundRect">
            <a:avLst>
              <a:gd name="adj" fmla="val 4286"/>
            </a:avLst>
          </a:prstGeom>
          <a:solidFill>
            <a:srgbClr val="F6F8F2"/>
          </a:solidFill>
          <a:ln/>
          <a:effectLst>
            <a:outerShdw sx="100000" sy="100000" kx="0" ky="0" algn="bl" rotWithShape="0" blurRad="76200" dist="25400" dir="5400000">
              <a:srgbClr val="3A4A36">
                <a:alpha val="18000"/>
              </a:srgbClr>
            </a:outerShdw>
          </a:effectLst>
        </p:spPr>
      </p:sp>
      <p:sp>
        <p:nvSpPr>
          <p:cNvPr id="7" name="Text 5"/>
          <p:cNvSpPr/>
          <p:nvPr/>
        </p:nvSpPr>
        <p:spPr>
          <a:xfrm>
            <a:off x="777240" y="1993392"/>
            <a:ext cx="3108960" cy="384048"/>
          </a:xfrm>
          <a:prstGeom prst="rect">
            <a:avLst/>
          </a:prstGeom>
          <a:noFill/>
          <a:ln/>
        </p:spPr>
        <p:txBody>
          <a:bodyPr wrap="square" lIns="0" tIns="0" rIns="0" bIns="0" rtlCol="0" anchor="ctr"/>
          <a:lstStyle/>
          <a:p>
            <a:pPr indent="0" marL="0">
              <a:buNone/>
            </a:pPr>
            <a:r>
              <a:rPr lang="en-US" sz="1550" b="1" dirty="0">
                <a:solidFill>
                  <a:srgbClr val="22301F"/>
                </a:solidFill>
                <a:latin typeface="Cambria" pitchFamily="34" charset="0"/>
                <a:ea typeface="Cambria" pitchFamily="34" charset="-122"/>
                <a:cs typeface="Cambria" pitchFamily="34" charset="-120"/>
              </a:rPr>
              <a:t>0 · Measure</a:t>
            </a:r>
            <a:endParaRPr lang="en-US" sz="1550" dirty="0"/>
          </a:p>
        </p:txBody>
      </p:sp>
      <p:sp>
        <p:nvSpPr>
          <p:cNvPr id="8" name="Text 6"/>
          <p:cNvSpPr/>
          <p:nvPr/>
        </p:nvSpPr>
        <p:spPr>
          <a:xfrm>
            <a:off x="777240" y="2395728"/>
            <a:ext cx="3200400" cy="8686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Historical measurement; config populated from data</a:t>
            </a:r>
            <a:endParaRPr lang="en-US" sz="1100" dirty="0"/>
          </a:p>
        </p:txBody>
      </p:sp>
      <p:sp>
        <p:nvSpPr>
          <p:cNvPr id="9" name="Shape 7"/>
          <p:cNvSpPr/>
          <p:nvPr/>
        </p:nvSpPr>
        <p:spPr>
          <a:xfrm>
            <a:off x="777240" y="3291840"/>
            <a:ext cx="1600200" cy="310896"/>
          </a:xfrm>
          <a:prstGeom prst="roundRect">
            <a:avLst>
              <a:gd name="adj" fmla="val 14706"/>
            </a:avLst>
          </a:prstGeom>
          <a:solidFill>
            <a:srgbClr val="2C5F2D"/>
          </a:solidFill>
          <a:ln/>
        </p:spPr>
      </p:sp>
      <p:sp>
        <p:nvSpPr>
          <p:cNvPr id="10" name="Text 8"/>
          <p:cNvSpPr/>
          <p:nvPr/>
        </p:nvSpPr>
        <p:spPr>
          <a:xfrm>
            <a:off x="777240" y="3291840"/>
            <a:ext cx="16002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DONE</a:t>
            </a:r>
            <a:endParaRPr lang="en-US" sz="1000" dirty="0"/>
          </a:p>
        </p:txBody>
      </p:sp>
      <p:sp>
        <p:nvSpPr>
          <p:cNvPr id="11" name="Shape 9"/>
          <p:cNvSpPr/>
          <p:nvPr/>
        </p:nvSpPr>
        <p:spPr>
          <a:xfrm>
            <a:off x="4343400" y="1828800"/>
            <a:ext cx="3611880" cy="1920240"/>
          </a:xfrm>
          <a:prstGeom prst="roundRect">
            <a:avLst>
              <a:gd name="adj" fmla="val 4286"/>
            </a:avLst>
          </a:prstGeom>
          <a:solidFill>
            <a:srgbClr val="F6F8F2"/>
          </a:solidFill>
          <a:ln/>
          <a:effectLst>
            <a:outerShdw sx="100000" sy="100000" kx="0" ky="0" algn="bl" rotWithShape="0" blurRad="76200" dist="25400" dir="5400000">
              <a:srgbClr val="3A4A36">
                <a:alpha val="18000"/>
              </a:srgbClr>
            </a:outerShdw>
          </a:effectLst>
        </p:spPr>
      </p:sp>
      <p:sp>
        <p:nvSpPr>
          <p:cNvPr id="12" name="Text 10"/>
          <p:cNvSpPr/>
          <p:nvPr/>
        </p:nvSpPr>
        <p:spPr>
          <a:xfrm>
            <a:off x="4572000" y="1993392"/>
            <a:ext cx="3108960" cy="384048"/>
          </a:xfrm>
          <a:prstGeom prst="rect">
            <a:avLst/>
          </a:prstGeom>
          <a:noFill/>
          <a:ln/>
        </p:spPr>
        <p:txBody>
          <a:bodyPr wrap="square" lIns="0" tIns="0" rIns="0" bIns="0" rtlCol="0" anchor="ctr"/>
          <a:lstStyle/>
          <a:p>
            <a:pPr indent="0" marL="0">
              <a:buNone/>
            </a:pPr>
            <a:r>
              <a:rPr lang="en-US" sz="1550" b="1" dirty="0">
                <a:solidFill>
                  <a:srgbClr val="22301F"/>
                </a:solidFill>
                <a:latin typeface="Cambria" pitchFamily="34" charset="0"/>
                <a:ea typeface="Cambria" pitchFamily="34" charset="-122"/>
                <a:cs typeface="Cambria" pitchFamily="34" charset="-120"/>
              </a:rPr>
              <a:t>0b · Calibrate</a:t>
            </a:r>
            <a:endParaRPr lang="en-US" sz="1550" dirty="0"/>
          </a:p>
        </p:txBody>
      </p:sp>
      <p:sp>
        <p:nvSpPr>
          <p:cNvPr id="13" name="Text 11"/>
          <p:cNvSpPr/>
          <p:nvPr/>
        </p:nvSpPr>
        <p:spPr>
          <a:xfrm>
            <a:off x="4572000" y="2395728"/>
            <a:ext cx="3200400" cy="8686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Fidelity + prior gates on production data</a:t>
            </a:r>
            <a:endParaRPr lang="en-US" sz="1100" dirty="0"/>
          </a:p>
        </p:txBody>
      </p:sp>
      <p:sp>
        <p:nvSpPr>
          <p:cNvPr id="14" name="Shape 12"/>
          <p:cNvSpPr/>
          <p:nvPr/>
        </p:nvSpPr>
        <p:spPr>
          <a:xfrm>
            <a:off x="4572000" y="3291840"/>
            <a:ext cx="1600200" cy="310896"/>
          </a:xfrm>
          <a:prstGeom prst="roundRect">
            <a:avLst>
              <a:gd name="adj" fmla="val 14706"/>
            </a:avLst>
          </a:prstGeom>
          <a:solidFill>
            <a:srgbClr val="2C5F2D"/>
          </a:solidFill>
          <a:ln/>
        </p:spPr>
      </p:sp>
      <p:sp>
        <p:nvSpPr>
          <p:cNvPr id="15" name="Text 13"/>
          <p:cNvSpPr/>
          <p:nvPr/>
        </p:nvSpPr>
        <p:spPr>
          <a:xfrm>
            <a:off x="4572000" y="3291840"/>
            <a:ext cx="16002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DONE</a:t>
            </a:r>
            <a:endParaRPr lang="en-US" sz="1000" dirty="0"/>
          </a:p>
        </p:txBody>
      </p:sp>
      <p:sp>
        <p:nvSpPr>
          <p:cNvPr id="16" name="Shape 14"/>
          <p:cNvSpPr/>
          <p:nvPr/>
        </p:nvSpPr>
        <p:spPr>
          <a:xfrm>
            <a:off x="8138160" y="1828800"/>
            <a:ext cx="3611880" cy="1920240"/>
          </a:xfrm>
          <a:prstGeom prst="roundRect">
            <a:avLst>
              <a:gd name="adj" fmla="val 4286"/>
            </a:avLst>
          </a:prstGeom>
          <a:solidFill>
            <a:srgbClr val="F6F8F2"/>
          </a:solidFill>
          <a:ln/>
          <a:effectLst>
            <a:outerShdw sx="100000" sy="100000" kx="0" ky="0" algn="bl" rotWithShape="0" blurRad="76200" dist="25400" dir="5400000">
              <a:srgbClr val="3A4A36">
                <a:alpha val="18000"/>
              </a:srgbClr>
            </a:outerShdw>
          </a:effectLst>
        </p:spPr>
      </p:sp>
      <p:sp>
        <p:nvSpPr>
          <p:cNvPr id="17" name="Text 15"/>
          <p:cNvSpPr/>
          <p:nvPr/>
        </p:nvSpPr>
        <p:spPr>
          <a:xfrm>
            <a:off x="8366760" y="1993392"/>
            <a:ext cx="3108960" cy="384048"/>
          </a:xfrm>
          <a:prstGeom prst="rect">
            <a:avLst/>
          </a:prstGeom>
          <a:noFill/>
          <a:ln/>
        </p:spPr>
        <p:txBody>
          <a:bodyPr wrap="square" lIns="0" tIns="0" rIns="0" bIns="0" rtlCol="0" anchor="ctr"/>
          <a:lstStyle/>
          <a:p>
            <a:pPr indent="0" marL="0">
              <a:buNone/>
            </a:pPr>
            <a:r>
              <a:rPr lang="en-US" sz="1550" b="1" dirty="0">
                <a:solidFill>
                  <a:srgbClr val="22301F"/>
                </a:solidFill>
                <a:latin typeface="Cambria" pitchFamily="34" charset="0"/>
                <a:ea typeface="Cambria" pitchFamily="34" charset="-122"/>
                <a:cs typeface="Cambria" pitchFamily="34" charset="-120"/>
              </a:rPr>
              <a:t>1 · Shadow</a:t>
            </a:r>
            <a:endParaRPr lang="en-US" sz="1550" dirty="0"/>
          </a:p>
        </p:txBody>
      </p:sp>
      <p:sp>
        <p:nvSpPr>
          <p:cNvPr id="18" name="Text 16"/>
          <p:cNvSpPr/>
          <p:nvPr/>
        </p:nvSpPr>
        <p:spPr>
          <a:xfrm>
            <a:off x="8366760" y="2395728"/>
            <a:ext cx="3200400" cy="8686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Full decision path live, no prices applied — 3,000-episode sample: 100% completeness, 100% matched, zero cost-floor violations</a:t>
            </a:r>
            <a:endParaRPr lang="en-US" sz="1100" dirty="0"/>
          </a:p>
        </p:txBody>
      </p:sp>
      <p:sp>
        <p:nvSpPr>
          <p:cNvPr id="19" name="Shape 17"/>
          <p:cNvSpPr/>
          <p:nvPr/>
        </p:nvSpPr>
        <p:spPr>
          <a:xfrm>
            <a:off x="8366760" y="3291840"/>
            <a:ext cx="1600200" cy="310896"/>
          </a:xfrm>
          <a:prstGeom prst="roundRect">
            <a:avLst>
              <a:gd name="adj" fmla="val 14706"/>
            </a:avLst>
          </a:prstGeom>
          <a:solidFill>
            <a:srgbClr val="C8901A"/>
          </a:solidFill>
          <a:ln/>
        </p:spPr>
      </p:sp>
      <p:sp>
        <p:nvSpPr>
          <p:cNvPr id="20" name="Text 18"/>
          <p:cNvSpPr/>
          <p:nvPr/>
        </p:nvSpPr>
        <p:spPr>
          <a:xfrm>
            <a:off x="8366760" y="3291840"/>
            <a:ext cx="16002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DONE</a:t>
            </a:r>
            <a:endParaRPr lang="en-US" sz="1000" dirty="0"/>
          </a:p>
        </p:txBody>
      </p:sp>
      <p:sp>
        <p:nvSpPr>
          <p:cNvPr id="21" name="Shape 19"/>
          <p:cNvSpPr/>
          <p:nvPr/>
        </p:nvSpPr>
        <p:spPr>
          <a:xfrm>
            <a:off x="548640" y="3977640"/>
            <a:ext cx="3611880" cy="1920240"/>
          </a:xfrm>
          <a:prstGeom prst="roundRect">
            <a:avLst>
              <a:gd name="adj" fmla="val 4286"/>
            </a:avLst>
          </a:prstGeom>
          <a:solidFill>
            <a:srgbClr val="F6F8F2"/>
          </a:solidFill>
          <a:ln/>
          <a:effectLst>
            <a:outerShdw sx="100000" sy="100000" kx="0" ky="0" algn="bl" rotWithShape="0" blurRad="76200" dist="25400" dir="5400000">
              <a:srgbClr val="3A4A36">
                <a:alpha val="18000"/>
              </a:srgbClr>
            </a:outerShdw>
          </a:effectLst>
        </p:spPr>
      </p:sp>
      <p:sp>
        <p:nvSpPr>
          <p:cNvPr id="22" name="Text 20"/>
          <p:cNvSpPr/>
          <p:nvPr/>
        </p:nvSpPr>
        <p:spPr>
          <a:xfrm>
            <a:off x="777240" y="4142232"/>
            <a:ext cx="3108960" cy="384048"/>
          </a:xfrm>
          <a:prstGeom prst="rect">
            <a:avLst/>
          </a:prstGeom>
          <a:noFill/>
          <a:ln/>
        </p:spPr>
        <p:txBody>
          <a:bodyPr wrap="square" lIns="0" tIns="0" rIns="0" bIns="0" rtlCol="0" anchor="ctr"/>
          <a:lstStyle/>
          <a:p>
            <a:pPr indent="0" marL="0">
              <a:buNone/>
            </a:pPr>
            <a:r>
              <a:rPr lang="en-US" sz="1550" b="1" dirty="0">
                <a:solidFill>
                  <a:srgbClr val="22301F"/>
                </a:solidFill>
                <a:latin typeface="Cambria" pitchFamily="34" charset="0"/>
                <a:ea typeface="Cambria" pitchFamily="34" charset="-122"/>
                <a:cs typeface="Cambria" pitchFamily="34" charset="-120"/>
              </a:rPr>
              <a:t>2 · Exploit pilot</a:t>
            </a:r>
            <a:endParaRPr lang="en-US" sz="1550" dirty="0"/>
          </a:p>
        </p:txBody>
      </p:sp>
      <p:sp>
        <p:nvSpPr>
          <p:cNvPr id="23" name="Text 21"/>
          <p:cNvSpPr/>
          <p:nvPr/>
        </p:nvSpPr>
        <p:spPr>
          <a:xfrm>
            <a:off x="777240" y="4544568"/>
            <a:ext cx="3200400" cy="8686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Small SKU set, exploration off; price-execution fidelity</a:t>
            </a:r>
            <a:endParaRPr lang="en-US" sz="1100" dirty="0"/>
          </a:p>
        </p:txBody>
      </p:sp>
      <p:sp>
        <p:nvSpPr>
          <p:cNvPr id="24" name="Shape 22"/>
          <p:cNvSpPr/>
          <p:nvPr/>
        </p:nvSpPr>
        <p:spPr>
          <a:xfrm>
            <a:off x="777240" y="5440680"/>
            <a:ext cx="1600200" cy="310896"/>
          </a:xfrm>
          <a:prstGeom prst="roundRect">
            <a:avLst>
              <a:gd name="adj" fmla="val 14706"/>
            </a:avLst>
          </a:prstGeom>
          <a:solidFill>
            <a:srgbClr val="5F6B5C"/>
          </a:solidFill>
          <a:ln/>
        </p:spPr>
      </p:sp>
      <p:sp>
        <p:nvSpPr>
          <p:cNvPr id="25" name="Text 23"/>
          <p:cNvSpPr/>
          <p:nvPr/>
        </p:nvSpPr>
        <p:spPr>
          <a:xfrm>
            <a:off x="777240" y="5440680"/>
            <a:ext cx="16002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NEXT</a:t>
            </a:r>
            <a:endParaRPr lang="en-US" sz="1000" dirty="0"/>
          </a:p>
        </p:txBody>
      </p:sp>
      <p:sp>
        <p:nvSpPr>
          <p:cNvPr id="26" name="Shape 24"/>
          <p:cNvSpPr/>
          <p:nvPr/>
        </p:nvSpPr>
        <p:spPr>
          <a:xfrm>
            <a:off x="4343400" y="3977640"/>
            <a:ext cx="3611880" cy="1920240"/>
          </a:xfrm>
          <a:prstGeom prst="roundRect">
            <a:avLst>
              <a:gd name="adj" fmla="val 4286"/>
            </a:avLst>
          </a:prstGeom>
          <a:solidFill>
            <a:srgbClr val="F6F8F2"/>
          </a:solidFill>
          <a:ln/>
          <a:effectLst>
            <a:outerShdw sx="100000" sy="100000" kx="0" ky="0" algn="bl" rotWithShape="0" blurRad="76200" dist="25400" dir="5400000">
              <a:srgbClr val="3A4A36">
                <a:alpha val="18000"/>
              </a:srgbClr>
            </a:outerShdw>
          </a:effectLst>
        </p:spPr>
      </p:sp>
      <p:sp>
        <p:nvSpPr>
          <p:cNvPr id="27" name="Text 25"/>
          <p:cNvSpPr/>
          <p:nvPr/>
        </p:nvSpPr>
        <p:spPr>
          <a:xfrm>
            <a:off x="4572000" y="4142232"/>
            <a:ext cx="3108960" cy="384048"/>
          </a:xfrm>
          <a:prstGeom prst="rect">
            <a:avLst/>
          </a:prstGeom>
          <a:noFill/>
          <a:ln/>
        </p:spPr>
        <p:txBody>
          <a:bodyPr wrap="square" lIns="0" tIns="0" rIns="0" bIns="0" rtlCol="0" anchor="ctr"/>
          <a:lstStyle/>
          <a:p>
            <a:pPr indent="0" marL="0">
              <a:buNone/>
            </a:pPr>
            <a:r>
              <a:rPr lang="en-US" sz="1550" b="1" dirty="0">
                <a:solidFill>
                  <a:srgbClr val="22301F"/>
                </a:solidFill>
                <a:latin typeface="Cambria" pitchFamily="34" charset="0"/>
                <a:ea typeface="Cambria" pitchFamily="34" charset="-122"/>
                <a:cs typeface="Cambria" pitchFamily="34" charset="-120"/>
              </a:rPr>
              <a:t>3 · Learning pilot</a:t>
            </a:r>
            <a:endParaRPr lang="en-US" sz="1550" dirty="0"/>
          </a:p>
        </p:txBody>
      </p:sp>
      <p:sp>
        <p:nvSpPr>
          <p:cNvPr id="28" name="Text 26"/>
          <p:cNvSpPr/>
          <p:nvPr/>
        </p:nvSpPr>
        <p:spPr>
          <a:xfrm>
            <a:off x="4572000" y="4544568"/>
            <a:ext cx="3200400" cy="8686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Exploration at half budget; posterior must visibly move</a:t>
            </a:r>
            <a:endParaRPr lang="en-US" sz="1100" dirty="0"/>
          </a:p>
        </p:txBody>
      </p:sp>
      <p:sp>
        <p:nvSpPr>
          <p:cNvPr id="29" name="Shape 27"/>
          <p:cNvSpPr/>
          <p:nvPr/>
        </p:nvSpPr>
        <p:spPr>
          <a:xfrm>
            <a:off x="4572000" y="5440680"/>
            <a:ext cx="1600200" cy="310896"/>
          </a:xfrm>
          <a:prstGeom prst="roundRect">
            <a:avLst>
              <a:gd name="adj" fmla="val 14706"/>
            </a:avLst>
          </a:prstGeom>
          <a:solidFill>
            <a:srgbClr val="5F6B5C"/>
          </a:solidFill>
          <a:ln/>
        </p:spPr>
      </p:sp>
      <p:sp>
        <p:nvSpPr>
          <p:cNvPr id="30" name="Text 28"/>
          <p:cNvSpPr/>
          <p:nvPr/>
        </p:nvSpPr>
        <p:spPr>
          <a:xfrm>
            <a:off x="4572000" y="5440680"/>
            <a:ext cx="16002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PENDING</a:t>
            </a:r>
            <a:endParaRPr lang="en-US" sz="1000" dirty="0"/>
          </a:p>
        </p:txBody>
      </p:sp>
      <p:sp>
        <p:nvSpPr>
          <p:cNvPr id="31" name="Shape 29"/>
          <p:cNvSpPr/>
          <p:nvPr/>
        </p:nvSpPr>
        <p:spPr>
          <a:xfrm>
            <a:off x="8138160" y="3977640"/>
            <a:ext cx="3611880" cy="1920240"/>
          </a:xfrm>
          <a:prstGeom prst="roundRect">
            <a:avLst>
              <a:gd name="adj" fmla="val 4286"/>
            </a:avLst>
          </a:prstGeom>
          <a:solidFill>
            <a:srgbClr val="F6F8F2"/>
          </a:solidFill>
          <a:ln/>
          <a:effectLst>
            <a:outerShdw sx="100000" sy="100000" kx="0" ky="0" algn="bl" rotWithShape="0" blurRad="76200" dist="25400" dir="5400000">
              <a:srgbClr val="3A4A36">
                <a:alpha val="18000"/>
              </a:srgbClr>
            </a:outerShdw>
          </a:effectLst>
        </p:spPr>
      </p:sp>
      <p:sp>
        <p:nvSpPr>
          <p:cNvPr id="32" name="Text 30"/>
          <p:cNvSpPr/>
          <p:nvPr/>
        </p:nvSpPr>
        <p:spPr>
          <a:xfrm>
            <a:off x="8366760" y="4142232"/>
            <a:ext cx="3108960" cy="384048"/>
          </a:xfrm>
          <a:prstGeom prst="rect">
            <a:avLst/>
          </a:prstGeom>
          <a:noFill/>
          <a:ln/>
        </p:spPr>
        <p:txBody>
          <a:bodyPr wrap="square" lIns="0" tIns="0" rIns="0" bIns="0" rtlCol="0" anchor="ctr"/>
          <a:lstStyle/>
          <a:p>
            <a:pPr indent="0" marL="0">
              <a:buNone/>
            </a:pPr>
            <a:r>
              <a:rPr lang="en-US" sz="1550" b="1" dirty="0">
                <a:solidFill>
                  <a:srgbClr val="22301F"/>
                </a:solidFill>
                <a:latin typeface="Cambria" pitchFamily="34" charset="0"/>
                <a:ea typeface="Cambria" pitchFamily="34" charset="-122"/>
                <a:cs typeface="Cambria" pitchFamily="34" charset="-120"/>
              </a:rPr>
              <a:t>4–5 · A/B → scale</a:t>
            </a:r>
            <a:endParaRPr lang="en-US" sz="1550" dirty="0"/>
          </a:p>
        </p:txBody>
      </p:sp>
      <p:sp>
        <p:nvSpPr>
          <p:cNvPr id="33" name="Text 31"/>
          <p:cNvSpPr/>
          <p:nvPr/>
        </p:nvSpPr>
        <p:spPr>
          <a:xfrm>
            <a:off x="8366760" y="4544568"/>
            <a:ext cx="3200400" cy="86868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Powered experiment on IL%; ship on the pre-committed rule</a:t>
            </a:r>
            <a:endParaRPr lang="en-US" sz="1100" dirty="0"/>
          </a:p>
        </p:txBody>
      </p:sp>
      <p:sp>
        <p:nvSpPr>
          <p:cNvPr id="34" name="Shape 32"/>
          <p:cNvSpPr/>
          <p:nvPr/>
        </p:nvSpPr>
        <p:spPr>
          <a:xfrm>
            <a:off x="8366760" y="5440680"/>
            <a:ext cx="1600200" cy="310896"/>
          </a:xfrm>
          <a:prstGeom prst="roundRect">
            <a:avLst>
              <a:gd name="adj" fmla="val 14706"/>
            </a:avLst>
          </a:prstGeom>
          <a:solidFill>
            <a:srgbClr val="B3402A"/>
          </a:solidFill>
          <a:ln/>
        </p:spPr>
      </p:sp>
      <p:sp>
        <p:nvSpPr>
          <p:cNvPr id="35" name="Text 33"/>
          <p:cNvSpPr/>
          <p:nvPr/>
        </p:nvSpPr>
        <p:spPr>
          <a:xfrm>
            <a:off x="8366760" y="5440680"/>
            <a:ext cx="160020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BLOCKED ON MDE</a:t>
            </a:r>
            <a:endParaRPr lang="en-US" sz="1000" dirty="0"/>
          </a:p>
        </p:txBody>
      </p:sp>
      <p:sp>
        <p:nvSpPr>
          <p:cNvPr id="36" name="Text 34"/>
          <p:cNvSpPr/>
          <p:nvPr/>
        </p:nvSpPr>
        <p:spPr>
          <a:xfrm>
            <a:off x="548640" y="6053328"/>
            <a:ext cx="11155680" cy="365760"/>
          </a:xfrm>
          <a:prstGeom prst="rect">
            <a:avLst/>
          </a:prstGeom>
          <a:noFill/>
          <a:ln/>
        </p:spPr>
        <p:txBody>
          <a:bodyPr wrap="square" lIns="0" tIns="0" rIns="0" bIns="0" rtlCol="0" anchor="ctr"/>
          <a:lstStyle/>
          <a:p>
            <a:pPr indent="0" marL="0">
              <a:buNone/>
            </a:pPr>
            <a:r>
              <a:rPr lang="en-US" sz="1200" i="1" dirty="0">
                <a:solidFill>
                  <a:srgbClr val="5F6B5C"/>
                </a:solidFill>
                <a:latin typeface="Calibri" pitchFamily="34" charset="0"/>
                <a:ea typeface="Calibri" pitchFamily="34" charset="-122"/>
                <a:cs typeface="Calibri" pitchFamily="34" charset="-120"/>
              </a:rPr>
              <a:t>Shadow also produced the would-be exploration statistics that answer the learning-speed question — before any price was applied.</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39</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RISK REGISTER</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Stated before launch, each with evidence and a mitigation</a:t>
            </a:r>
            <a:endParaRPr lang="en-US" sz="2900" dirty="0"/>
          </a:p>
        </p:txBody>
      </p:sp>
      <p:sp>
        <p:nvSpPr>
          <p:cNvPr id="6" name="Shape 4"/>
          <p:cNvSpPr/>
          <p:nvPr/>
        </p:nvSpPr>
        <p:spPr>
          <a:xfrm>
            <a:off x="548640" y="1645920"/>
            <a:ext cx="11064240" cy="1325880"/>
          </a:xfrm>
          <a:prstGeom prst="roundRect">
            <a:avLst>
              <a:gd name="adj" fmla="val 6207"/>
            </a:avLst>
          </a:prstGeom>
          <a:solidFill>
            <a:srgbClr val="EEF4E4"/>
          </a:solidFill>
          <a:ln/>
          <a:effectLst>
            <a:outerShdw sx="100000" sy="100000" kx="0" ky="0" algn="bl" rotWithShape="0" blurRad="76200" dist="25400" dir="5400000">
              <a:srgbClr val="3A4A36">
                <a:alpha val="18000"/>
              </a:srgbClr>
            </a:outerShdw>
          </a:effectLst>
        </p:spPr>
      </p:sp>
      <p:sp>
        <p:nvSpPr>
          <p:cNvPr id="7" name="Text 5"/>
          <p:cNvSpPr/>
          <p:nvPr/>
        </p:nvSpPr>
        <p:spPr>
          <a:xfrm>
            <a:off x="804672" y="1755648"/>
            <a:ext cx="3291840" cy="1143000"/>
          </a:xfrm>
          <a:prstGeom prst="rect">
            <a:avLst/>
          </a:prstGeom>
          <a:noFill/>
          <a:ln/>
        </p:spPr>
        <p:txBody>
          <a:bodyPr wrap="square" lIns="0" tIns="0" rIns="0" bIns="0" rtlCol="0" anchor="ctr"/>
          <a:lstStyle/>
          <a:p>
            <a:pPr indent="0" marL="0">
              <a:buNone/>
            </a:pPr>
            <a:r>
              <a:rPr lang="en-US" sz="1350" b="1" dirty="0">
                <a:solidFill>
                  <a:srgbClr val="B3402A"/>
                </a:solidFill>
                <a:latin typeface="Cambria" pitchFamily="34" charset="0"/>
                <a:ea typeface="Cambria" pitchFamily="34" charset="-122"/>
                <a:cs typeface="Cambria" pitchFamily="34" charset="-120"/>
              </a:rPr>
              <a:t>1 · Learning speed vs the 13-week window</a:t>
            </a:r>
            <a:endParaRPr lang="en-US" sz="1350" dirty="0"/>
          </a:p>
        </p:txBody>
      </p:sp>
      <p:sp>
        <p:nvSpPr>
          <p:cNvPr id="8" name="Text 6"/>
          <p:cNvSpPr/>
          <p:nvPr/>
        </p:nvSpPr>
        <p:spPr>
          <a:xfrm>
            <a:off x="4206240" y="1737360"/>
            <a:ext cx="3657600" cy="1143000"/>
          </a:xfrm>
          <a:prstGeom prst="rect">
            <a:avLst/>
          </a:prstGeom>
          <a:noFill/>
          <a:ln/>
        </p:spPr>
        <p:txBody>
          <a:bodyPr wrap="square" lIns="0" tIns="0" rIns="0" bIns="0" rtlCol="0" anchor="ctr"/>
          <a:lstStyle/>
          <a:p>
            <a:pPr indent="0" marL="0">
              <a:buNone/>
            </a:pPr>
            <a:r>
              <a:rPr lang="en-US" sz="1050" b="1" dirty="0">
                <a:solidFill>
                  <a:srgbClr val="22301F"/>
                </a:solidFill>
                <a:latin typeface="Calibri" pitchFamily="34" charset="0"/>
                <a:ea typeface="Calibri" pitchFamily="34" charset="-122"/>
                <a:cs typeface="Calibri" pitchFamily="34" charset="-120"/>
              </a:rPr>
              <a:t>Evidence  </a:t>
            </a:r>
            <a:pPr indent="0" marL="0">
              <a:buNone/>
            </a:pPr>
            <a:r>
              <a:rPr lang="en-US" sz="1050" dirty="0">
                <a:solidFill>
                  <a:srgbClr val="5F6B5C"/>
                </a:solidFill>
                <a:latin typeface="Calibri" pitchFamily="34" charset="0"/>
                <a:ea typeface="Calibri" pitchFamily="34" charset="-122"/>
                <a:cs typeface="Calibri" pitchFamily="34" charset="-120"/>
              </a:rPr>
              <a:t>Per-outcome information is small and deflated ÷ 3.347; the prior is wide for ALL 16 categories now that no bracket is accepted. Deepening only pays once |ε| clears a measured median of 2.429, so the posterior must TRAVEL, not merely converge.</a:t>
            </a:r>
            <a:endParaRPr lang="en-US" sz="1050" dirty="0"/>
          </a:p>
        </p:txBody>
      </p:sp>
      <p:sp>
        <p:nvSpPr>
          <p:cNvPr id="9" name="Text 7"/>
          <p:cNvSpPr/>
          <p:nvPr/>
        </p:nvSpPr>
        <p:spPr>
          <a:xfrm>
            <a:off x="8001000" y="1737360"/>
            <a:ext cx="3429000" cy="1143000"/>
          </a:xfrm>
          <a:prstGeom prst="rect">
            <a:avLst/>
          </a:prstGeom>
          <a:noFill/>
          <a:ln/>
        </p:spPr>
        <p:txBody>
          <a:bodyPr wrap="square" lIns="0" tIns="0" rIns="0" bIns="0" rtlCol="0" anchor="ctr"/>
          <a:lstStyle/>
          <a:p>
            <a:pPr indent="0" marL="0">
              <a:buNone/>
            </a:pPr>
            <a:r>
              <a:rPr lang="en-US" sz="1050" b="1" dirty="0">
                <a:solidFill>
                  <a:srgbClr val="22301F"/>
                </a:solidFill>
                <a:latin typeface="Calibri" pitchFamily="34" charset="0"/>
                <a:ea typeface="Calibri" pitchFamily="34" charset="-122"/>
                <a:cs typeface="Calibri" pitchFamily="34" charset="-120"/>
              </a:rPr>
              <a:t>Mitigation  </a:t>
            </a:r>
            <a:pPr indent="0" marL="0">
              <a:buNone/>
            </a:pPr>
            <a:r>
              <a:rPr lang="en-US" sz="1050" dirty="0">
                <a:solidFill>
                  <a:srgbClr val="5F6B5C"/>
                </a:solidFill>
                <a:latin typeface="Calibri" pitchFamily="34" charset="0"/>
                <a:ea typeface="Calibri" pitchFamily="34" charset="-122"/>
                <a:cs typeface="Calibri" pitchFamily="34" charset="-120"/>
              </a:rPr>
              <a:t>Shadow now emits learning_yield_would_be, so weeks-to-convergence is read off before the pilot. Two floors bind separately: evidence, and calendar — the 0.15 step cap at one human-gated update per day means ≥6 days to move the mean 1.0 → 1.9 however fast evidence arrives.</a:t>
            </a:r>
            <a:endParaRPr lang="en-US" sz="1050" dirty="0"/>
          </a:p>
        </p:txBody>
      </p:sp>
      <p:sp>
        <p:nvSpPr>
          <p:cNvPr id="10" name="Shape 8"/>
          <p:cNvSpPr/>
          <p:nvPr/>
        </p:nvSpPr>
        <p:spPr>
          <a:xfrm>
            <a:off x="548640" y="3127248"/>
            <a:ext cx="11064240" cy="1325880"/>
          </a:xfrm>
          <a:prstGeom prst="roundRect">
            <a:avLst>
              <a:gd name="adj" fmla="val 6207"/>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804672" y="3236976"/>
            <a:ext cx="3291840" cy="114300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2 · Frozen-model drift across Sep–Dec</a:t>
            </a:r>
            <a:endParaRPr lang="en-US" sz="1350" dirty="0"/>
          </a:p>
        </p:txBody>
      </p:sp>
      <p:sp>
        <p:nvSpPr>
          <p:cNvPr id="12" name="Text 10"/>
          <p:cNvSpPr/>
          <p:nvPr/>
        </p:nvSpPr>
        <p:spPr>
          <a:xfrm>
            <a:off x="4206240" y="3218688"/>
            <a:ext cx="3657600" cy="1143000"/>
          </a:xfrm>
          <a:prstGeom prst="rect">
            <a:avLst/>
          </a:prstGeom>
          <a:noFill/>
          <a:ln/>
        </p:spPr>
        <p:txBody>
          <a:bodyPr wrap="square" lIns="0" tIns="0" rIns="0" bIns="0" rtlCol="0" anchor="ctr"/>
          <a:lstStyle/>
          <a:p>
            <a:pPr indent="0" marL="0">
              <a:buNone/>
            </a:pPr>
            <a:r>
              <a:rPr lang="en-US" sz="1050" b="1" dirty="0">
                <a:solidFill>
                  <a:srgbClr val="22301F"/>
                </a:solidFill>
                <a:latin typeface="Calibri" pitchFamily="34" charset="0"/>
                <a:ea typeface="Calibri" pitchFamily="34" charset="-122"/>
                <a:cs typeface="Calibri" pitchFamily="34" charset="-120"/>
              </a:rPr>
              <a:t>Evidence  </a:t>
            </a:r>
            <a:pPr indent="0" marL="0">
              <a:buNone/>
            </a:pPr>
            <a:r>
              <a:rPr lang="en-US" sz="1050" dirty="0">
                <a:solidFill>
                  <a:srgbClr val="5F6B5C"/>
                </a:solidFill>
                <a:latin typeface="Calibri" pitchFamily="34" charset="0"/>
                <a:ea typeface="Calibri" pitchFamily="34" charset="-122"/>
                <a:cs typeface="Calibri" pitchFamily="34" charset="-120"/>
              </a:rPr>
              <a:t>Drift is already measured (1.14 → 0.99 → 1.10 across windows); the season includes Chuseok; every economic quantity is denominated in the demand prediction.</a:t>
            </a:r>
            <a:endParaRPr lang="en-US" sz="1050" dirty="0"/>
          </a:p>
        </p:txBody>
      </p:sp>
      <p:sp>
        <p:nvSpPr>
          <p:cNvPr id="13" name="Text 11"/>
          <p:cNvSpPr/>
          <p:nvPr/>
        </p:nvSpPr>
        <p:spPr>
          <a:xfrm>
            <a:off x="8001000" y="3218688"/>
            <a:ext cx="3429000" cy="1143000"/>
          </a:xfrm>
          <a:prstGeom prst="rect">
            <a:avLst/>
          </a:prstGeom>
          <a:noFill/>
          <a:ln/>
        </p:spPr>
        <p:txBody>
          <a:bodyPr wrap="square" lIns="0" tIns="0" rIns="0" bIns="0" rtlCol="0" anchor="ctr"/>
          <a:lstStyle/>
          <a:p>
            <a:pPr indent="0" marL="0">
              <a:buNone/>
            </a:pPr>
            <a:r>
              <a:rPr lang="en-US" sz="1050" b="1" dirty="0">
                <a:solidFill>
                  <a:srgbClr val="22301F"/>
                </a:solidFill>
                <a:latin typeface="Calibri" pitchFamily="34" charset="0"/>
                <a:ea typeface="Calibri" pitchFamily="34" charset="-122"/>
                <a:cs typeface="Calibri" pitchFamily="34" charset="-120"/>
              </a:rPr>
              <a:t>Mitigation  </a:t>
            </a:r>
            <a:pPr indent="0" marL="0">
              <a:buNone/>
            </a:pPr>
            <a:r>
              <a:rPr lang="en-US" sz="1050" dirty="0">
                <a:solidFill>
                  <a:srgbClr val="5F6B5C"/>
                </a:solidFill>
                <a:latin typeface="Calibri" pitchFamily="34" charset="0"/>
                <a:ea typeface="Calibri" pitchFamily="34" charset="-122"/>
                <a:cs typeface="Calibri" pitchFamily="34" charset="-120"/>
              </a:rPr>
              <a:t>Final retrain immediately before the launch freeze, gate re-checked; daily drift ratio in shadow and production; a mid-window recalibration rule pre-registered now, not improvised later.</a:t>
            </a:r>
            <a:endParaRPr lang="en-US" sz="1050" dirty="0"/>
          </a:p>
        </p:txBody>
      </p:sp>
      <p:sp>
        <p:nvSpPr>
          <p:cNvPr id="14" name="Shape 12"/>
          <p:cNvSpPr/>
          <p:nvPr/>
        </p:nvSpPr>
        <p:spPr>
          <a:xfrm>
            <a:off x="548640" y="4608576"/>
            <a:ext cx="11064240" cy="1325880"/>
          </a:xfrm>
          <a:prstGeom prst="roundRect">
            <a:avLst>
              <a:gd name="adj" fmla="val 6207"/>
            </a:avLst>
          </a:prstGeom>
          <a:solidFill>
            <a:srgbClr val="F6F8F2"/>
          </a:solidFill>
          <a:ln/>
          <a:effectLst>
            <a:outerShdw sx="100000" sy="100000" kx="0" ky="0" algn="bl" rotWithShape="0" blurRad="76200" dist="25400" dir="5400000">
              <a:srgbClr val="3A4A36">
                <a:alpha val="18000"/>
              </a:srgbClr>
            </a:outerShdw>
          </a:effectLst>
        </p:spPr>
      </p:sp>
      <p:sp>
        <p:nvSpPr>
          <p:cNvPr id="15" name="Text 13"/>
          <p:cNvSpPr/>
          <p:nvPr/>
        </p:nvSpPr>
        <p:spPr>
          <a:xfrm>
            <a:off x="804672" y="4718304"/>
            <a:ext cx="3291840" cy="1143000"/>
          </a:xfrm>
          <a:prstGeom prst="rect">
            <a:avLst/>
          </a:prstGeom>
          <a:noFill/>
          <a:ln/>
        </p:spPr>
        <p:txBody>
          <a:bodyPr wrap="square" lIns="0" tIns="0" rIns="0" bIns="0" rtlCol="0" anchor="ctr"/>
          <a:lstStyle/>
          <a:p>
            <a:pPr indent="0" marL="0">
              <a:buNone/>
            </a:pPr>
            <a:r>
              <a:rPr lang="en-US" sz="1350" b="1" dirty="0">
                <a:solidFill>
                  <a:srgbClr val="22301F"/>
                </a:solidFill>
                <a:latin typeface="Cambria" pitchFamily="34" charset="0"/>
                <a:ea typeface="Cambria" pitchFamily="34" charset="-122"/>
                <a:cs typeface="Cambria" pitchFamily="34" charset="-120"/>
              </a:rPr>
              <a:t>3 · A/B power — duration is not the lever</a:t>
            </a:r>
            <a:endParaRPr lang="en-US" sz="1350" dirty="0"/>
          </a:p>
        </p:txBody>
      </p:sp>
      <p:sp>
        <p:nvSpPr>
          <p:cNvPr id="16" name="Text 14"/>
          <p:cNvSpPr/>
          <p:nvPr/>
        </p:nvSpPr>
        <p:spPr>
          <a:xfrm>
            <a:off x="4206240" y="4700016"/>
            <a:ext cx="3657600" cy="1143000"/>
          </a:xfrm>
          <a:prstGeom prst="rect">
            <a:avLst/>
          </a:prstGeom>
          <a:noFill/>
          <a:ln/>
        </p:spPr>
        <p:txBody>
          <a:bodyPr wrap="square" lIns="0" tIns="0" rIns="0" bIns="0" rtlCol="0" anchor="ctr"/>
          <a:lstStyle/>
          <a:p>
            <a:pPr indent="0" marL="0">
              <a:buNone/>
            </a:pPr>
            <a:r>
              <a:rPr lang="en-US" sz="1050" b="1" dirty="0">
                <a:solidFill>
                  <a:srgbClr val="22301F"/>
                </a:solidFill>
                <a:latin typeface="Calibri" pitchFamily="34" charset="0"/>
                <a:ea typeface="Calibri" pitchFamily="34" charset="-122"/>
                <a:cs typeface="Calibri" pitchFamily="34" charset="-120"/>
              </a:rPr>
              <a:t>Evidence  </a:t>
            </a:r>
            <a:pPr indent="0" marL="0">
              <a:buNone/>
            </a:pPr>
            <a:r>
              <a:rPr lang="en-US" sz="1050" dirty="0">
                <a:solidFill>
                  <a:srgbClr val="5F6B5C"/>
                </a:solidFill>
                <a:latin typeface="Calibri" pitchFamily="34" charset="0"/>
                <a:ea typeface="Calibri" pitchFamily="34" charset="-122"/>
                <a:cs typeface="Calibri" pitchFamily="34" charset="-120"/>
              </a:rPr>
              <a:t>Clustered SE 0.002915 once scrap is counted in full; 6.75% detectable at 2 weeks against a measured 38% effect — a 5.6× margin. The duration curve is nearly flat: 6 weeks reaches only 5.74% where √T promised 3.90%.</a:t>
            </a:r>
            <a:endParaRPr lang="en-US" sz="1050" dirty="0"/>
          </a:p>
        </p:txBody>
      </p:sp>
      <p:sp>
        <p:nvSpPr>
          <p:cNvPr id="17" name="Text 15"/>
          <p:cNvSpPr/>
          <p:nvPr/>
        </p:nvSpPr>
        <p:spPr>
          <a:xfrm>
            <a:off x="8001000" y="4700016"/>
            <a:ext cx="3429000" cy="1143000"/>
          </a:xfrm>
          <a:prstGeom prst="rect">
            <a:avLst/>
          </a:prstGeom>
          <a:noFill/>
          <a:ln/>
        </p:spPr>
        <p:txBody>
          <a:bodyPr wrap="square" lIns="0" tIns="0" rIns="0" bIns="0" rtlCol="0" anchor="ctr"/>
          <a:lstStyle/>
          <a:p>
            <a:pPr indent="0" marL="0">
              <a:buNone/>
            </a:pPr>
            <a:r>
              <a:rPr lang="en-US" sz="1050" b="1" dirty="0">
                <a:solidFill>
                  <a:srgbClr val="22301F"/>
                </a:solidFill>
                <a:latin typeface="Calibri" pitchFamily="34" charset="0"/>
                <a:ea typeface="Calibri" pitchFamily="34" charset="-122"/>
                <a:cs typeface="Calibri" pitchFamily="34" charset="-120"/>
              </a:rPr>
              <a:t>Mitigation  </a:t>
            </a:r>
            <a:pPr indent="0" marL="0">
              <a:buNone/>
            </a:pPr>
            <a:r>
              <a:rPr lang="en-US" sz="1050" dirty="0">
                <a:solidFill>
                  <a:srgbClr val="5F6B5C"/>
                </a:solidFill>
                <a:latin typeface="Calibri" pitchFamily="34" charset="0"/>
                <a:ea typeface="Calibri" pitchFamily="34" charset="-122"/>
                <a:cs typeface="Calibri" pitchFamily="34" charset="-120"/>
              </a:rPr>
              <a:t>Empirical duration-vs-effect table from the derivation tool; the owner commits to a feasible pair before launch. No early reads. If more power is ever needed the lever is more SKU × FC units, not more weeks.</a:t>
            </a:r>
            <a:endParaRPr lang="en-US" sz="1050" dirty="0"/>
          </a:p>
        </p:txBody>
      </p:sp>
      <p:sp>
        <p:nvSpPr>
          <p:cNvPr id="18" name="Text 16"/>
          <p:cNvSpPr/>
          <p:nvPr/>
        </p:nvSpPr>
        <p:spPr>
          <a:xfrm>
            <a:off x="548640" y="6108192"/>
            <a:ext cx="11155680" cy="365760"/>
          </a:xfrm>
          <a:prstGeom prst="rect">
            <a:avLst/>
          </a:prstGeom>
          <a:noFill/>
          <a:ln/>
        </p:spPr>
        <p:txBody>
          <a:bodyPr wrap="square" lIns="0" tIns="0" rIns="0" bIns="0" rtlCol="0" anchor="ctr"/>
          <a:lstStyle/>
          <a:p>
            <a:pPr indent="0" marL="0">
              <a:buNone/>
            </a:pPr>
            <a:r>
              <a:rPr lang="en-US" sz="1100" dirty="0">
                <a:solidFill>
                  <a:srgbClr val="5F6B5C"/>
                </a:solidFill>
                <a:latin typeface="Calibri" pitchFamily="34" charset="0"/>
                <a:ea typeface="Calibri" pitchFamily="34" charset="-122"/>
                <a:cs typeface="Calibri" pitchFamily="34" charset="-120"/>
              </a:rPr>
              <a:t>Also tracked: day-one behaviour is enter-shallow-and-hold, so expect lower clearance and higher scrap until ε moves · metric divergence at readout (pre-committed rule) · single-elasticity misspecification · episode fragmentation from missing source hours (2.6% of episodes, 27k units of ambiguous scrap) · censored training labels.</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F6B5C"/>
                </a:solidFill>
                <a:latin typeface="Calibri" pitchFamily="34" charset="0"/>
                <a:ea typeface="Calibri" pitchFamily="34" charset="-122"/>
                <a:cs typeface="Calibri" pitchFamily="34" charset="-120"/>
              </a:rPr>
              <a:t>Perishable Markdown MVP</a:t>
            </a:r>
            <a:endParaRPr lang="en-US" sz="900" dirty="0"/>
          </a:p>
        </p:txBody>
      </p:sp>
      <p:sp>
        <p:nvSpPr>
          <p:cNvPr id="3" name="Text 1"/>
          <p:cNvSpPr/>
          <p:nvPr/>
        </p:nvSpPr>
        <p:spPr>
          <a:xfrm>
            <a:off x="11430000" y="6473952"/>
            <a:ext cx="457200" cy="274320"/>
          </a:xfrm>
          <a:prstGeom prst="rect">
            <a:avLst/>
          </a:prstGeom>
          <a:noFill/>
          <a:ln/>
        </p:spPr>
        <p:txBody>
          <a:bodyPr wrap="square" lIns="0" tIns="0" rIns="0" bIns="0" rtlCol="0" anchor="ctr"/>
          <a:lstStyle/>
          <a:p>
            <a:pPr algn="r" indent="0" marL="0">
              <a:buNone/>
            </a:pPr>
            <a:r>
              <a:rPr lang="en-US" sz="900" dirty="0">
                <a:solidFill>
                  <a:srgbClr val="5F6B5C"/>
                </a:solidFill>
                <a:latin typeface="Calibri" pitchFamily="34" charset="0"/>
                <a:ea typeface="Calibri" pitchFamily="34" charset="-122"/>
                <a:cs typeface="Calibri" pitchFamily="34" charset="-120"/>
              </a:rPr>
              <a:t>40</a:t>
            </a:r>
            <a:endParaRPr lang="en-US" sz="900" dirty="0"/>
          </a:p>
        </p:txBody>
      </p:sp>
      <p:sp>
        <p:nvSpPr>
          <p:cNvPr id="4" name="Text 2"/>
          <p:cNvSpPr/>
          <p:nvPr/>
        </p:nvSpPr>
        <p:spPr>
          <a:xfrm>
            <a:off x="548640" y="384048"/>
            <a:ext cx="10972800" cy="292608"/>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DECISIONS NEEDED</a:t>
            </a:r>
            <a:endParaRPr lang="en-US" sz="1200" dirty="0"/>
          </a:p>
        </p:txBody>
      </p:sp>
      <p:sp>
        <p:nvSpPr>
          <p:cNvPr id="5" name="Text 3"/>
          <p:cNvSpPr/>
          <p:nvPr/>
        </p:nvSpPr>
        <p:spPr>
          <a:xfrm>
            <a:off x="548640" y="658368"/>
            <a:ext cx="11064240" cy="685800"/>
          </a:xfrm>
          <a:prstGeom prst="rect">
            <a:avLst/>
          </a:prstGeom>
          <a:noFill/>
          <a:ln/>
        </p:spPr>
        <p:txBody>
          <a:bodyPr wrap="square" lIns="0" tIns="0" rIns="0" bIns="0" rtlCol="0" anchor="ctr"/>
          <a:lstStyle/>
          <a:p>
            <a:pPr indent="0" marL="0">
              <a:buNone/>
            </a:pPr>
            <a:r>
              <a:rPr lang="en-US" sz="2900" b="1" dirty="0">
                <a:solidFill>
                  <a:srgbClr val="22301F"/>
                </a:solidFill>
                <a:latin typeface="Cambria" pitchFamily="34" charset="0"/>
                <a:ea typeface="Cambria" pitchFamily="34" charset="-122"/>
                <a:cs typeface="Cambria" pitchFamily="34" charset="-120"/>
              </a:rPr>
              <a:t>Three thresholds block launch — recommendations, with evidence</a:t>
            </a:r>
            <a:endParaRPr lang="en-US" sz="2900" dirty="0"/>
          </a:p>
        </p:txBody>
      </p:sp>
      <p:sp>
        <p:nvSpPr>
          <p:cNvPr id="6" name="Shape 4"/>
          <p:cNvSpPr/>
          <p:nvPr/>
        </p:nvSpPr>
        <p:spPr>
          <a:xfrm>
            <a:off x="54864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7" name="Text 5"/>
          <p:cNvSpPr/>
          <p:nvPr/>
        </p:nvSpPr>
        <p:spPr>
          <a:xfrm>
            <a:off x="77724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A/B minimum detectable effect</a:t>
            </a:r>
            <a:endParaRPr lang="en-US" sz="1450" dirty="0"/>
          </a:p>
        </p:txBody>
      </p:sp>
      <p:sp>
        <p:nvSpPr>
          <p:cNvPr id="8" name="Text 6"/>
          <p:cNvSpPr/>
          <p:nvPr/>
        </p:nvSpPr>
        <p:spPr>
          <a:xfrm>
            <a:off x="77724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7.5% relative on IL% · 2 weeks</a:t>
            </a:r>
            <a:endParaRPr lang="en-US" sz="1900" dirty="0"/>
          </a:p>
        </p:txBody>
      </p:sp>
      <p:sp>
        <p:nvSpPr>
          <p:cNvPr id="9" name="Text 7"/>
          <p:cNvSpPr/>
          <p:nvPr/>
        </p:nvSpPr>
        <p:spPr>
          <a:xfrm>
            <a:off x="77724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Measured on nine real 2-week blocks: 6.75% detectable, so 7.5% is met with 0.75pp to spare. Thin against the target — but the target is ours to choose and the measured policy effect is 38%, a 5.6× margin. Duration barely helps: six weeks only reaches 5.74% where √T promised 3.90%, and past six weeks the block count collapses to 1–3.</a:t>
            </a:r>
            <a:endParaRPr lang="en-US" sz="1050" dirty="0"/>
          </a:p>
        </p:txBody>
      </p:sp>
      <p:sp>
        <p:nvSpPr>
          <p:cNvPr id="10" name="Shape 8"/>
          <p:cNvSpPr/>
          <p:nvPr/>
        </p:nvSpPr>
        <p:spPr>
          <a:xfrm>
            <a:off x="434340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1" name="Text 9"/>
          <p:cNvSpPr/>
          <p:nvPr/>
        </p:nvSpPr>
        <p:spPr>
          <a:xfrm>
            <a:off x="457200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Scrap-deterioration stop</a:t>
            </a:r>
            <a:endParaRPr lang="en-US" sz="1450" dirty="0"/>
          </a:p>
        </p:txBody>
      </p:sp>
      <p:sp>
        <p:nvSpPr>
          <p:cNvPr id="12" name="Text 10"/>
          <p:cNvSpPr/>
          <p:nvPr/>
        </p:nvSpPr>
        <p:spPr>
          <a:xfrm>
            <a:off x="457200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50% relative vs control</a:t>
            </a:r>
            <a:endParaRPr lang="en-US" sz="1900" dirty="0"/>
          </a:p>
        </p:txBody>
      </p:sp>
      <p:sp>
        <p:nvSpPr>
          <p:cNvPr id="13" name="Text 11"/>
          <p:cNvSpPr/>
          <p:nvPr/>
        </p:nvSpPr>
        <p:spPr>
          <a:xfrm>
            <a:off x="457200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Now a real guardrail. Once the floor was measured on the same smoothing AND the same population the monitor triggers on, it fell from an unusable 480% to a binding 39.6% (control-arm basis; trailing 38.9% raw, 40.1% robust, not outlier-dominated, mean scrap level 13.3%). 50% clears the floor by 26% and stays well inside the 3× line past which a guardrail cannot fire at all.</a:t>
            </a:r>
            <a:endParaRPr lang="en-US" sz="1050" dirty="0"/>
          </a:p>
        </p:txBody>
      </p:sp>
      <p:sp>
        <p:nvSpPr>
          <p:cNvPr id="14" name="Shape 12"/>
          <p:cNvSpPr/>
          <p:nvPr/>
        </p:nvSpPr>
        <p:spPr>
          <a:xfrm>
            <a:off x="8138160" y="1691640"/>
            <a:ext cx="3611880" cy="3200400"/>
          </a:xfrm>
          <a:prstGeom prst="roundRect">
            <a:avLst>
              <a:gd name="adj" fmla="val 2571"/>
            </a:avLst>
          </a:prstGeom>
          <a:solidFill>
            <a:srgbClr val="F6F8F2"/>
          </a:solidFill>
          <a:ln/>
          <a:effectLst>
            <a:outerShdw sx="100000" sy="100000" kx="0" ky="0" algn="bl" rotWithShape="0" blurRad="76200" dist="25400" dir="5400000">
              <a:srgbClr val="3A4A36">
                <a:alpha val="18000"/>
              </a:srgbClr>
            </a:outerShdw>
          </a:effectLst>
        </p:spPr>
      </p:sp>
      <p:sp>
        <p:nvSpPr>
          <p:cNvPr id="15" name="Text 13"/>
          <p:cNvSpPr/>
          <p:nvPr/>
        </p:nvSpPr>
        <p:spPr>
          <a:xfrm>
            <a:off x="8366760" y="1874520"/>
            <a:ext cx="3154680" cy="685800"/>
          </a:xfrm>
          <a:prstGeom prst="rect">
            <a:avLst/>
          </a:prstGeom>
          <a:noFill/>
          <a:ln/>
        </p:spPr>
        <p:txBody>
          <a:bodyPr wrap="square" lIns="0" tIns="0" rIns="0" bIns="0" rtlCol="0" anchor="ctr"/>
          <a:lstStyle/>
          <a:p>
            <a:pPr indent="0" marL="0">
              <a:buNone/>
            </a:pPr>
            <a:r>
              <a:rPr lang="en-US" sz="1450" b="1" dirty="0">
                <a:solidFill>
                  <a:srgbClr val="22301F"/>
                </a:solidFill>
                <a:latin typeface="Cambria" pitchFamily="34" charset="0"/>
                <a:ea typeface="Cambria" pitchFamily="34" charset="-122"/>
                <a:cs typeface="Cambria" pitchFamily="34" charset="-120"/>
              </a:rPr>
              <a:t>Margin-deterioration stop</a:t>
            </a:r>
            <a:endParaRPr lang="en-US" sz="1450" dirty="0"/>
          </a:p>
        </p:txBody>
      </p:sp>
      <p:sp>
        <p:nvSpPr>
          <p:cNvPr id="16" name="Text 14"/>
          <p:cNvSpPr/>
          <p:nvPr/>
        </p:nvSpPr>
        <p:spPr>
          <a:xfrm>
            <a:off x="8366760" y="2560320"/>
            <a:ext cx="3154680" cy="502920"/>
          </a:xfrm>
          <a:prstGeom prst="rect">
            <a:avLst/>
          </a:prstGeom>
          <a:noFill/>
          <a:ln/>
        </p:spPr>
        <p:txBody>
          <a:bodyPr wrap="square" lIns="0" tIns="0" rIns="0" bIns="0" rtlCol="0" anchor="ctr"/>
          <a:lstStyle/>
          <a:p>
            <a:pPr indent="0" marL="0">
              <a:buNone/>
            </a:pPr>
            <a:r>
              <a:rPr lang="en-US" sz="1900" b="1" dirty="0">
                <a:solidFill>
                  <a:srgbClr val="2C5F2D"/>
                </a:solidFill>
                <a:latin typeface="Cambria" pitchFamily="34" charset="0"/>
                <a:ea typeface="Cambria" pitchFamily="34" charset="-122"/>
                <a:cs typeface="Cambria" pitchFamily="34" charset="-120"/>
              </a:rPr>
              <a:t>15% relative + 2-day persistence</a:t>
            </a:r>
            <a:endParaRPr lang="en-US" sz="1900" dirty="0"/>
          </a:p>
        </p:txBody>
      </p:sp>
      <p:sp>
        <p:nvSpPr>
          <p:cNvPr id="17" name="Text 15"/>
          <p:cNvSpPr/>
          <p:nvPr/>
        </p:nvSpPr>
        <p:spPr>
          <a:xfrm>
            <a:off x="8366760" y="3154680"/>
            <a:ext cx="3154680" cy="1600200"/>
          </a:xfrm>
          <a:prstGeom prst="rect">
            <a:avLst/>
          </a:prstGeom>
          <a:noFill/>
          <a:ln/>
        </p:spPr>
        <p:txBody>
          <a:bodyPr wrap="square" lIns="0" tIns="0" rIns="0" bIns="0" rtlCol="0" anchor="ctr"/>
          <a:lstStyle/>
          <a:p>
            <a:pPr indent="0" marL="0">
              <a:buNone/>
            </a:pPr>
            <a:r>
              <a:rPr lang="en-US" sz="1050" dirty="0">
                <a:solidFill>
                  <a:srgbClr val="5F6B5C"/>
                </a:solidFill>
                <a:latin typeface="Calibri" pitchFamily="34" charset="0"/>
                <a:ea typeface="Calibri" pitchFamily="34" charset="-122"/>
                <a:cs typeface="Calibri" pitchFamily="34" charset="-120"/>
              </a:rPr>
              <a:t>Well behaved throughout: binding 3σ floor 13.94% on the trailing basis, not outlier-dominated. 15% clears it by 7.6%, so the 2-day persistence rule is covering the gap rather than headroom — implemented and tested, not an aspiration. Guardrails suspend exploration only; pricing continues.</a:t>
            </a:r>
            <a:endParaRPr lang="en-US" sz="1050" dirty="0"/>
          </a:p>
        </p:txBody>
      </p:sp>
      <p:sp>
        <p:nvSpPr>
          <p:cNvPr id="18" name="Shape 16"/>
          <p:cNvSpPr/>
          <p:nvPr/>
        </p:nvSpPr>
        <p:spPr>
          <a:xfrm>
            <a:off x="548640" y="5166360"/>
            <a:ext cx="11064240" cy="914400"/>
          </a:xfrm>
          <a:prstGeom prst="roundRect">
            <a:avLst>
              <a:gd name="adj" fmla="val 9000"/>
            </a:avLst>
          </a:prstGeom>
          <a:solidFill>
            <a:srgbClr val="EEF4E4"/>
          </a:solidFill>
          <a:ln/>
          <a:effectLst>
            <a:outerShdw sx="100000" sy="100000" kx="0" ky="0" algn="bl" rotWithShape="0" blurRad="76200" dist="25400" dir="5400000">
              <a:srgbClr val="3A4A36">
                <a:alpha val="18000"/>
              </a:srgbClr>
            </a:outerShdw>
          </a:effectLst>
        </p:spPr>
      </p:sp>
      <p:sp>
        <p:nvSpPr>
          <p:cNvPr id="19" name="Text 17"/>
          <p:cNvSpPr/>
          <p:nvPr/>
        </p:nvSpPr>
        <p:spPr>
          <a:xfrm>
            <a:off x="822960" y="5166360"/>
            <a:ext cx="10515600" cy="914400"/>
          </a:xfrm>
          <a:prstGeom prst="rect">
            <a:avLst/>
          </a:prstGeom>
          <a:noFill/>
          <a:ln/>
        </p:spPr>
        <p:txBody>
          <a:bodyPr wrap="square" lIns="0" tIns="0" rIns="0" bIns="0" rtlCol="0" anchor="ctr"/>
          <a:lstStyle/>
          <a:p>
            <a:pPr indent="0" marL="0">
              <a:buNone/>
            </a:pPr>
            <a:r>
              <a:rPr lang="en-US" sz="1250" b="1" dirty="0">
                <a:solidFill>
                  <a:srgbClr val="22301F"/>
                </a:solidFill>
                <a:latin typeface="Calibri" pitchFamily="34" charset="0"/>
                <a:ea typeface="Calibri" pitchFamily="34" charset="-122"/>
                <a:cs typeface="Calibri" pitchFamily="34" charset="-120"/>
              </a:rPr>
              <a:t>Next steps on approval:  </a:t>
            </a:r>
            <a:pPr indent="0" marL="0">
              <a:buNone/>
            </a:pPr>
            <a:r>
              <a:rPr lang="en-US" sz="1250" dirty="0">
                <a:solidFill>
                  <a:srgbClr val="22301F"/>
                </a:solidFill>
                <a:latin typeface="Calibri" pitchFamily="34" charset="0"/>
                <a:ea typeface="Calibri" pitchFamily="34" charset="-122"/>
                <a:cs typeface="Calibri" pitchFamily="34" charset="-120"/>
              </a:rPr>
              <a:t>set the three thresholds → read the learning-speed math from the shadow output → final model retrain at the launch freeze → exploit-only pilot.</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6">
    <p:bg>
      <p:bgPr>
        <a:solidFill>
          <a:srgbClr val="1C3A1D"/>
        </a:solidFill>
      </p:bgPr>
    </p:bg>
    <p:spTree>
      <p:nvGrpSpPr>
        <p:cNvPr id="1" name=""/>
        <p:cNvGrpSpPr/>
        <p:nvPr/>
      </p:nvGrpSpPr>
      <p:grpSpPr>
        <a:xfrm>
          <a:off x="0" y="0"/>
          <a:ext cx="0" cy="0"/>
          <a:chOff x="0" y="0"/>
          <a:chExt cx="0" cy="0"/>
        </a:xfrm>
      </p:grpSpPr>
      <p:sp>
        <p:nvSpPr>
          <p:cNvPr id="2" name="Text 0"/>
          <p:cNvSpPr/>
          <p:nvPr/>
        </p:nvSpPr>
        <p:spPr>
          <a:xfrm>
            <a:off x="731520" y="1920240"/>
            <a:ext cx="1069848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Learning rate is the product.</a:t>
            </a:r>
            <a:endParaRPr lang="en-US" sz="4400" dirty="0"/>
          </a:p>
        </p:txBody>
      </p:sp>
      <p:sp>
        <p:nvSpPr>
          <p:cNvPr id="3" name="Text 1"/>
          <p:cNvSpPr/>
          <p:nvPr/>
        </p:nvSpPr>
        <p:spPr>
          <a:xfrm>
            <a:off x="731520" y="3017520"/>
            <a:ext cx="10515600" cy="868680"/>
          </a:xfrm>
          <a:prstGeom prst="rect">
            <a:avLst/>
          </a:prstGeom>
          <a:noFill/>
          <a:ln/>
        </p:spPr>
        <p:txBody>
          <a:bodyPr wrap="square" lIns="0" tIns="0" rIns="0" bIns="0" rtlCol="0" anchor="ctr"/>
          <a:lstStyle/>
          <a:p>
            <a:pPr indent="0" marL="0">
              <a:buNone/>
            </a:pPr>
            <a:r>
              <a:rPr lang="en-US" sz="1800" dirty="0">
                <a:solidFill>
                  <a:srgbClr val="D8E6C8"/>
                </a:solidFill>
                <a:latin typeface="Calibri" pitchFamily="34" charset="0"/>
                <a:ea typeface="Calibri" pitchFamily="34" charset="-122"/>
                <a:cs typeface="Calibri" pitchFamily="34" charset="-120"/>
              </a:rPr>
              <a:t>The system prices safely by construction, proves itself behind blocking gates,</a:t>
            </a:r>
            <a:endParaRPr lang="en-US" sz="1800" dirty="0"/>
          </a:p>
          <a:p>
            <a:pPr indent="0" marL="0">
              <a:buNone/>
            </a:pPr>
            <a:r>
              <a:rPr lang="en-US" sz="1800" dirty="0">
                <a:solidFill>
                  <a:srgbClr val="D8E6C8"/>
                </a:solidFill>
                <a:latin typeface="Calibri" pitchFamily="34" charset="0"/>
                <a:ea typeface="Calibri" pitchFamily="34" charset="-122"/>
                <a:cs typeface="Calibri" pitchFamily="34" charset="-120"/>
              </a:rPr>
              <a:t>and buys clean evidence at a budgeted price — 1% of the loss it exists to reduce.</a:t>
            </a:r>
            <a:endParaRPr lang="en-US" sz="1800" dirty="0"/>
          </a:p>
        </p:txBody>
      </p:sp>
      <p:sp>
        <p:nvSpPr>
          <p:cNvPr id="4" name="Shape 2"/>
          <p:cNvSpPr/>
          <p:nvPr/>
        </p:nvSpPr>
        <p:spPr>
          <a:xfrm>
            <a:off x="731520" y="4297680"/>
            <a:ext cx="384048" cy="384048"/>
          </a:xfrm>
          <a:prstGeom prst="ellipse">
            <a:avLst/>
          </a:prstGeom>
          <a:solidFill>
            <a:srgbClr val="2C5F2D"/>
          </a:solidFill>
          <a:ln/>
        </p:spPr>
      </p:sp>
      <p:pic>
        <p:nvPicPr>
          <p:cNvPr id="5" name="Image 0" descr="preencoded.png">    </p:cNvPr>
          <p:cNvPicPr>
            <a:picLocks noChangeAspect="1"/>
          </p:cNvPicPr>
          <p:nvPr/>
        </p:nvPicPr>
        <p:blipFill>
          <a:blip r:embed="rId1"/>
          <a:stretch>
            <a:fillRect/>
          </a:stretch>
        </p:blipFill>
        <p:spPr>
          <a:xfrm>
            <a:off x="831372" y="4397532"/>
            <a:ext cx="184343" cy="184343"/>
          </a:xfrm>
          <a:prstGeom prst="rect">
            <a:avLst/>
          </a:prstGeom>
        </p:spPr>
      </p:pic>
      <p:sp>
        <p:nvSpPr>
          <p:cNvPr id="6" name="Text 3"/>
          <p:cNvSpPr/>
          <p:nvPr/>
        </p:nvSpPr>
        <p:spPr>
          <a:xfrm>
            <a:off x="1298448" y="4270248"/>
            <a:ext cx="10058400" cy="4572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Design document — docs/design.md (standalone; architecture, rationale, risk register)</a:t>
            </a:r>
            <a:endParaRPr lang="en-US" sz="1350" dirty="0"/>
          </a:p>
        </p:txBody>
      </p:sp>
      <p:sp>
        <p:nvSpPr>
          <p:cNvPr id="7" name="Shape 4"/>
          <p:cNvSpPr/>
          <p:nvPr/>
        </p:nvSpPr>
        <p:spPr>
          <a:xfrm>
            <a:off x="731520" y="4901184"/>
            <a:ext cx="384048" cy="384048"/>
          </a:xfrm>
          <a:prstGeom prst="ellipse">
            <a:avLst/>
          </a:prstGeom>
          <a:solidFill>
            <a:srgbClr val="2C5F2D"/>
          </a:solidFill>
          <a:ln/>
        </p:spPr>
      </p:sp>
      <p:pic>
        <p:nvPicPr>
          <p:cNvPr id="8" name="Image 1" descr="preencoded.png">    </p:cNvPr>
          <p:cNvPicPr>
            <a:picLocks noChangeAspect="1"/>
          </p:cNvPicPr>
          <p:nvPr/>
        </p:nvPicPr>
        <p:blipFill>
          <a:blip r:embed="rId2"/>
          <a:stretch>
            <a:fillRect/>
          </a:stretch>
        </p:blipFill>
        <p:spPr>
          <a:xfrm>
            <a:off x="831372" y="5001036"/>
            <a:ext cx="184343" cy="184343"/>
          </a:xfrm>
          <a:prstGeom prst="rect">
            <a:avLst/>
          </a:prstGeom>
        </p:spPr>
      </p:pic>
      <p:sp>
        <p:nvSpPr>
          <p:cNvPr id="9" name="Text 5"/>
          <p:cNvSpPr/>
          <p:nvPr/>
        </p:nvSpPr>
        <p:spPr>
          <a:xfrm>
            <a:off x="1298448" y="4873752"/>
            <a:ext cx="10058400" cy="4572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Repository — Kamalyunus/fresh-markdown (47 automated tests, full pipeline)</a:t>
            </a:r>
            <a:endParaRPr lang="en-US" sz="1350" dirty="0"/>
          </a:p>
        </p:txBody>
      </p:sp>
      <p:sp>
        <p:nvSpPr>
          <p:cNvPr id="10" name="Shape 6"/>
          <p:cNvSpPr/>
          <p:nvPr/>
        </p:nvSpPr>
        <p:spPr>
          <a:xfrm>
            <a:off x="731520" y="5504688"/>
            <a:ext cx="384048" cy="384048"/>
          </a:xfrm>
          <a:prstGeom prst="ellipse">
            <a:avLst/>
          </a:prstGeom>
          <a:solidFill>
            <a:srgbClr val="2C5F2D"/>
          </a:solidFill>
          <a:ln/>
        </p:spPr>
      </p:sp>
      <p:pic>
        <p:nvPicPr>
          <p:cNvPr id="11" name="Image 2" descr="preencoded.png">    </p:cNvPr>
          <p:cNvPicPr>
            <a:picLocks noChangeAspect="1"/>
          </p:cNvPicPr>
          <p:nvPr/>
        </p:nvPicPr>
        <p:blipFill>
          <a:blip r:embed="rId3"/>
          <a:stretch>
            <a:fillRect/>
          </a:stretch>
        </p:blipFill>
        <p:spPr>
          <a:xfrm>
            <a:off x="831372" y="5604540"/>
            <a:ext cx="184343" cy="184343"/>
          </a:xfrm>
          <a:prstGeom prst="rect">
            <a:avLst/>
          </a:prstGeom>
        </p:spPr>
      </p:pic>
      <p:sp>
        <p:nvSpPr>
          <p:cNvPr id="12" name="Text 7"/>
          <p:cNvSpPr/>
          <p:nvPr/>
        </p:nvSpPr>
        <p:spPr>
          <a:xfrm>
            <a:off x="1298448" y="5477256"/>
            <a:ext cx="10058400" cy="45720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Threshold evidence — bootstrap.derive_thresholds (A/B power + guardrail noise, from data)</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2026-08-09T02:35:03Z</dcterms:created>
  <dcterms:modified xsi:type="dcterms:W3CDTF">2026-08-09T02:35:03Z</dcterms:modified>
</cp:coreProperties>
</file>